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TT Hoves" charset="1" panose="02000003020000060003"/>
      <p:regular r:id="rId28"/>
    </p:embeddedFont>
    <p:embeddedFont>
      <p:font typeface="TT Hoves Bold" charset="1" panose="02000003020000060003"/>
      <p:regular r:id="rId29"/>
    </p:embeddedFont>
    <p:embeddedFont>
      <p:font typeface="Telegraf" charset="1" panose="00000500000000000000"/>
      <p:regular r:id="rId30"/>
    </p:embeddedFont>
    <p:embeddedFont>
      <p:font typeface="Be Vietnam" charset="1" panose="00000500000000000000"/>
      <p:regular r:id="rId31"/>
    </p:embeddedFont>
    <p:embeddedFont>
      <p:font typeface="Heading Now 71-78 Bold" charset="1" panose="00000000000000000000"/>
      <p:regular r:id="rId32"/>
    </p:embeddedFont>
    <p:embeddedFont>
      <p:font typeface="TT Norms" charset="1" panose="02000503030000020003"/>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slide18.xml" Type="http://schemas.openxmlformats.org/officeDocument/2006/relationships/slide"/><Relationship Id="rId5" Target="slide11.xml" Type="http://schemas.openxmlformats.org/officeDocument/2006/relationships/slide"/><Relationship Id="rId6" Target="slide21.xml" Type="http://schemas.openxmlformats.org/officeDocument/2006/relationships/slide"/><Relationship Id="rId7" Target="slide7.xml" Type="http://schemas.openxmlformats.org/officeDocument/2006/relationships/slide"/><Relationship Id="rId8" Target="slide3.xml" Type="http://schemas.openxmlformats.org/officeDocument/2006/relationship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repository.unsoed.ac.id/11683/"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png" Type="http://schemas.openxmlformats.org/officeDocument/2006/relationships/image"/><Relationship Id="rId12" Target="../media/image12.png" Type="http://schemas.openxmlformats.org/officeDocument/2006/relationships/image"/><Relationship Id="rId13" Target="../media/image13.png" Type="http://schemas.openxmlformats.org/officeDocument/2006/relationships/image"/><Relationship Id="rId14" Target="../media/image14.svg" Type="http://schemas.openxmlformats.org/officeDocument/2006/relationships/image"/><Relationship Id="rId15" Target="../media/image15.png" Type="http://schemas.openxmlformats.org/officeDocument/2006/relationships/image"/><Relationship Id="rId16" Target="../media/image16.png" Type="http://schemas.openxmlformats.org/officeDocument/2006/relationships/image"/><Relationship Id="rId17" Target="../media/image17.png" Type="http://schemas.openxmlformats.org/officeDocument/2006/relationships/image"/><Relationship Id="rId18" Target="../media/image18.png" Type="http://schemas.openxmlformats.org/officeDocument/2006/relationships/image"/><Relationship Id="rId19" Target="../media/image19.png" Type="http://schemas.openxmlformats.org/officeDocument/2006/relationships/image"/><Relationship Id="rId2" Target="../media/image1.png" Type="http://schemas.openxmlformats.org/officeDocument/2006/relationships/image"/><Relationship Id="rId20" Target="../media/image20.png" Type="http://schemas.openxmlformats.org/officeDocument/2006/relationships/image"/><Relationship Id="rId21" Target="../media/image21.png" Type="http://schemas.openxmlformats.org/officeDocument/2006/relationships/image"/><Relationship Id="rId22" Target="../media/image22.svg" Type="http://schemas.openxmlformats.org/officeDocument/2006/relationships/image"/><Relationship Id="rId23" Target="../media/image23.png" Type="http://schemas.openxmlformats.org/officeDocument/2006/relationships/image"/><Relationship Id="rId24" Target="../media/image24.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embeddings/oleObject1.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8.png" Type="http://schemas.openxmlformats.org/officeDocument/2006/relationships/image"/><Relationship Id="rId5" Target="../media/image3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1.png" Type="http://schemas.openxmlformats.org/officeDocument/2006/relationships/image"/><Relationship Id="rId5" Target="../embeddings/oleObject2.bin" Type="http://schemas.openxmlformats.org/officeDocument/2006/relationships/oleObjec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ailto:mawarniarumsekar99@gmail.com" TargetMode="External" Type="http://schemas.openxmlformats.org/officeDocument/2006/relationships/hyperlink"/><Relationship Id="rId5" Target="https://www.linkedin.com/in/arumsekarmawarni/" TargetMode="External" Type="http://schemas.openxmlformats.org/officeDocument/2006/relationships/hyperlink"/><Relationship Id="rId6" Target="https://github.com/arumsekar99" TargetMode="External" Type="http://schemas.openxmlformats.org/officeDocument/2006/relationships/hyperlink"/><Relationship Id="rId7" Target="https://clustering-spotify-users.streamlit.app" TargetMode="External" Type="http://schemas.openxmlformats.org/officeDocument/2006/relationships/hyperlink"/><Relationship Id="rId8" Target="https://colab.research.google.com/drive/1jqE9EFnDcuPrYKfXOtrvx6DJAqTmunik?usp=sharing" TargetMode="External" Type="http://schemas.openxmlformats.org/officeDocument/2006/relationships/hyperlink"/><Relationship Id="rId9" Target="https://github.com/arumsekar99/Clustering-Spotify-Users"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0107576" y="-2295434"/>
            <a:ext cx="11221859" cy="11221859"/>
          </a:xfrm>
          <a:custGeom>
            <a:avLst/>
            <a:gdLst/>
            <a:ahLst/>
            <a:cxnLst/>
            <a:rect r="r" b="b" t="t" l="l"/>
            <a:pathLst>
              <a:path h="11221859" w="11221859">
                <a:moveTo>
                  <a:pt x="0" y="0"/>
                </a:moveTo>
                <a:lnTo>
                  <a:pt x="11221858" y="0"/>
                </a:lnTo>
                <a:lnTo>
                  <a:pt x="11221858" y="11221859"/>
                </a:lnTo>
                <a:lnTo>
                  <a:pt x="0" y="1122185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258" y="-450527"/>
            <a:ext cx="19680517" cy="1704491"/>
            <a:chOff x="0" y="0"/>
            <a:chExt cx="5183346" cy="448919"/>
          </a:xfrm>
        </p:grpSpPr>
        <p:sp>
          <p:nvSpPr>
            <p:cNvPr name="Freeform 4" id="4"/>
            <p:cNvSpPr/>
            <p:nvPr/>
          </p:nvSpPr>
          <p:spPr>
            <a:xfrm flipH="false" flipV="false" rot="0">
              <a:off x="0" y="0"/>
              <a:ext cx="5183346" cy="448919"/>
            </a:xfrm>
            <a:custGeom>
              <a:avLst/>
              <a:gdLst/>
              <a:ahLst/>
              <a:cxnLst/>
              <a:rect r="r" b="b" t="t" l="l"/>
              <a:pathLst>
                <a:path h="448919" w="5183346">
                  <a:moveTo>
                    <a:pt x="0" y="0"/>
                  </a:moveTo>
                  <a:lnTo>
                    <a:pt x="5183346" y="0"/>
                  </a:lnTo>
                  <a:lnTo>
                    <a:pt x="5183346" y="448919"/>
                  </a:lnTo>
                  <a:lnTo>
                    <a:pt x="0" y="448919"/>
                  </a:lnTo>
                  <a:close/>
                </a:path>
              </a:pathLst>
            </a:custGeom>
            <a:solidFill>
              <a:srgbClr val="0003FF"/>
            </a:solidFill>
          </p:spPr>
        </p:sp>
        <p:sp>
          <p:nvSpPr>
            <p:cNvPr name="TextBox 5" id="5"/>
            <p:cNvSpPr txBox="true"/>
            <p:nvPr/>
          </p:nvSpPr>
          <p:spPr>
            <a:xfrm>
              <a:off x="0" y="-57150"/>
              <a:ext cx="5183346" cy="506069"/>
            </a:xfrm>
            <a:prstGeom prst="rect">
              <a:avLst/>
            </a:prstGeom>
          </p:spPr>
          <p:txBody>
            <a:bodyPr anchor="ctr" rtlCol="false" tIns="50800" lIns="50800" bIns="50800" rIns="50800"/>
            <a:lstStyle/>
            <a:p>
              <a:pPr algn="ctr">
                <a:lnSpc>
                  <a:spcPts val="3639"/>
                </a:lnSpc>
              </a:pPr>
            </a:p>
          </p:txBody>
        </p:sp>
      </p:grpSp>
      <p:sp>
        <p:nvSpPr>
          <p:cNvPr name="TextBox 6" id="6"/>
          <p:cNvSpPr txBox="true"/>
          <p:nvPr/>
        </p:nvSpPr>
        <p:spPr>
          <a:xfrm rot="0">
            <a:off x="14141979" y="344568"/>
            <a:ext cx="3117321" cy="448311"/>
          </a:xfrm>
          <a:prstGeom prst="rect">
            <a:avLst/>
          </a:prstGeom>
        </p:spPr>
        <p:txBody>
          <a:bodyPr anchor="t" rtlCol="false" tIns="0" lIns="0" bIns="0" rIns="0">
            <a:spAutoFit/>
          </a:bodyPr>
          <a:lstStyle/>
          <a:p>
            <a:pPr algn="r">
              <a:lnSpc>
                <a:spcPts val="3639"/>
              </a:lnSpc>
              <a:spcBef>
                <a:spcPct val="0"/>
              </a:spcBef>
            </a:pPr>
            <a:r>
              <a:rPr lang="en-US" sz="2599">
                <a:solidFill>
                  <a:srgbClr val="EFEFEF"/>
                </a:solidFill>
                <a:latin typeface="TT Hoves"/>
                <a:ea typeface="TT Hoves"/>
                <a:cs typeface="TT Hoves"/>
                <a:sym typeface="TT Hoves"/>
              </a:rPr>
              <a:t>Presentation 2025</a:t>
            </a:r>
          </a:p>
        </p:txBody>
      </p:sp>
      <p:sp>
        <p:nvSpPr>
          <p:cNvPr name="TextBox 7" id="7"/>
          <p:cNvSpPr txBox="true"/>
          <p:nvPr/>
        </p:nvSpPr>
        <p:spPr>
          <a:xfrm rot="0">
            <a:off x="1123950" y="344568"/>
            <a:ext cx="3117321" cy="448311"/>
          </a:xfrm>
          <a:prstGeom prst="rect">
            <a:avLst/>
          </a:prstGeom>
        </p:spPr>
        <p:txBody>
          <a:bodyPr anchor="t" rtlCol="false" tIns="0" lIns="0" bIns="0" rIns="0">
            <a:spAutoFit/>
          </a:bodyPr>
          <a:lstStyle/>
          <a:p>
            <a:pPr algn="just">
              <a:lnSpc>
                <a:spcPts val="3639"/>
              </a:lnSpc>
              <a:spcBef>
                <a:spcPct val="0"/>
              </a:spcBef>
            </a:pPr>
            <a:r>
              <a:rPr lang="en-US" sz="2599">
                <a:solidFill>
                  <a:srgbClr val="EFEFEF"/>
                </a:solidFill>
                <a:latin typeface="TT Hoves"/>
                <a:ea typeface="TT Hoves"/>
                <a:cs typeface="TT Hoves"/>
                <a:sym typeface="TT Hoves"/>
              </a:rPr>
              <a:t>Data Science</a:t>
            </a:r>
          </a:p>
        </p:txBody>
      </p:sp>
      <p:sp>
        <p:nvSpPr>
          <p:cNvPr name="TextBox 8" id="8"/>
          <p:cNvSpPr txBox="true"/>
          <p:nvPr/>
        </p:nvSpPr>
        <p:spPr>
          <a:xfrm rot="0">
            <a:off x="7585339" y="344568"/>
            <a:ext cx="3117321" cy="448311"/>
          </a:xfrm>
          <a:prstGeom prst="rect">
            <a:avLst/>
          </a:prstGeom>
        </p:spPr>
        <p:txBody>
          <a:bodyPr anchor="t" rtlCol="false" tIns="0" lIns="0" bIns="0" rIns="0">
            <a:spAutoFit/>
          </a:bodyPr>
          <a:lstStyle/>
          <a:p>
            <a:pPr algn="ctr">
              <a:lnSpc>
                <a:spcPts val="3639"/>
              </a:lnSpc>
              <a:spcBef>
                <a:spcPct val="0"/>
              </a:spcBef>
            </a:pPr>
            <a:r>
              <a:rPr lang="en-US" sz="2599">
                <a:solidFill>
                  <a:srgbClr val="EFEFEF"/>
                </a:solidFill>
                <a:latin typeface="TT Hoves"/>
                <a:ea typeface="TT Hoves"/>
                <a:cs typeface="TT Hoves"/>
                <a:sym typeface="TT Hoves"/>
              </a:rPr>
              <a:t>Final Project</a:t>
            </a:r>
          </a:p>
        </p:txBody>
      </p:sp>
      <p:sp>
        <p:nvSpPr>
          <p:cNvPr name="TextBox 9" id="9"/>
          <p:cNvSpPr txBox="true"/>
          <p:nvPr/>
        </p:nvSpPr>
        <p:spPr>
          <a:xfrm rot="0">
            <a:off x="5484590" y="344568"/>
            <a:ext cx="1406261" cy="448311"/>
          </a:xfrm>
          <a:prstGeom prst="rect">
            <a:avLst/>
          </a:prstGeom>
        </p:spPr>
        <p:txBody>
          <a:bodyPr anchor="t" rtlCol="false" tIns="0" lIns="0" bIns="0" rIns="0">
            <a:spAutoFit/>
          </a:bodyPr>
          <a:lstStyle/>
          <a:p>
            <a:pPr algn="ctr">
              <a:lnSpc>
                <a:spcPts val="3639"/>
              </a:lnSpc>
              <a:spcBef>
                <a:spcPct val="0"/>
              </a:spcBef>
            </a:pPr>
            <a:r>
              <a:rPr lang="en-US" sz="2599">
                <a:solidFill>
                  <a:srgbClr val="EFEFEF"/>
                </a:solidFill>
                <a:latin typeface="TT Hoves"/>
                <a:ea typeface="TT Hoves"/>
                <a:cs typeface="TT Hoves"/>
                <a:sym typeface="TT Hoves"/>
              </a:rPr>
              <a:t>-</a:t>
            </a:r>
          </a:p>
        </p:txBody>
      </p:sp>
      <p:sp>
        <p:nvSpPr>
          <p:cNvPr name="TextBox 10" id="10"/>
          <p:cNvSpPr txBox="true"/>
          <p:nvPr/>
        </p:nvSpPr>
        <p:spPr>
          <a:xfrm rot="0">
            <a:off x="12330761" y="344568"/>
            <a:ext cx="1406261" cy="448311"/>
          </a:xfrm>
          <a:prstGeom prst="rect">
            <a:avLst/>
          </a:prstGeom>
        </p:spPr>
        <p:txBody>
          <a:bodyPr anchor="t" rtlCol="false" tIns="0" lIns="0" bIns="0" rIns="0">
            <a:spAutoFit/>
          </a:bodyPr>
          <a:lstStyle/>
          <a:p>
            <a:pPr algn="ctr">
              <a:lnSpc>
                <a:spcPts val="3639"/>
              </a:lnSpc>
              <a:spcBef>
                <a:spcPct val="0"/>
              </a:spcBef>
            </a:pPr>
            <a:r>
              <a:rPr lang="en-US" sz="2599">
                <a:solidFill>
                  <a:srgbClr val="EFEFEF"/>
                </a:solidFill>
                <a:latin typeface="TT Hoves"/>
                <a:ea typeface="TT Hoves"/>
                <a:cs typeface="TT Hoves"/>
                <a:sym typeface="TT Hoves"/>
              </a:rPr>
              <a:t>-</a:t>
            </a:r>
          </a:p>
        </p:txBody>
      </p:sp>
      <p:sp>
        <p:nvSpPr>
          <p:cNvPr name="TextBox 11" id="11"/>
          <p:cNvSpPr txBox="true"/>
          <p:nvPr/>
        </p:nvSpPr>
        <p:spPr>
          <a:xfrm rot="0">
            <a:off x="1028700" y="4744437"/>
            <a:ext cx="15838935" cy="1385062"/>
          </a:xfrm>
          <a:prstGeom prst="rect">
            <a:avLst/>
          </a:prstGeom>
        </p:spPr>
        <p:txBody>
          <a:bodyPr anchor="t" rtlCol="false" tIns="0" lIns="0" bIns="0" rIns="0">
            <a:spAutoFit/>
          </a:bodyPr>
          <a:lstStyle/>
          <a:p>
            <a:pPr algn="l">
              <a:lnSpc>
                <a:spcPts val="5264"/>
              </a:lnSpc>
            </a:pPr>
            <a:r>
              <a:rPr lang="en-US" b="true" sz="5600" spc="-274">
                <a:solidFill>
                  <a:srgbClr val="343434"/>
                </a:solidFill>
                <a:latin typeface="TT Hoves Bold"/>
                <a:ea typeface="TT Hoves Bold"/>
                <a:cs typeface="TT Hoves Bold"/>
                <a:sym typeface="TT Hoves Bold"/>
              </a:rPr>
              <a:t>Decode Spotify Users: Menganalisis Pola Mendengarkan, Langganan, dan Risiko Churn</a:t>
            </a:r>
          </a:p>
        </p:txBody>
      </p:sp>
      <p:sp>
        <p:nvSpPr>
          <p:cNvPr name="TextBox 12" id="12"/>
          <p:cNvSpPr txBox="true"/>
          <p:nvPr/>
        </p:nvSpPr>
        <p:spPr>
          <a:xfrm rot="0">
            <a:off x="1123950" y="6632598"/>
            <a:ext cx="8459795" cy="578026"/>
          </a:xfrm>
          <a:prstGeom prst="rect">
            <a:avLst/>
          </a:prstGeom>
        </p:spPr>
        <p:txBody>
          <a:bodyPr anchor="t" rtlCol="false" tIns="0" lIns="0" bIns="0" rIns="0">
            <a:spAutoFit/>
          </a:bodyPr>
          <a:lstStyle/>
          <a:p>
            <a:pPr algn="l">
              <a:lnSpc>
                <a:spcPts val="4381"/>
              </a:lnSpc>
            </a:pPr>
            <a:r>
              <a:rPr lang="en-US" sz="4381" spc="-87">
                <a:solidFill>
                  <a:srgbClr val="343434"/>
                </a:solidFill>
                <a:latin typeface="TT Hoves"/>
                <a:ea typeface="TT Hoves"/>
                <a:cs typeface="TT Hoves"/>
                <a:sym typeface="TT Hoves"/>
              </a:rPr>
              <a:t>Presented by Arum Sekar 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696258" y="-976142"/>
            <a:ext cx="7178388" cy="11878896"/>
            <a:chOff x="0" y="0"/>
            <a:chExt cx="1890604" cy="3128598"/>
          </a:xfrm>
        </p:grpSpPr>
        <p:sp>
          <p:nvSpPr>
            <p:cNvPr name="Freeform 3" id="3"/>
            <p:cNvSpPr/>
            <p:nvPr/>
          </p:nvSpPr>
          <p:spPr>
            <a:xfrm flipH="false" flipV="false" rot="0">
              <a:off x="0" y="0"/>
              <a:ext cx="1890604" cy="3128598"/>
            </a:xfrm>
            <a:custGeom>
              <a:avLst/>
              <a:gdLst/>
              <a:ahLst/>
              <a:cxnLst/>
              <a:rect r="r" b="b" t="t" l="l"/>
              <a:pathLst>
                <a:path h="3128598" w="1890604">
                  <a:moveTo>
                    <a:pt x="0" y="0"/>
                  </a:moveTo>
                  <a:lnTo>
                    <a:pt x="1890604" y="0"/>
                  </a:lnTo>
                  <a:lnTo>
                    <a:pt x="1890604" y="3128598"/>
                  </a:lnTo>
                  <a:lnTo>
                    <a:pt x="0" y="3128598"/>
                  </a:lnTo>
                  <a:close/>
                </a:path>
              </a:pathLst>
            </a:custGeom>
            <a:solidFill>
              <a:srgbClr val="91AADD"/>
            </a:solidFill>
          </p:spPr>
        </p:sp>
        <p:sp>
          <p:nvSpPr>
            <p:cNvPr name="TextBox 4" id="4"/>
            <p:cNvSpPr txBox="true"/>
            <p:nvPr/>
          </p:nvSpPr>
          <p:spPr>
            <a:xfrm>
              <a:off x="0" y="-57150"/>
              <a:ext cx="1890604" cy="3185748"/>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0">
            <a:off x="13263798" y="-4131629"/>
            <a:ext cx="7991003" cy="7991003"/>
          </a:xfrm>
          <a:custGeom>
            <a:avLst/>
            <a:gdLst/>
            <a:ahLst/>
            <a:cxnLst/>
            <a:rect r="r" b="b" t="t" l="l"/>
            <a:pathLst>
              <a:path h="7991003" w="7991003">
                <a:moveTo>
                  <a:pt x="0" y="0"/>
                </a:moveTo>
                <a:lnTo>
                  <a:pt x="7991004" y="0"/>
                </a:lnTo>
                <a:lnTo>
                  <a:pt x="7991004" y="7991003"/>
                </a:lnTo>
                <a:lnTo>
                  <a:pt x="0" y="7991003"/>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4981104" y="-130522"/>
            <a:ext cx="3306896" cy="2889943"/>
          </a:xfrm>
          <a:prstGeom prst="rect">
            <a:avLst/>
          </a:prstGeom>
        </p:spPr>
        <p:txBody>
          <a:bodyPr anchor="t" rtlCol="false" tIns="0" lIns="0" bIns="0" rIns="0">
            <a:spAutoFit/>
          </a:bodyPr>
          <a:lstStyle/>
          <a:p>
            <a:pPr algn="ctr">
              <a:lnSpc>
                <a:spcPts val="21379"/>
              </a:lnSpc>
            </a:pPr>
            <a:r>
              <a:rPr lang="en-US" b="true" sz="22743" spc="-1114">
                <a:solidFill>
                  <a:srgbClr val="000000"/>
                </a:solidFill>
                <a:latin typeface="TT Hoves Bold"/>
                <a:ea typeface="TT Hoves Bold"/>
                <a:cs typeface="TT Hoves Bold"/>
                <a:sym typeface="TT Hoves Bold"/>
              </a:rPr>
              <a:t>01</a:t>
            </a:r>
          </a:p>
        </p:txBody>
      </p:sp>
      <p:sp>
        <p:nvSpPr>
          <p:cNvPr name="TextBox 7" id="7"/>
          <p:cNvSpPr txBox="true"/>
          <p:nvPr/>
        </p:nvSpPr>
        <p:spPr>
          <a:xfrm rot="0">
            <a:off x="1028700" y="1095375"/>
            <a:ext cx="5880745" cy="1076325"/>
          </a:xfrm>
          <a:prstGeom prst="rect">
            <a:avLst/>
          </a:prstGeom>
        </p:spPr>
        <p:txBody>
          <a:bodyPr anchor="t" rtlCol="false" tIns="0" lIns="0" bIns="0" rIns="0">
            <a:spAutoFit/>
          </a:bodyPr>
          <a:lstStyle/>
          <a:p>
            <a:pPr algn="l" marL="0" indent="0" lvl="0">
              <a:lnSpc>
                <a:spcPts val="7500"/>
              </a:lnSpc>
            </a:pPr>
            <a:r>
              <a:rPr lang="en-US" sz="7500" spc="-225" strike="noStrike" u="none">
                <a:solidFill>
                  <a:srgbClr val="022658"/>
                </a:solidFill>
                <a:latin typeface="Telegraf"/>
                <a:ea typeface="Telegraf"/>
                <a:cs typeface="Telegraf"/>
                <a:sym typeface="Telegraf"/>
              </a:rPr>
              <a:t>AGENDA</a:t>
            </a:r>
          </a:p>
        </p:txBody>
      </p:sp>
      <p:sp>
        <p:nvSpPr>
          <p:cNvPr name="TextBox 8" id="8"/>
          <p:cNvSpPr txBox="true"/>
          <p:nvPr/>
        </p:nvSpPr>
        <p:spPr>
          <a:xfrm rot="0">
            <a:off x="1019175" y="7715250"/>
            <a:ext cx="5880745" cy="431800"/>
          </a:xfrm>
          <a:prstGeom prst="rect">
            <a:avLst/>
          </a:prstGeom>
        </p:spPr>
        <p:txBody>
          <a:bodyPr anchor="t" rtlCol="false" tIns="0" lIns="0" bIns="0" rIns="0">
            <a:spAutoFit/>
          </a:bodyPr>
          <a:lstStyle/>
          <a:p>
            <a:pPr algn="l">
              <a:lnSpc>
                <a:spcPts val="3500"/>
              </a:lnSpc>
            </a:pPr>
            <a:r>
              <a:rPr lang="en-US" sz="2500" u="sng">
                <a:solidFill>
                  <a:srgbClr val="022658"/>
                </a:solidFill>
                <a:latin typeface="Be Vietnam"/>
                <a:ea typeface="Be Vietnam"/>
                <a:cs typeface="Be Vietnam"/>
                <a:sym typeface="Be Vietnam"/>
                <a:hlinkClick r:id="rId4" action="ppaction://hlinksldjump"/>
              </a:rPr>
              <a:t>Machine Learning Model</a:t>
            </a:r>
          </a:p>
        </p:txBody>
      </p:sp>
      <p:sp>
        <p:nvSpPr>
          <p:cNvPr name="TextBox 9" id="9"/>
          <p:cNvSpPr txBox="true"/>
          <p:nvPr/>
        </p:nvSpPr>
        <p:spPr>
          <a:xfrm rot="0">
            <a:off x="1028700" y="6759575"/>
            <a:ext cx="5880745" cy="431800"/>
          </a:xfrm>
          <a:prstGeom prst="rect">
            <a:avLst/>
          </a:prstGeom>
        </p:spPr>
        <p:txBody>
          <a:bodyPr anchor="t" rtlCol="false" tIns="0" lIns="0" bIns="0" rIns="0">
            <a:spAutoFit/>
          </a:bodyPr>
          <a:lstStyle/>
          <a:p>
            <a:pPr algn="l">
              <a:lnSpc>
                <a:spcPts val="3500"/>
              </a:lnSpc>
            </a:pPr>
            <a:r>
              <a:rPr lang="en-US" sz="2500" u="sng">
                <a:solidFill>
                  <a:srgbClr val="022658"/>
                </a:solidFill>
                <a:latin typeface="Be Vietnam"/>
                <a:ea typeface="Be Vietnam"/>
                <a:cs typeface="Be Vietnam"/>
                <a:sym typeface="Be Vietnam"/>
                <a:hlinkClick r:id="rId5" action="ppaction://hlinksldjump"/>
              </a:rPr>
              <a:t>EDA &amp; Insights</a:t>
            </a:r>
          </a:p>
        </p:txBody>
      </p:sp>
      <p:sp>
        <p:nvSpPr>
          <p:cNvPr name="TextBox 10" id="10"/>
          <p:cNvSpPr txBox="true"/>
          <p:nvPr/>
        </p:nvSpPr>
        <p:spPr>
          <a:xfrm rot="0">
            <a:off x="1028700" y="8571546"/>
            <a:ext cx="5880745" cy="431800"/>
          </a:xfrm>
          <a:prstGeom prst="rect">
            <a:avLst/>
          </a:prstGeom>
        </p:spPr>
        <p:txBody>
          <a:bodyPr anchor="t" rtlCol="false" tIns="0" lIns="0" bIns="0" rIns="0">
            <a:spAutoFit/>
          </a:bodyPr>
          <a:lstStyle/>
          <a:p>
            <a:pPr algn="l">
              <a:lnSpc>
                <a:spcPts val="3500"/>
              </a:lnSpc>
            </a:pPr>
            <a:r>
              <a:rPr lang="en-US" sz="2500" u="sng">
                <a:solidFill>
                  <a:srgbClr val="022658"/>
                </a:solidFill>
                <a:latin typeface="Be Vietnam"/>
                <a:ea typeface="Be Vietnam"/>
                <a:cs typeface="Be Vietnam"/>
                <a:sym typeface="Be Vietnam"/>
                <a:hlinkClick r:id="rId6" action="ppaction://hlinksldjump"/>
              </a:rPr>
              <a:t>Recommendations</a:t>
            </a:r>
          </a:p>
        </p:txBody>
      </p:sp>
      <p:sp>
        <p:nvSpPr>
          <p:cNvPr name="TextBox 11" id="11"/>
          <p:cNvSpPr txBox="true"/>
          <p:nvPr/>
        </p:nvSpPr>
        <p:spPr>
          <a:xfrm rot="0">
            <a:off x="1028700" y="4947604"/>
            <a:ext cx="5880745" cy="431800"/>
          </a:xfrm>
          <a:prstGeom prst="rect">
            <a:avLst/>
          </a:prstGeom>
        </p:spPr>
        <p:txBody>
          <a:bodyPr anchor="t" rtlCol="false" tIns="0" lIns="0" bIns="0" rIns="0">
            <a:spAutoFit/>
          </a:bodyPr>
          <a:lstStyle/>
          <a:p>
            <a:pPr algn="l">
              <a:lnSpc>
                <a:spcPts val="3500"/>
              </a:lnSpc>
            </a:pPr>
            <a:r>
              <a:rPr lang="en-US" sz="2500" u="sng">
                <a:solidFill>
                  <a:srgbClr val="022658"/>
                </a:solidFill>
                <a:latin typeface="Be Vietnam"/>
                <a:ea typeface="Be Vietnam"/>
                <a:cs typeface="Be Vietnam"/>
                <a:sym typeface="Be Vietnam"/>
                <a:hlinkClick r:id="rId7" action="ppaction://hlinksldjump"/>
              </a:rPr>
              <a:t>Overview Project</a:t>
            </a:r>
          </a:p>
        </p:txBody>
      </p:sp>
      <p:sp>
        <p:nvSpPr>
          <p:cNvPr name="TextBox 12" id="12"/>
          <p:cNvSpPr txBox="true"/>
          <p:nvPr/>
        </p:nvSpPr>
        <p:spPr>
          <a:xfrm rot="0">
            <a:off x="1028700" y="4222751"/>
            <a:ext cx="5880745" cy="431800"/>
          </a:xfrm>
          <a:prstGeom prst="rect">
            <a:avLst/>
          </a:prstGeom>
        </p:spPr>
        <p:txBody>
          <a:bodyPr anchor="t" rtlCol="false" tIns="0" lIns="0" bIns="0" rIns="0">
            <a:spAutoFit/>
          </a:bodyPr>
          <a:lstStyle/>
          <a:p>
            <a:pPr algn="l">
              <a:lnSpc>
                <a:spcPts val="3500"/>
              </a:lnSpc>
            </a:pPr>
            <a:r>
              <a:rPr lang="en-US" sz="2500" u="sng">
                <a:solidFill>
                  <a:srgbClr val="022658"/>
                </a:solidFill>
                <a:latin typeface="Be Vietnam"/>
                <a:ea typeface="Be Vietnam"/>
                <a:cs typeface="Be Vietnam"/>
                <a:sym typeface="Be Vietnam"/>
                <a:hlinkClick r:id="rId8" action="ppaction://hlinksldjump"/>
              </a:rPr>
              <a:t>Self Overview</a:t>
            </a:r>
          </a:p>
        </p:txBody>
      </p:sp>
      <p:sp>
        <p:nvSpPr>
          <p:cNvPr name="TextBox 13" id="13"/>
          <p:cNvSpPr txBox="true"/>
          <p:nvPr/>
        </p:nvSpPr>
        <p:spPr>
          <a:xfrm rot="0">
            <a:off x="1019175" y="5805577"/>
            <a:ext cx="5880745" cy="431800"/>
          </a:xfrm>
          <a:prstGeom prst="rect">
            <a:avLst/>
          </a:prstGeom>
        </p:spPr>
        <p:txBody>
          <a:bodyPr anchor="t" rtlCol="false" tIns="0" lIns="0" bIns="0" rIns="0">
            <a:spAutoFit/>
          </a:bodyPr>
          <a:lstStyle/>
          <a:p>
            <a:pPr algn="l">
              <a:lnSpc>
                <a:spcPts val="3500"/>
              </a:lnSpc>
            </a:pPr>
            <a:r>
              <a:rPr lang="en-US" sz="2500" u="sng">
                <a:solidFill>
                  <a:srgbClr val="022658"/>
                </a:solidFill>
                <a:latin typeface="Be Vietnam"/>
                <a:ea typeface="Be Vietnam"/>
                <a:cs typeface="Be Vietnam"/>
                <a:sym typeface="Be Vietnam"/>
                <a:hlinkClick r:id="rId5" action="ppaction://hlinksldjump"/>
              </a:rPr>
              <a:t>Data preprocessing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7713931" y="6387831"/>
            <a:ext cx="9144884" cy="2449830"/>
          </a:xfrm>
          <a:prstGeom prst="rect">
            <a:avLst/>
          </a:prstGeom>
        </p:spPr>
        <p:txBody>
          <a:bodyPr anchor="t" rtlCol="false" tIns="0" lIns="0" bIns="0" rIns="0">
            <a:spAutoFit/>
          </a:bodyPr>
          <a:lstStyle/>
          <a:p>
            <a:pPr algn="just" marL="0" indent="0" lvl="0">
              <a:lnSpc>
                <a:spcPts val="3239"/>
              </a:lnSpc>
              <a:spcBef>
                <a:spcPct val="0"/>
              </a:spcBef>
            </a:pPr>
            <a:r>
              <a:rPr lang="en-US" sz="2399" spc="143">
                <a:solidFill>
                  <a:srgbClr val="343434"/>
                </a:solidFill>
                <a:latin typeface="TT Hoves"/>
                <a:ea typeface="TT Hoves"/>
                <a:cs typeface="TT Hoves"/>
                <a:sym typeface="TT Hoves"/>
              </a:rPr>
              <a:t>Ha</a:t>
            </a:r>
            <a:r>
              <a:rPr lang="en-US" sz="2399" spc="143" u="none">
                <a:solidFill>
                  <a:srgbClr val="343434"/>
                </a:solidFill>
                <a:latin typeface="TT Hoves"/>
                <a:ea typeface="TT Hoves"/>
                <a:cs typeface="TT Hoves"/>
                <a:sym typeface="TT Hoves"/>
              </a:rPr>
              <a:t>lo, saya Arum. Saya lulusan Sarjana Matematika yang kini bekerja di industri aplikasi transportasi (Grab) sebagai analis operasional. Saat ini saya juga mengikuti bootcamp Data Science 6 bulan untuk memperdalam kemampuan analisis dan machine learning. Portofolio ini berisi rangkuman proyek dan pembelajaran saya di dunia data.</a:t>
            </a:r>
          </a:p>
        </p:txBody>
      </p:sp>
      <p:grpSp>
        <p:nvGrpSpPr>
          <p:cNvPr name="Group 3" id="3"/>
          <p:cNvGrpSpPr/>
          <p:nvPr/>
        </p:nvGrpSpPr>
        <p:grpSpPr>
          <a:xfrm rot="0">
            <a:off x="-696258" y="-976142"/>
            <a:ext cx="7178388" cy="11878896"/>
            <a:chOff x="0" y="0"/>
            <a:chExt cx="1890604" cy="3128598"/>
          </a:xfrm>
        </p:grpSpPr>
        <p:sp>
          <p:nvSpPr>
            <p:cNvPr name="Freeform 4" id="4"/>
            <p:cNvSpPr/>
            <p:nvPr/>
          </p:nvSpPr>
          <p:spPr>
            <a:xfrm flipH="false" flipV="false" rot="0">
              <a:off x="0" y="0"/>
              <a:ext cx="1890604" cy="3128598"/>
            </a:xfrm>
            <a:custGeom>
              <a:avLst/>
              <a:gdLst/>
              <a:ahLst/>
              <a:cxnLst/>
              <a:rect r="r" b="b" t="t" l="l"/>
              <a:pathLst>
                <a:path h="3128598" w="1890604">
                  <a:moveTo>
                    <a:pt x="0" y="0"/>
                  </a:moveTo>
                  <a:lnTo>
                    <a:pt x="1890604" y="0"/>
                  </a:lnTo>
                  <a:lnTo>
                    <a:pt x="1890604" y="3128598"/>
                  </a:lnTo>
                  <a:lnTo>
                    <a:pt x="0" y="3128598"/>
                  </a:lnTo>
                  <a:close/>
                </a:path>
              </a:pathLst>
            </a:custGeom>
            <a:solidFill>
              <a:srgbClr val="FFFFFF"/>
            </a:solidFill>
          </p:spPr>
        </p:sp>
        <p:sp>
          <p:nvSpPr>
            <p:cNvPr name="TextBox 5" id="5"/>
            <p:cNvSpPr txBox="true"/>
            <p:nvPr/>
          </p:nvSpPr>
          <p:spPr>
            <a:xfrm>
              <a:off x="0" y="-57150"/>
              <a:ext cx="1890604" cy="318574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13263798" y="-4131629"/>
            <a:ext cx="7991003" cy="7991003"/>
          </a:xfrm>
          <a:custGeom>
            <a:avLst/>
            <a:gdLst/>
            <a:ahLst/>
            <a:cxnLst/>
            <a:rect r="r" b="b" t="t" l="l"/>
            <a:pathLst>
              <a:path h="7991003" w="7991003">
                <a:moveTo>
                  <a:pt x="0" y="0"/>
                </a:moveTo>
                <a:lnTo>
                  <a:pt x="7991004" y="0"/>
                </a:lnTo>
                <a:lnTo>
                  <a:pt x="7991004" y="7991003"/>
                </a:lnTo>
                <a:lnTo>
                  <a:pt x="0" y="7991003"/>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098241" y="4154649"/>
            <a:ext cx="9760574" cy="1529339"/>
          </a:xfrm>
          <a:prstGeom prst="rect">
            <a:avLst/>
          </a:prstGeom>
        </p:spPr>
        <p:txBody>
          <a:bodyPr anchor="t" rtlCol="false" tIns="0" lIns="0" bIns="0" rIns="0">
            <a:spAutoFit/>
          </a:bodyPr>
          <a:lstStyle/>
          <a:p>
            <a:pPr algn="l">
              <a:lnSpc>
                <a:spcPts val="11269"/>
              </a:lnSpc>
            </a:pPr>
            <a:r>
              <a:rPr lang="en-US" b="true" sz="11988" spc="-587">
                <a:solidFill>
                  <a:srgbClr val="343434"/>
                </a:solidFill>
                <a:latin typeface="TT Hoves Bold"/>
                <a:ea typeface="TT Hoves Bold"/>
                <a:cs typeface="TT Hoves Bold"/>
                <a:sym typeface="TT Hoves Bold"/>
              </a:rPr>
              <a:t>Arum Sekar M</a:t>
            </a:r>
          </a:p>
        </p:txBody>
      </p:sp>
      <p:sp>
        <p:nvSpPr>
          <p:cNvPr name="TextBox 8" id="8"/>
          <p:cNvSpPr txBox="true"/>
          <p:nvPr/>
        </p:nvSpPr>
        <p:spPr>
          <a:xfrm rot="0">
            <a:off x="14981104" y="-106770"/>
            <a:ext cx="3306896" cy="2813865"/>
          </a:xfrm>
          <a:prstGeom prst="rect">
            <a:avLst/>
          </a:prstGeom>
        </p:spPr>
        <p:txBody>
          <a:bodyPr anchor="t" rtlCol="false" tIns="0" lIns="0" bIns="0" rIns="0">
            <a:spAutoFit/>
          </a:bodyPr>
          <a:lstStyle/>
          <a:p>
            <a:pPr algn="ctr">
              <a:lnSpc>
                <a:spcPts val="20721"/>
              </a:lnSpc>
            </a:pPr>
            <a:r>
              <a:rPr lang="en-US" b="true" sz="22043" spc="-1080">
                <a:solidFill>
                  <a:srgbClr val="000000"/>
                </a:solidFill>
                <a:latin typeface="TT Hoves Bold"/>
                <a:ea typeface="TT Hoves Bold"/>
                <a:cs typeface="TT Hoves Bold"/>
                <a:sym typeface="TT Hoves Bold"/>
              </a:rPr>
              <a:t>02</a:t>
            </a:r>
          </a:p>
        </p:txBody>
      </p:sp>
      <p:sp>
        <p:nvSpPr>
          <p:cNvPr name="Freeform 9" id="9"/>
          <p:cNvSpPr/>
          <p:nvPr/>
        </p:nvSpPr>
        <p:spPr>
          <a:xfrm flipH="true" flipV="false" rot="0">
            <a:off x="-141774" y="2814867"/>
            <a:ext cx="6069419" cy="8087887"/>
          </a:xfrm>
          <a:custGeom>
            <a:avLst/>
            <a:gdLst/>
            <a:ahLst/>
            <a:cxnLst/>
            <a:rect r="r" b="b" t="t" l="l"/>
            <a:pathLst>
              <a:path h="8087887" w="6069419">
                <a:moveTo>
                  <a:pt x="6069419" y="0"/>
                </a:moveTo>
                <a:lnTo>
                  <a:pt x="0" y="0"/>
                </a:lnTo>
                <a:lnTo>
                  <a:pt x="0" y="8087886"/>
                </a:lnTo>
                <a:lnTo>
                  <a:pt x="6069419" y="8087886"/>
                </a:lnTo>
                <a:lnTo>
                  <a:pt x="6069419"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696258" y="-976142"/>
            <a:ext cx="6293485" cy="11878896"/>
            <a:chOff x="0" y="0"/>
            <a:chExt cx="1657543" cy="3128598"/>
          </a:xfrm>
        </p:grpSpPr>
        <p:sp>
          <p:nvSpPr>
            <p:cNvPr name="Freeform 3" id="3"/>
            <p:cNvSpPr/>
            <p:nvPr/>
          </p:nvSpPr>
          <p:spPr>
            <a:xfrm flipH="false" flipV="false" rot="0">
              <a:off x="0" y="0"/>
              <a:ext cx="1657543" cy="3128598"/>
            </a:xfrm>
            <a:custGeom>
              <a:avLst/>
              <a:gdLst/>
              <a:ahLst/>
              <a:cxnLst/>
              <a:rect r="r" b="b" t="t" l="l"/>
              <a:pathLst>
                <a:path h="3128598" w="1657543">
                  <a:moveTo>
                    <a:pt x="0" y="0"/>
                  </a:moveTo>
                  <a:lnTo>
                    <a:pt x="1657543" y="0"/>
                  </a:lnTo>
                  <a:lnTo>
                    <a:pt x="1657543" y="3128598"/>
                  </a:lnTo>
                  <a:lnTo>
                    <a:pt x="0" y="3128598"/>
                  </a:lnTo>
                  <a:close/>
                </a:path>
              </a:pathLst>
            </a:custGeom>
            <a:solidFill>
              <a:srgbClr val="0003FF"/>
            </a:solidFill>
          </p:spPr>
        </p:sp>
        <p:sp>
          <p:nvSpPr>
            <p:cNvPr name="TextBox 4" id="4"/>
            <p:cNvSpPr txBox="true"/>
            <p:nvPr/>
          </p:nvSpPr>
          <p:spPr>
            <a:xfrm>
              <a:off x="0" y="-57150"/>
              <a:ext cx="1657543" cy="3185748"/>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0">
            <a:off x="13263798" y="-4131629"/>
            <a:ext cx="7991003" cy="7991003"/>
          </a:xfrm>
          <a:custGeom>
            <a:avLst/>
            <a:gdLst/>
            <a:ahLst/>
            <a:cxnLst/>
            <a:rect r="r" b="b" t="t" l="l"/>
            <a:pathLst>
              <a:path h="7991003" w="7991003">
                <a:moveTo>
                  <a:pt x="0" y="0"/>
                </a:moveTo>
                <a:lnTo>
                  <a:pt x="7991004" y="0"/>
                </a:lnTo>
                <a:lnTo>
                  <a:pt x="7991004" y="7991003"/>
                </a:lnTo>
                <a:lnTo>
                  <a:pt x="0" y="7991003"/>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96215" y="8635837"/>
            <a:ext cx="2449831" cy="2099030"/>
          </a:xfrm>
          <a:prstGeom prst="rect">
            <a:avLst/>
          </a:prstGeom>
        </p:spPr>
        <p:txBody>
          <a:bodyPr anchor="t" rtlCol="false" tIns="0" lIns="0" bIns="0" rIns="0">
            <a:spAutoFit/>
          </a:bodyPr>
          <a:lstStyle/>
          <a:p>
            <a:pPr algn="ctr">
              <a:lnSpc>
                <a:spcPts val="15556"/>
              </a:lnSpc>
            </a:pPr>
            <a:r>
              <a:rPr lang="en-US" b="true" sz="16549" spc="-810">
                <a:solidFill>
                  <a:srgbClr val="EFEFEF"/>
                </a:solidFill>
                <a:latin typeface="TT Hoves Bold"/>
                <a:ea typeface="TT Hoves Bold"/>
                <a:cs typeface="TT Hoves Bold"/>
                <a:sym typeface="TT Hoves Bold"/>
              </a:rPr>
              <a:t>03</a:t>
            </a:r>
          </a:p>
        </p:txBody>
      </p:sp>
      <p:sp>
        <p:nvSpPr>
          <p:cNvPr name="TextBox 7" id="7"/>
          <p:cNvSpPr txBox="true"/>
          <p:nvPr/>
        </p:nvSpPr>
        <p:spPr>
          <a:xfrm rot="0">
            <a:off x="375002" y="2119140"/>
            <a:ext cx="5517192" cy="1638300"/>
          </a:xfrm>
          <a:prstGeom prst="rect">
            <a:avLst/>
          </a:prstGeom>
        </p:spPr>
        <p:txBody>
          <a:bodyPr anchor="t" rtlCol="false" tIns="0" lIns="0" bIns="0" rIns="0">
            <a:spAutoFit/>
          </a:bodyPr>
          <a:lstStyle/>
          <a:p>
            <a:pPr algn="l" marL="0" indent="0" lvl="0">
              <a:lnSpc>
                <a:spcPts val="6000"/>
              </a:lnSpc>
              <a:spcBef>
                <a:spcPct val="0"/>
              </a:spcBef>
            </a:pPr>
            <a:r>
              <a:rPr lang="en-US" sz="6000" spc="-179">
                <a:solidFill>
                  <a:srgbClr val="FFFFFF"/>
                </a:solidFill>
                <a:latin typeface="Telegraf"/>
                <a:ea typeface="Telegraf"/>
                <a:cs typeface="Telegraf"/>
                <a:sym typeface="Telegraf"/>
              </a:rPr>
              <a:t>EDUCATION BACKGROUND</a:t>
            </a:r>
          </a:p>
        </p:txBody>
      </p:sp>
      <p:sp>
        <p:nvSpPr>
          <p:cNvPr name="TextBox 8" id="8"/>
          <p:cNvSpPr txBox="true"/>
          <p:nvPr/>
        </p:nvSpPr>
        <p:spPr>
          <a:xfrm rot="0">
            <a:off x="375002" y="6747303"/>
            <a:ext cx="5517192" cy="1638300"/>
          </a:xfrm>
          <a:prstGeom prst="rect">
            <a:avLst/>
          </a:prstGeom>
        </p:spPr>
        <p:txBody>
          <a:bodyPr anchor="t" rtlCol="false" tIns="0" lIns="0" bIns="0" rIns="0">
            <a:spAutoFit/>
          </a:bodyPr>
          <a:lstStyle/>
          <a:p>
            <a:pPr algn="l" marL="0" indent="0" lvl="0">
              <a:lnSpc>
                <a:spcPts val="6000"/>
              </a:lnSpc>
              <a:spcBef>
                <a:spcPct val="0"/>
              </a:spcBef>
            </a:pPr>
            <a:r>
              <a:rPr lang="en-US" sz="6000" spc="-179">
                <a:solidFill>
                  <a:srgbClr val="FFFFFF"/>
                </a:solidFill>
                <a:latin typeface="Telegraf"/>
                <a:ea typeface="Telegraf"/>
                <a:cs typeface="Telegraf"/>
                <a:sym typeface="Telegraf"/>
              </a:rPr>
              <a:t>WORK EXPERINCE</a:t>
            </a:r>
          </a:p>
        </p:txBody>
      </p:sp>
      <p:sp>
        <p:nvSpPr>
          <p:cNvPr name="TextBox 9" id="9"/>
          <p:cNvSpPr txBox="true"/>
          <p:nvPr/>
        </p:nvSpPr>
        <p:spPr>
          <a:xfrm rot="0">
            <a:off x="6262166" y="639002"/>
            <a:ext cx="11328972" cy="2859405"/>
          </a:xfrm>
          <a:prstGeom prst="rect">
            <a:avLst/>
          </a:prstGeom>
        </p:spPr>
        <p:txBody>
          <a:bodyPr anchor="t" rtlCol="false" tIns="0" lIns="0" bIns="0" rIns="0">
            <a:spAutoFit/>
          </a:bodyPr>
          <a:lstStyle/>
          <a:p>
            <a:pPr algn="just" marL="518157" indent="-259078" lvl="1">
              <a:lnSpc>
                <a:spcPts val="3239"/>
              </a:lnSpc>
              <a:buFont typeface="Arial"/>
              <a:buChar char="•"/>
            </a:pPr>
            <a:r>
              <a:rPr lang="en-US" b="true" sz="2399" spc="143">
                <a:solidFill>
                  <a:srgbClr val="343434"/>
                </a:solidFill>
                <a:latin typeface="TT Hoves Bold"/>
                <a:ea typeface="TT Hoves Bold"/>
                <a:cs typeface="TT Hoves Bold"/>
                <a:sym typeface="TT Hoves Bold"/>
              </a:rPr>
              <a:t>Sarjana Matematika - </a:t>
            </a:r>
            <a:r>
              <a:rPr lang="en-US" b="true" sz="2399" spc="143" strike="noStrike" u="none">
                <a:solidFill>
                  <a:srgbClr val="343434"/>
                </a:solidFill>
                <a:latin typeface="TT Hoves Bold"/>
                <a:ea typeface="TT Hoves Bold"/>
                <a:cs typeface="TT Hoves Bold"/>
                <a:sym typeface="TT Hoves Bold"/>
              </a:rPr>
              <a:t>Universitas Jenderal Soedirman (2017-2021)</a:t>
            </a:r>
          </a:p>
          <a:p>
            <a:pPr algn="just" marL="0" indent="0" lvl="0">
              <a:lnSpc>
                <a:spcPts val="3239"/>
              </a:lnSpc>
              <a:spcBef>
                <a:spcPct val="0"/>
              </a:spcBef>
            </a:pPr>
          </a:p>
          <a:p>
            <a:pPr algn="just" marL="0" indent="0" lvl="0">
              <a:lnSpc>
                <a:spcPts val="3239"/>
              </a:lnSpc>
              <a:spcBef>
                <a:spcPct val="0"/>
              </a:spcBef>
            </a:pPr>
            <a:r>
              <a:rPr lang="en-US" sz="2399" spc="143" strike="noStrike" u="none">
                <a:solidFill>
                  <a:srgbClr val="343434"/>
                </a:solidFill>
                <a:latin typeface="TT Hoves"/>
                <a:ea typeface="TT Hoves"/>
                <a:cs typeface="TT Hoves"/>
                <a:sym typeface="TT Hoves"/>
              </a:rPr>
              <a:t>Fokus pada m</a:t>
            </a:r>
            <a:r>
              <a:rPr lang="en-US" sz="2399" spc="143" strike="noStrike" u="none">
                <a:solidFill>
                  <a:srgbClr val="343434"/>
                </a:solidFill>
                <a:latin typeface="TT Hoves"/>
                <a:ea typeface="TT Hoves"/>
                <a:cs typeface="TT Hoves"/>
                <a:sym typeface="TT Hoves"/>
              </a:rPr>
              <a:t>atemati</a:t>
            </a:r>
            <a:r>
              <a:rPr lang="en-US" sz="2399" spc="143" strike="noStrike" u="none">
                <a:solidFill>
                  <a:srgbClr val="343434"/>
                </a:solidFill>
                <a:latin typeface="TT Hoves"/>
                <a:ea typeface="TT Hoves"/>
                <a:cs typeface="TT Hoves"/>
                <a:sym typeface="TT Hoves"/>
              </a:rPr>
              <a:t>ka</a:t>
            </a:r>
            <a:r>
              <a:rPr lang="en-US" sz="2399" spc="143" strike="noStrike" u="none">
                <a:solidFill>
                  <a:srgbClr val="343434"/>
                </a:solidFill>
                <a:latin typeface="TT Hoves"/>
                <a:ea typeface="TT Hoves"/>
                <a:cs typeface="TT Hoves"/>
                <a:sym typeface="TT Hoves"/>
              </a:rPr>
              <a:t>, </a:t>
            </a:r>
            <a:r>
              <a:rPr lang="en-US" sz="2399" spc="143" strike="noStrike" u="none">
                <a:solidFill>
                  <a:srgbClr val="343434"/>
                </a:solidFill>
                <a:latin typeface="TT Hoves"/>
                <a:ea typeface="TT Hoves"/>
                <a:cs typeface="TT Hoves"/>
                <a:sym typeface="TT Hoves"/>
              </a:rPr>
              <a:t>s</a:t>
            </a:r>
            <a:r>
              <a:rPr lang="en-US" sz="2399" spc="143" strike="noStrike" u="none">
                <a:solidFill>
                  <a:srgbClr val="343434"/>
                </a:solidFill>
                <a:latin typeface="TT Hoves"/>
                <a:ea typeface="TT Hoves"/>
                <a:cs typeface="TT Hoves"/>
                <a:sym typeface="TT Hoves"/>
              </a:rPr>
              <a:t>tatisti</a:t>
            </a:r>
            <a:r>
              <a:rPr lang="en-US" sz="2399" spc="143" strike="noStrike" u="none">
                <a:solidFill>
                  <a:srgbClr val="343434"/>
                </a:solidFill>
                <a:latin typeface="TT Hoves"/>
                <a:ea typeface="TT Hoves"/>
                <a:cs typeface="TT Hoves"/>
                <a:sym typeface="TT Hoves"/>
              </a:rPr>
              <a:t>ka,</a:t>
            </a:r>
            <a:r>
              <a:rPr lang="en-US" sz="2399" spc="143" strike="noStrike" u="none">
                <a:solidFill>
                  <a:srgbClr val="343434"/>
                </a:solidFill>
                <a:latin typeface="TT Hoves"/>
                <a:ea typeface="TT Hoves"/>
                <a:cs typeface="TT Hoves"/>
                <a:sym typeface="TT Hoves"/>
              </a:rPr>
              <a:t> </a:t>
            </a:r>
            <a:r>
              <a:rPr lang="en-US" sz="2399" spc="143" strike="noStrike" u="none">
                <a:solidFill>
                  <a:srgbClr val="343434"/>
                </a:solidFill>
                <a:latin typeface="TT Hoves"/>
                <a:ea typeface="TT Hoves"/>
                <a:cs typeface="TT Hoves"/>
                <a:sym typeface="TT Hoves"/>
              </a:rPr>
              <a:t>dan</a:t>
            </a:r>
            <a:r>
              <a:rPr lang="en-US" sz="2399" spc="143" strike="noStrike" u="none">
                <a:solidFill>
                  <a:srgbClr val="343434"/>
                </a:solidFill>
                <a:latin typeface="TT Hoves"/>
                <a:ea typeface="TT Hoves"/>
                <a:cs typeface="TT Hoves"/>
                <a:sym typeface="TT Hoves"/>
              </a:rPr>
              <a:t> </a:t>
            </a:r>
            <a:r>
              <a:rPr lang="en-US" sz="2399" spc="143" strike="noStrike" u="none">
                <a:solidFill>
                  <a:srgbClr val="343434"/>
                </a:solidFill>
                <a:latin typeface="TT Hoves"/>
                <a:ea typeface="TT Hoves"/>
                <a:cs typeface="TT Hoves"/>
                <a:sym typeface="TT Hoves"/>
              </a:rPr>
              <a:t>pem</a:t>
            </a:r>
            <a:r>
              <a:rPr lang="en-US" sz="2399" spc="143" strike="noStrike" u="none">
                <a:solidFill>
                  <a:srgbClr val="343434"/>
                </a:solidFill>
                <a:latin typeface="TT Hoves"/>
                <a:ea typeface="TT Hoves"/>
                <a:cs typeface="TT Hoves"/>
                <a:sym typeface="TT Hoves"/>
              </a:rPr>
              <a:t>odel</a:t>
            </a:r>
            <a:r>
              <a:rPr lang="en-US" sz="2399" spc="143" strike="noStrike" u="none">
                <a:solidFill>
                  <a:srgbClr val="343434"/>
                </a:solidFill>
                <a:latin typeface="TT Hoves"/>
                <a:ea typeface="TT Hoves"/>
                <a:cs typeface="TT Hoves"/>
                <a:sym typeface="TT Hoves"/>
              </a:rPr>
              <a:t>an. Menyelesa</a:t>
            </a:r>
            <a:r>
              <a:rPr lang="en-US" sz="2399" spc="143" strike="noStrike" u="none">
                <a:solidFill>
                  <a:srgbClr val="343434"/>
                </a:solidFill>
                <a:latin typeface="TT Hoves"/>
                <a:ea typeface="TT Hoves"/>
                <a:cs typeface="TT Hoves"/>
                <a:sym typeface="TT Hoves"/>
              </a:rPr>
              <a:t>i</a:t>
            </a:r>
            <a:r>
              <a:rPr lang="en-US" sz="2399" spc="143" strike="noStrike" u="none">
                <a:solidFill>
                  <a:srgbClr val="343434"/>
                </a:solidFill>
                <a:latin typeface="TT Hoves"/>
                <a:ea typeface="TT Hoves"/>
                <a:cs typeface="TT Hoves"/>
                <a:sym typeface="TT Hoves"/>
              </a:rPr>
              <a:t>ka</a:t>
            </a:r>
            <a:r>
              <a:rPr lang="en-US" sz="2399" spc="143" strike="noStrike" u="none">
                <a:solidFill>
                  <a:srgbClr val="343434"/>
                </a:solidFill>
                <a:latin typeface="TT Hoves"/>
                <a:ea typeface="TT Hoves"/>
                <a:cs typeface="TT Hoves"/>
                <a:sym typeface="TT Hoves"/>
              </a:rPr>
              <a:t>n</a:t>
            </a:r>
            <a:r>
              <a:rPr lang="en-US" sz="2399" spc="143" strike="noStrike" u="none">
                <a:solidFill>
                  <a:srgbClr val="343434"/>
                </a:solidFill>
                <a:latin typeface="TT Hoves"/>
                <a:ea typeface="TT Hoves"/>
                <a:cs typeface="TT Hoves"/>
                <a:sym typeface="TT Hoves"/>
              </a:rPr>
              <a:t> j</a:t>
            </a:r>
            <a:r>
              <a:rPr lang="en-US" sz="2399" spc="143" strike="noStrike" u="none">
                <a:solidFill>
                  <a:srgbClr val="343434"/>
                </a:solidFill>
                <a:latin typeface="TT Hoves"/>
                <a:ea typeface="TT Hoves"/>
                <a:cs typeface="TT Hoves"/>
                <a:sym typeface="TT Hoves"/>
              </a:rPr>
              <a:t>urnal </a:t>
            </a:r>
            <a:r>
              <a:rPr lang="en-US" sz="2399" spc="143" strike="noStrike" u="none">
                <a:solidFill>
                  <a:srgbClr val="343434"/>
                </a:solidFill>
                <a:latin typeface="TT Hoves"/>
                <a:ea typeface="TT Hoves"/>
                <a:cs typeface="TT Hoves"/>
                <a:sym typeface="TT Hoves"/>
              </a:rPr>
              <a:t>berjudul</a:t>
            </a:r>
            <a:r>
              <a:rPr lang="en-US" sz="2399" spc="143" strike="noStrike" u="none">
                <a:solidFill>
                  <a:srgbClr val="343434"/>
                </a:solidFill>
                <a:latin typeface="TT Hoves"/>
                <a:ea typeface="TT Hoves"/>
                <a:cs typeface="TT Hoves"/>
                <a:sym typeface="TT Hoves"/>
              </a:rPr>
              <a:t> </a:t>
            </a:r>
            <a:r>
              <a:rPr lang="en-US" sz="2399" spc="143" strike="noStrike" u="none">
                <a:solidFill>
                  <a:srgbClr val="343434"/>
                </a:solidFill>
                <a:latin typeface="TT Hoves"/>
                <a:ea typeface="TT Hoves"/>
                <a:cs typeface="TT Hoves"/>
                <a:sym typeface="TT Hoves"/>
              </a:rPr>
              <a:t>“</a:t>
            </a:r>
            <a:r>
              <a:rPr lang="en-US" sz="2399" spc="143" strike="noStrike" u="sng">
                <a:solidFill>
                  <a:srgbClr val="343434"/>
                </a:solidFill>
                <a:latin typeface="TT Hoves"/>
                <a:ea typeface="TT Hoves"/>
                <a:cs typeface="TT Hoves"/>
                <a:sym typeface="TT Hoves"/>
                <a:hlinkClick r:id="rId4" tooltip="http://repository.unsoed.ac.id/11683/"/>
              </a:rPr>
              <a:t>Pemodelan Dinamika Populasi untuk Tiga Kelas Populasi Dengan Menggunakan Barisan Bilangan Fibonacci.</a:t>
            </a:r>
            <a:r>
              <a:rPr lang="en-US" sz="2399" spc="143" strike="noStrike" u="none">
                <a:solidFill>
                  <a:srgbClr val="343434"/>
                </a:solidFill>
                <a:latin typeface="TT Hoves"/>
                <a:ea typeface="TT Hoves"/>
                <a:cs typeface="TT Hoves"/>
                <a:sym typeface="TT Hoves"/>
              </a:rPr>
              <a:t> “</a:t>
            </a:r>
          </a:p>
          <a:p>
            <a:pPr algn="just" marL="0" indent="0" lvl="0">
              <a:lnSpc>
                <a:spcPts val="3239"/>
              </a:lnSpc>
              <a:spcBef>
                <a:spcPct val="0"/>
              </a:spcBef>
            </a:pPr>
          </a:p>
        </p:txBody>
      </p:sp>
      <p:sp>
        <p:nvSpPr>
          <p:cNvPr name="TextBox 10" id="10"/>
          <p:cNvSpPr txBox="true"/>
          <p:nvPr/>
        </p:nvSpPr>
        <p:spPr>
          <a:xfrm rot="0">
            <a:off x="6262166" y="6671103"/>
            <a:ext cx="11328972" cy="2449830"/>
          </a:xfrm>
          <a:prstGeom prst="rect">
            <a:avLst/>
          </a:prstGeom>
        </p:spPr>
        <p:txBody>
          <a:bodyPr anchor="t" rtlCol="false" tIns="0" lIns="0" bIns="0" rIns="0">
            <a:spAutoFit/>
          </a:bodyPr>
          <a:lstStyle/>
          <a:p>
            <a:pPr algn="just" marL="518157" indent="-259078" lvl="1">
              <a:lnSpc>
                <a:spcPts val="3239"/>
              </a:lnSpc>
              <a:buFont typeface="Arial"/>
              <a:buChar char="•"/>
            </a:pPr>
            <a:r>
              <a:rPr lang="en-US" b="true" sz="2399" spc="143">
                <a:solidFill>
                  <a:srgbClr val="343434"/>
                </a:solidFill>
                <a:latin typeface="TT Hoves Bold"/>
                <a:ea typeface="TT Hoves Bold"/>
                <a:cs typeface="TT Hoves Bold"/>
                <a:sym typeface="TT Hoves Bold"/>
              </a:rPr>
              <a:t>Demand Ops - PT. G</a:t>
            </a:r>
            <a:r>
              <a:rPr lang="en-US" b="true" sz="2399" spc="143" u="none">
                <a:solidFill>
                  <a:srgbClr val="343434"/>
                </a:solidFill>
                <a:latin typeface="TT Hoves Bold"/>
                <a:ea typeface="TT Hoves Bold"/>
                <a:cs typeface="TT Hoves Bold"/>
                <a:sym typeface="TT Hoves Bold"/>
              </a:rPr>
              <a:t>rab Teknologi Indonesia (2024-Now)</a:t>
            </a:r>
          </a:p>
          <a:p>
            <a:pPr algn="just" marL="0" indent="0" lvl="0">
              <a:lnSpc>
                <a:spcPts val="3239"/>
              </a:lnSpc>
              <a:spcBef>
                <a:spcPct val="0"/>
              </a:spcBef>
            </a:pPr>
          </a:p>
          <a:p>
            <a:pPr algn="just" marL="0" indent="0" lvl="0">
              <a:lnSpc>
                <a:spcPts val="3239"/>
              </a:lnSpc>
              <a:spcBef>
                <a:spcPct val="0"/>
              </a:spcBef>
            </a:pPr>
            <a:r>
              <a:rPr lang="en-US" sz="2399" spc="143" u="none">
                <a:solidFill>
                  <a:srgbClr val="343434"/>
                </a:solidFill>
                <a:latin typeface="TT Hoves"/>
                <a:ea typeface="TT Hoves"/>
                <a:cs typeface="TT Hoves"/>
                <a:sym typeface="TT Hoves"/>
              </a:rPr>
              <a:t>Menangani lebih dari 70 setup promosi setiap minggu, memastikan semua sesuai spesifikasi permintaan, melakukan pengecekan kualitas mekanisme promo, dan memastikan semua promo berjalan sesuai jadwal.</a:t>
            </a:r>
          </a:p>
          <a:p>
            <a:pPr algn="just" marL="0" indent="0" lvl="0">
              <a:lnSpc>
                <a:spcPts val="3239"/>
              </a:lnSpc>
              <a:spcBef>
                <a:spcPct val="0"/>
              </a:spcBef>
            </a:pPr>
          </a:p>
        </p:txBody>
      </p:sp>
      <p:sp>
        <p:nvSpPr>
          <p:cNvPr name="TextBox 11" id="11"/>
          <p:cNvSpPr txBox="true"/>
          <p:nvPr/>
        </p:nvSpPr>
        <p:spPr>
          <a:xfrm rot="0">
            <a:off x="6262166" y="3460308"/>
            <a:ext cx="11328972" cy="2040255"/>
          </a:xfrm>
          <a:prstGeom prst="rect">
            <a:avLst/>
          </a:prstGeom>
        </p:spPr>
        <p:txBody>
          <a:bodyPr anchor="t" rtlCol="false" tIns="0" lIns="0" bIns="0" rIns="0">
            <a:spAutoFit/>
          </a:bodyPr>
          <a:lstStyle/>
          <a:p>
            <a:pPr algn="just" marL="518157" indent="-259078" lvl="1">
              <a:lnSpc>
                <a:spcPts val="3239"/>
              </a:lnSpc>
              <a:buFont typeface="Arial"/>
              <a:buChar char="•"/>
            </a:pPr>
            <a:r>
              <a:rPr lang="en-US" b="true" sz="2399" spc="143">
                <a:solidFill>
                  <a:srgbClr val="343434"/>
                </a:solidFill>
                <a:latin typeface="TT Hoves Bold"/>
                <a:ea typeface="TT Hoves Bold"/>
                <a:cs typeface="TT Hoves Bold"/>
                <a:sym typeface="TT Hoves Bold"/>
              </a:rPr>
              <a:t>Data Science &amp; Data Analyst Bootcamp Batch 34</a:t>
            </a:r>
            <a:r>
              <a:rPr lang="en-US" b="true" sz="2399" spc="143">
                <a:solidFill>
                  <a:srgbClr val="343434"/>
                </a:solidFill>
                <a:latin typeface="TT Hoves Bold"/>
                <a:ea typeface="TT Hoves Bold"/>
                <a:cs typeface="TT Hoves Bold"/>
                <a:sym typeface="TT Hoves Bold"/>
              </a:rPr>
              <a:t> - </a:t>
            </a:r>
            <a:r>
              <a:rPr lang="en-US" b="true" sz="2399" spc="143" strike="noStrike" u="none">
                <a:solidFill>
                  <a:srgbClr val="343434"/>
                </a:solidFill>
                <a:latin typeface="TT Hoves Bold"/>
                <a:ea typeface="TT Hoves Bold"/>
                <a:cs typeface="TT Hoves Bold"/>
                <a:sym typeface="TT Hoves Bold"/>
              </a:rPr>
              <a:t>Dibimbing.id (2025)</a:t>
            </a:r>
          </a:p>
          <a:p>
            <a:pPr algn="just" marL="0" indent="0" lvl="0">
              <a:lnSpc>
                <a:spcPts val="3239"/>
              </a:lnSpc>
              <a:spcBef>
                <a:spcPct val="0"/>
              </a:spcBef>
            </a:pPr>
          </a:p>
          <a:p>
            <a:pPr algn="just" marL="0" indent="0" lvl="0">
              <a:lnSpc>
                <a:spcPts val="3239"/>
              </a:lnSpc>
              <a:spcBef>
                <a:spcPct val="0"/>
              </a:spcBef>
            </a:pPr>
            <a:r>
              <a:rPr lang="en-US" sz="2399" spc="143" strike="noStrike" u="none">
                <a:solidFill>
                  <a:srgbClr val="343434"/>
                </a:solidFill>
                <a:latin typeface="TT Hoves"/>
                <a:ea typeface="TT Hoves"/>
                <a:cs typeface="TT Hoves"/>
                <a:sym typeface="TT Hoves"/>
              </a:rPr>
              <a:t>Mempelajari statistika, data analytics, machine learning, visualisasi data, serta mengerjakan berbagai proyek penerapan data science.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805628" y="-3991568"/>
            <a:ext cx="9598990" cy="9598990"/>
          </a:xfrm>
          <a:custGeom>
            <a:avLst/>
            <a:gdLst/>
            <a:ahLst/>
            <a:cxnLst/>
            <a:rect r="r" b="b" t="t" l="l"/>
            <a:pathLst>
              <a:path h="9598990" w="9598990">
                <a:moveTo>
                  <a:pt x="0" y="0"/>
                </a:moveTo>
                <a:lnTo>
                  <a:pt x="9598990" y="0"/>
                </a:lnTo>
                <a:lnTo>
                  <a:pt x="9598990" y="9598990"/>
                </a:lnTo>
                <a:lnTo>
                  <a:pt x="0" y="959899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95523" y="4714138"/>
            <a:ext cx="8467871" cy="3324225"/>
          </a:xfrm>
          <a:prstGeom prst="rect">
            <a:avLst/>
          </a:prstGeom>
        </p:spPr>
        <p:txBody>
          <a:bodyPr anchor="t" rtlCol="false" tIns="0" lIns="0" bIns="0" rIns="0">
            <a:spAutoFit/>
          </a:bodyPr>
          <a:lstStyle/>
          <a:p>
            <a:pPr algn="just" marL="0" indent="0" lvl="0">
              <a:lnSpc>
                <a:spcPts val="2699"/>
              </a:lnSpc>
              <a:spcBef>
                <a:spcPct val="0"/>
              </a:spcBef>
            </a:pPr>
            <a:r>
              <a:rPr lang="en-US" sz="1999" spc="119">
                <a:solidFill>
                  <a:srgbClr val="343434"/>
                </a:solidFill>
                <a:latin typeface="TT Hoves"/>
                <a:ea typeface="TT Hoves"/>
                <a:cs typeface="TT Hoves"/>
                <a:sym typeface="TT Hoves"/>
              </a:rPr>
              <a:t>Saya memiliki kemampuan dalam mengeksplorasi da</a:t>
            </a:r>
            <a:r>
              <a:rPr lang="en-US" sz="1999" spc="119" u="none">
                <a:solidFill>
                  <a:srgbClr val="343434"/>
                </a:solidFill>
                <a:latin typeface="TT Hoves"/>
                <a:ea typeface="TT Hoves"/>
                <a:cs typeface="TT Hoves"/>
                <a:sym typeface="TT Hoves"/>
              </a:rPr>
              <a:t>n menganalisis data untuk menemukan pola dan insight bisnis, didukung pemahaman yang kuat pada statistika deskriptif, inferensial, dan pengujian hipotesis. Saya terbiasa mengolah, membersihkan, dan memproses dataset besar menggunakan Python, serta mahir dalam manipulasi data dengan Pandas dan SQL. Selain itu, saya berpengalaman membangun model prediktif menggunakan teknik machine learning seperti regresi, Random Forest, dan XGBoost, termasuk menangani data tidak seimbang dan melakukan optimasi model agar performanya maksimal.</a:t>
            </a:r>
          </a:p>
        </p:txBody>
      </p:sp>
      <p:grpSp>
        <p:nvGrpSpPr>
          <p:cNvPr name="Group 4" id="4"/>
          <p:cNvGrpSpPr/>
          <p:nvPr/>
        </p:nvGrpSpPr>
        <p:grpSpPr>
          <a:xfrm rot="0">
            <a:off x="9975489" y="1170261"/>
            <a:ext cx="6998061" cy="2561528"/>
            <a:chOff x="0" y="0"/>
            <a:chExt cx="2342659" cy="857492"/>
          </a:xfrm>
        </p:grpSpPr>
        <p:sp>
          <p:nvSpPr>
            <p:cNvPr name="Freeform 5" id="5"/>
            <p:cNvSpPr/>
            <p:nvPr/>
          </p:nvSpPr>
          <p:spPr>
            <a:xfrm flipH="false" flipV="false" rot="0">
              <a:off x="0" y="0"/>
              <a:ext cx="2342659" cy="857492"/>
            </a:xfrm>
            <a:custGeom>
              <a:avLst/>
              <a:gdLst/>
              <a:ahLst/>
              <a:cxnLst/>
              <a:rect r="r" b="b" t="t" l="l"/>
              <a:pathLst>
                <a:path h="857492" w="2342659">
                  <a:moveTo>
                    <a:pt x="0" y="0"/>
                  </a:moveTo>
                  <a:lnTo>
                    <a:pt x="2342659" y="0"/>
                  </a:lnTo>
                  <a:lnTo>
                    <a:pt x="2342659" y="857492"/>
                  </a:lnTo>
                  <a:lnTo>
                    <a:pt x="0" y="857492"/>
                  </a:lnTo>
                  <a:close/>
                </a:path>
              </a:pathLst>
            </a:custGeom>
            <a:solidFill>
              <a:srgbClr val="0003FF"/>
            </a:solidFill>
          </p:spPr>
        </p:sp>
        <p:sp>
          <p:nvSpPr>
            <p:cNvPr name="TextBox 6" id="6"/>
            <p:cNvSpPr txBox="true"/>
            <p:nvPr/>
          </p:nvSpPr>
          <p:spPr>
            <a:xfrm>
              <a:off x="0" y="104775"/>
              <a:ext cx="2342659" cy="752717"/>
            </a:xfrm>
            <a:prstGeom prst="rect">
              <a:avLst/>
            </a:prstGeom>
          </p:spPr>
          <p:txBody>
            <a:bodyPr anchor="ctr" rtlCol="false" tIns="50800" lIns="50800" bIns="50800" rIns="50800"/>
            <a:lstStyle/>
            <a:p>
              <a:pPr algn="ctr">
                <a:lnSpc>
                  <a:spcPts val="1925"/>
                </a:lnSpc>
              </a:pPr>
            </a:p>
          </p:txBody>
        </p:sp>
      </p:grpSp>
      <p:sp>
        <p:nvSpPr>
          <p:cNvPr name="TextBox 7" id="7"/>
          <p:cNvSpPr txBox="true"/>
          <p:nvPr/>
        </p:nvSpPr>
        <p:spPr>
          <a:xfrm rot="0">
            <a:off x="10205922" y="2024301"/>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01.</a:t>
            </a:r>
          </a:p>
        </p:txBody>
      </p:sp>
      <p:sp>
        <p:nvSpPr>
          <p:cNvPr name="TextBox 8" id="8"/>
          <p:cNvSpPr txBox="true"/>
          <p:nvPr/>
        </p:nvSpPr>
        <p:spPr>
          <a:xfrm rot="0">
            <a:off x="-446524" y="8737512"/>
            <a:ext cx="2950449" cy="1897352"/>
          </a:xfrm>
          <a:prstGeom prst="rect">
            <a:avLst/>
          </a:prstGeom>
        </p:spPr>
        <p:txBody>
          <a:bodyPr anchor="t" rtlCol="false" tIns="0" lIns="0" bIns="0" rIns="0">
            <a:spAutoFit/>
          </a:bodyPr>
          <a:lstStyle/>
          <a:p>
            <a:pPr algn="ctr">
              <a:lnSpc>
                <a:spcPts val="14013"/>
              </a:lnSpc>
            </a:pPr>
            <a:r>
              <a:rPr lang="en-US" b="true" sz="14907" spc="-730">
                <a:solidFill>
                  <a:srgbClr val="343434"/>
                </a:solidFill>
                <a:latin typeface="TT Hoves Bold"/>
                <a:ea typeface="TT Hoves Bold"/>
                <a:cs typeface="TT Hoves Bold"/>
                <a:sym typeface="TT Hoves Bold"/>
              </a:rPr>
              <a:t>04</a:t>
            </a:r>
          </a:p>
        </p:txBody>
      </p:sp>
      <p:grpSp>
        <p:nvGrpSpPr>
          <p:cNvPr name="Group 9" id="9"/>
          <p:cNvGrpSpPr/>
          <p:nvPr/>
        </p:nvGrpSpPr>
        <p:grpSpPr>
          <a:xfrm rot="0">
            <a:off x="9975489" y="3862348"/>
            <a:ext cx="6998061" cy="2561528"/>
            <a:chOff x="0" y="0"/>
            <a:chExt cx="2342659" cy="857492"/>
          </a:xfrm>
        </p:grpSpPr>
        <p:sp>
          <p:nvSpPr>
            <p:cNvPr name="Freeform 10" id="10"/>
            <p:cNvSpPr/>
            <p:nvPr/>
          </p:nvSpPr>
          <p:spPr>
            <a:xfrm flipH="false" flipV="false" rot="0">
              <a:off x="0" y="0"/>
              <a:ext cx="2342659" cy="857492"/>
            </a:xfrm>
            <a:custGeom>
              <a:avLst/>
              <a:gdLst/>
              <a:ahLst/>
              <a:cxnLst/>
              <a:rect r="r" b="b" t="t" l="l"/>
              <a:pathLst>
                <a:path h="857492" w="2342659">
                  <a:moveTo>
                    <a:pt x="0" y="0"/>
                  </a:moveTo>
                  <a:lnTo>
                    <a:pt x="2342659" y="0"/>
                  </a:lnTo>
                  <a:lnTo>
                    <a:pt x="2342659" y="857492"/>
                  </a:lnTo>
                  <a:lnTo>
                    <a:pt x="0" y="857492"/>
                  </a:lnTo>
                  <a:close/>
                </a:path>
              </a:pathLst>
            </a:custGeom>
            <a:solidFill>
              <a:srgbClr val="0003FF"/>
            </a:solidFill>
          </p:spPr>
        </p:sp>
        <p:sp>
          <p:nvSpPr>
            <p:cNvPr name="TextBox 11" id="11"/>
            <p:cNvSpPr txBox="true"/>
            <p:nvPr/>
          </p:nvSpPr>
          <p:spPr>
            <a:xfrm>
              <a:off x="0" y="104775"/>
              <a:ext cx="2342659" cy="752717"/>
            </a:xfrm>
            <a:prstGeom prst="rect">
              <a:avLst/>
            </a:prstGeom>
          </p:spPr>
          <p:txBody>
            <a:bodyPr anchor="ctr" rtlCol="false" tIns="50800" lIns="50800" bIns="50800" rIns="50800"/>
            <a:lstStyle/>
            <a:p>
              <a:pPr algn="ctr">
                <a:lnSpc>
                  <a:spcPts val="1925"/>
                </a:lnSpc>
              </a:pPr>
            </a:p>
          </p:txBody>
        </p:sp>
      </p:grpSp>
      <p:grpSp>
        <p:nvGrpSpPr>
          <p:cNvPr name="Group 12" id="12"/>
          <p:cNvGrpSpPr/>
          <p:nvPr/>
        </p:nvGrpSpPr>
        <p:grpSpPr>
          <a:xfrm rot="0">
            <a:off x="9975489" y="6557226"/>
            <a:ext cx="6998061" cy="2943225"/>
            <a:chOff x="0" y="0"/>
            <a:chExt cx="2342659" cy="985269"/>
          </a:xfrm>
        </p:grpSpPr>
        <p:sp>
          <p:nvSpPr>
            <p:cNvPr name="Freeform 13" id="13"/>
            <p:cNvSpPr/>
            <p:nvPr/>
          </p:nvSpPr>
          <p:spPr>
            <a:xfrm flipH="false" flipV="false" rot="0">
              <a:off x="0" y="0"/>
              <a:ext cx="2342659" cy="985269"/>
            </a:xfrm>
            <a:custGeom>
              <a:avLst/>
              <a:gdLst/>
              <a:ahLst/>
              <a:cxnLst/>
              <a:rect r="r" b="b" t="t" l="l"/>
              <a:pathLst>
                <a:path h="985269" w="2342659">
                  <a:moveTo>
                    <a:pt x="0" y="0"/>
                  </a:moveTo>
                  <a:lnTo>
                    <a:pt x="2342659" y="0"/>
                  </a:lnTo>
                  <a:lnTo>
                    <a:pt x="2342659" y="985269"/>
                  </a:lnTo>
                  <a:lnTo>
                    <a:pt x="0" y="985269"/>
                  </a:lnTo>
                  <a:close/>
                </a:path>
              </a:pathLst>
            </a:custGeom>
            <a:solidFill>
              <a:srgbClr val="0003FF"/>
            </a:solidFill>
          </p:spPr>
        </p:sp>
        <p:sp>
          <p:nvSpPr>
            <p:cNvPr name="TextBox 14" id="14"/>
            <p:cNvSpPr txBox="true"/>
            <p:nvPr/>
          </p:nvSpPr>
          <p:spPr>
            <a:xfrm>
              <a:off x="0" y="104775"/>
              <a:ext cx="2342659" cy="880494"/>
            </a:xfrm>
            <a:prstGeom prst="rect">
              <a:avLst/>
            </a:prstGeom>
          </p:spPr>
          <p:txBody>
            <a:bodyPr anchor="ctr" rtlCol="false" tIns="50800" lIns="50800" bIns="50800" rIns="50800"/>
            <a:lstStyle/>
            <a:p>
              <a:pPr algn="ctr">
                <a:lnSpc>
                  <a:spcPts val="1925"/>
                </a:lnSpc>
              </a:pPr>
            </a:p>
          </p:txBody>
        </p:sp>
      </p:grpSp>
      <p:sp>
        <p:nvSpPr>
          <p:cNvPr name="TextBox 15" id="15"/>
          <p:cNvSpPr txBox="true"/>
          <p:nvPr/>
        </p:nvSpPr>
        <p:spPr>
          <a:xfrm rot="0">
            <a:off x="10205922" y="4717783"/>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02.</a:t>
            </a:r>
          </a:p>
        </p:txBody>
      </p:sp>
      <p:sp>
        <p:nvSpPr>
          <p:cNvPr name="TextBox 16" id="16"/>
          <p:cNvSpPr txBox="true"/>
          <p:nvPr/>
        </p:nvSpPr>
        <p:spPr>
          <a:xfrm rot="0">
            <a:off x="10205922" y="7411266"/>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03.</a:t>
            </a:r>
          </a:p>
        </p:txBody>
      </p:sp>
      <p:sp>
        <p:nvSpPr>
          <p:cNvPr name="TextBox 17" id="17"/>
          <p:cNvSpPr txBox="true"/>
          <p:nvPr/>
        </p:nvSpPr>
        <p:spPr>
          <a:xfrm rot="0">
            <a:off x="1309933" y="1985297"/>
            <a:ext cx="7639050" cy="1327705"/>
          </a:xfrm>
          <a:prstGeom prst="rect">
            <a:avLst/>
          </a:prstGeom>
        </p:spPr>
        <p:txBody>
          <a:bodyPr anchor="t" rtlCol="false" tIns="0" lIns="0" bIns="0" rIns="0">
            <a:spAutoFit/>
          </a:bodyPr>
          <a:lstStyle/>
          <a:p>
            <a:pPr algn="ctr">
              <a:lnSpc>
                <a:spcPts val="10180"/>
              </a:lnSpc>
            </a:pPr>
            <a:r>
              <a:rPr lang="en-US" b="true" sz="9695" spc="-475">
                <a:solidFill>
                  <a:srgbClr val="343434"/>
                </a:solidFill>
                <a:latin typeface="TT Hoves Bold"/>
                <a:ea typeface="TT Hoves Bold"/>
                <a:cs typeface="TT Hoves Bold"/>
                <a:sym typeface="TT Hoves Bold"/>
              </a:rPr>
              <a:t>Core Skill</a:t>
            </a:r>
          </a:p>
        </p:txBody>
      </p:sp>
      <p:sp>
        <p:nvSpPr>
          <p:cNvPr name="TextBox 18" id="18"/>
          <p:cNvSpPr txBox="true"/>
          <p:nvPr/>
        </p:nvSpPr>
        <p:spPr>
          <a:xfrm rot="0">
            <a:off x="11592102" y="1271548"/>
            <a:ext cx="4758934" cy="2657475"/>
          </a:xfrm>
          <a:prstGeom prst="rect">
            <a:avLst/>
          </a:prstGeom>
        </p:spPr>
        <p:txBody>
          <a:bodyPr anchor="t" rtlCol="false" tIns="0" lIns="0" bIns="0" rIns="0">
            <a:spAutoFit/>
          </a:bodyPr>
          <a:lstStyle/>
          <a:p>
            <a:pPr algn="just" marL="431799" indent="-215899" lvl="1">
              <a:lnSpc>
                <a:spcPts val="2699"/>
              </a:lnSpc>
              <a:buFont typeface="Arial"/>
              <a:buChar char="•"/>
            </a:pPr>
            <a:r>
              <a:rPr lang="en-US" sz="1999" spc="31">
                <a:solidFill>
                  <a:srgbClr val="EFEFEF"/>
                </a:solidFill>
                <a:latin typeface="TT Hoves"/>
                <a:ea typeface="TT Hoves"/>
                <a:cs typeface="TT Hoves"/>
                <a:sym typeface="TT Hoves"/>
              </a:rPr>
              <a:t>Berpengalaman dalam mengeksplorasi dan menganalisis data untuk menemukan pola serta insight bisnis.</a:t>
            </a:r>
          </a:p>
          <a:p>
            <a:pPr algn="just" marL="431799" indent="-215899" lvl="1">
              <a:lnSpc>
                <a:spcPts val="2699"/>
              </a:lnSpc>
              <a:spcBef>
                <a:spcPct val="0"/>
              </a:spcBef>
              <a:buFont typeface="Arial"/>
              <a:buChar char="•"/>
            </a:pPr>
            <a:r>
              <a:rPr lang="en-US" sz="1999" spc="31">
                <a:solidFill>
                  <a:srgbClr val="EFEFEF"/>
                </a:solidFill>
                <a:latin typeface="TT Hoves"/>
                <a:ea typeface="TT Hoves"/>
                <a:cs typeface="TT Hoves"/>
                <a:sym typeface="TT Hoves"/>
              </a:rPr>
              <a:t>Menguasa</a:t>
            </a:r>
            <a:r>
              <a:rPr lang="en-US" sz="1999" spc="31">
                <a:solidFill>
                  <a:srgbClr val="EFEFEF"/>
                </a:solidFill>
                <a:latin typeface="TT Hoves"/>
                <a:ea typeface="TT Hoves"/>
                <a:cs typeface="TT Hoves"/>
                <a:sym typeface="TT Hoves"/>
              </a:rPr>
              <a:t>i statistika deskriptif, statistika inferensial, dan pengujian hipotesis.</a:t>
            </a:r>
          </a:p>
          <a:p>
            <a:pPr algn="just" marL="0" indent="0" lvl="0">
              <a:lnSpc>
                <a:spcPts val="2699"/>
              </a:lnSpc>
              <a:spcBef>
                <a:spcPct val="0"/>
              </a:spcBef>
            </a:pPr>
          </a:p>
        </p:txBody>
      </p:sp>
      <p:sp>
        <p:nvSpPr>
          <p:cNvPr name="TextBox 19" id="19"/>
          <p:cNvSpPr txBox="true"/>
          <p:nvPr/>
        </p:nvSpPr>
        <p:spPr>
          <a:xfrm rot="0">
            <a:off x="11592102" y="4200137"/>
            <a:ext cx="4758934" cy="1990725"/>
          </a:xfrm>
          <a:prstGeom prst="rect">
            <a:avLst/>
          </a:prstGeom>
        </p:spPr>
        <p:txBody>
          <a:bodyPr anchor="t" rtlCol="false" tIns="0" lIns="0" bIns="0" rIns="0">
            <a:spAutoFit/>
          </a:bodyPr>
          <a:lstStyle/>
          <a:p>
            <a:pPr algn="just" marL="431799" indent="-215899" lvl="1">
              <a:lnSpc>
                <a:spcPts val="2699"/>
              </a:lnSpc>
              <a:spcBef>
                <a:spcPct val="0"/>
              </a:spcBef>
              <a:buFont typeface="Arial"/>
              <a:buChar char="•"/>
            </a:pPr>
            <a:r>
              <a:rPr lang="en-US" sz="1999" spc="31">
                <a:solidFill>
                  <a:srgbClr val="EFEFEF"/>
                </a:solidFill>
                <a:latin typeface="TT Hoves"/>
                <a:ea typeface="TT Hoves"/>
                <a:cs typeface="TT Hoves"/>
                <a:sym typeface="TT Hoves"/>
              </a:rPr>
              <a:t>Terampil</a:t>
            </a:r>
            <a:r>
              <a:rPr lang="en-US" sz="1999" spc="31" strike="noStrike" u="none">
                <a:solidFill>
                  <a:srgbClr val="EFEFEF"/>
                </a:solidFill>
                <a:latin typeface="TT Hoves"/>
                <a:ea typeface="TT Hoves"/>
                <a:cs typeface="TT Hoves"/>
                <a:sym typeface="TT Hoves"/>
              </a:rPr>
              <a:t> </a:t>
            </a:r>
            <a:r>
              <a:rPr lang="en-US" sz="1999" spc="31" strike="noStrike" u="none">
                <a:solidFill>
                  <a:srgbClr val="EFEFEF"/>
                </a:solidFill>
                <a:latin typeface="TT Hoves"/>
                <a:ea typeface="TT Hoves"/>
                <a:cs typeface="TT Hoves"/>
                <a:sym typeface="TT Hoves"/>
              </a:rPr>
              <a:t>dalam</a:t>
            </a:r>
            <a:r>
              <a:rPr lang="en-US" sz="1999" spc="31" strike="noStrike" u="none">
                <a:solidFill>
                  <a:srgbClr val="EFEFEF"/>
                </a:solidFill>
                <a:latin typeface="TT Hoves"/>
                <a:ea typeface="TT Hoves"/>
                <a:cs typeface="TT Hoves"/>
                <a:sym typeface="TT Hoves"/>
              </a:rPr>
              <a:t> </a:t>
            </a:r>
            <a:r>
              <a:rPr lang="en-US" sz="1999" spc="31" strike="noStrike" u="none">
                <a:solidFill>
                  <a:srgbClr val="EFEFEF"/>
                </a:solidFill>
                <a:latin typeface="TT Hoves"/>
                <a:ea typeface="TT Hoves"/>
                <a:cs typeface="TT Hoves"/>
                <a:sym typeface="TT Hoves"/>
              </a:rPr>
              <a:t>m</a:t>
            </a:r>
            <a:r>
              <a:rPr lang="en-US" sz="1999" spc="31" strike="noStrike" u="none">
                <a:solidFill>
                  <a:srgbClr val="EFEFEF"/>
                </a:solidFill>
                <a:latin typeface="TT Hoves"/>
                <a:ea typeface="TT Hoves"/>
                <a:cs typeface="TT Hoves"/>
                <a:sym typeface="TT Hoves"/>
              </a:rPr>
              <a:t>e</a:t>
            </a:r>
            <a:r>
              <a:rPr lang="en-US" sz="1999" spc="31" strike="noStrike" u="none">
                <a:solidFill>
                  <a:srgbClr val="EFEFEF"/>
                </a:solidFill>
                <a:latin typeface="TT Hoves"/>
                <a:ea typeface="TT Hoves"/>
                <a:cs typeface="TT Hoves"/>
                <a:sym typeface="TT Hoves"/>
              </a:rPr>
              <a:t>mbersihk</a:t>
            </a:r>
            <a:r>
              <a:rPr lang="en-US" sz="1999" spc="31" strike="noStrike" u="none">
                <a:solidFill>
                  <a:srgbClr val="EFEFEF"/>
                </a:solidFill>
                <a:latin typeface="TT Hoves"/>
                <a:ea typeface="TT Hoves"/>
                <a:cs typeface="TT Hoves"/>
                <a:sym typeface="TT Hoves"/>
              </a:rPr>
              <a:t>an, memproses, </a:t>
            </a:r>
            <a:r>
              <a:rPr lang="en-US" sz="1999" spc="31" strike="noStrike" u="none">
                <a:solidFill>
                  <a:srgbClr val="EFEFEF"/>
                </a:solidFill>
                <a:latin typeface="TT Hoves"/>
                <a:ea typeface="TT Hoves"/>
                <a:cs typeface="TT Hoves"/>
                <a:sym typeface="TT Hoves"/>
              </a:rPr>
              <a:t>d</a:t>
            </a:r>
            <a:r>
              <a:rPr lang="en-US" sz="1999" spc="31" strike="noStrike" u="none">
                <a:solidFill>
                  <a:srgbClr val="EFEFEF"/>
                </a:solidFill>
                <a:latin typeface="TT Hoves"/>
                <a:ea typeface="TT Hoves"/>
                <a:cs typeface="TT Hoves"/>
                <a:sym typeface="TT Hoves"/>
              </a:rPr>
              <a:t>an menangani dataset</a:t>
            </a:r>
            <a:r>
              <a:rPr lang="en-US" sz="1999" spc="31" strike="noStrike" u="none">
                <a:solidFill>
                  <a:srgbClr val="EFEFEF"/>
                </a:solidFill>
                <a:latin typeface="TT Hoves"/>
                <a:ea typeface="TT Hoves"/>
                <a:cs typeface="TT Hoves"/>
                <a:sym typeface="TT Hoves"/>
              </a:rPr>
              <a:t> be</a:t>
            </a:r>
            <a:r>
              <a:rPr lang="en-US" sz="1999" spc="31" strike="noStrike" u="none">
                <a:solidFill>
                  <a:srgbClr val="EFEFEF"/>
                </a:solidFill>
                <a:latin typeface="TT Hoves"/>
                <a:ea typeface="TT Hoves"/>
                <a:cs typeface="TT Hoves"/>
                <a:sym typeface="TT Hoves"/>
              </a:rPr>
              <a:t>s</a:t>
            </a:r>
            <a:r>
              <a:rPr lang="en-US" sz="1999" spc="31" strike="noStrike" u="none">
                <a:solidFill>
                  <a:srgbClr val="EFEFEF"/>
                </a:solidFill>
                <a:latin typeface="TT Hoves"/>
                <a:ea typeface="TT Hoves"/>
                <a:cs typeface="TT Hoves"/>
                <a:sym typeface="TT Hoves"/>
              </a:rPr>
              <a:t>ar</a:t>
            </a:r>
            <a:r>
              <a:rPr lang="en-US" sz="1999" spc="31" strike="noStrike" u="none">
                <a:solidFill>
                  <a:srgbClr val="EFEFEF"/>
                </a:solidFill>
                <a:latin typeface="TT Hoves"/>
                <a:ea typeface="TT Hoves"/>
                <a:cs typeface="TT Hoves"/>
                <a:sym typeface="TT Hoves"/>
              </a:rPr>
              <a:t> </a:t>
            </a:r>
            <a:r>
              <a:rPr lang="en-US" sz="1999" spc="31" strike="noStrike" u="none">
                <a:solidFill>
                  <a:srgbClr val="EFEFEF"/>
                </a:solidFill>
                <a:latin typeface="TT Hoves"/>
                <a:ea typeface="TT Hoves"/>
                <a:cs typeface="TT Hoves"/>
                <a:sym typeface="TT Hoves"/>
              </a:rPr>
              <a:t>mengg</a:t>
            </a:r>
            <a:r>
              <a:rPr lang="en-US" sz="1999" spc="31" strike="noStrike" u="none">
                <a:solidFill>
                  <a:srgbClr val="EFEFEF"/>
                </a:solidFill>
                <a:latin typeface="TT Hoves"/>
                <a:ea typeface="TT Hoves"/>
                <a:cs typeface="TT Hoves"/>
                <a:sym typeface="TT Hoves"/>
              </a:rPr>
              <a:t>u</a:t>
            </a:r>
            <a:r>
              <a:rPr lang="en-US" sz="1999" spc="31" strike="noStrike" u="none">
                <a:solidFill>
                  <a:srgbClr val="EFEFEF"/>
                </a:solidFill>
                <a:latin typeface="TT Hoves"/>
                <a:ea typeface="TT Hoves"/>
                <a:cs typeface="TT Hoves"/>
                <a:sym typeface="TT Hoves"/>
              </a:rPr>
              <a:t>naka</a:t>
            </a:r>
            <a:r>
              <a:rPr lang="en-US" sz="1999" spc="31" strike="noStrike" u="none">
                <a:solidFill>
                  <a:srgbClr val="EFEFEF"/>
                </a:solidFill>
                <a:latin typeface="TT Hoves"/>
                <a:ea typeface="TT Hoves"/>
                <a:cs typeface="TT Hoves"/>
                <a:sym typeface="TT Hoves"/>
              </a:rPr>
              <a:t>n Python.</a:t>
            </a:r>
          </a:p>
          <a:p>
            <a:pPr algn="just" marL="431799" indent="-215899" lvl="1">
              <a:lnSpc>
                <a:spcPts val="2699"/>
              </a:lnSpc>
              <a:spcBef>
                <a:spcPct val="0"/>
              </a:spcBef>
              <a:buFont typeface="Arial"/>
              <a:buChar char="•"/>
            </a:pPr>
            <a:r>
              <a:rPr lang="en-US" sz="1999" spc="31" strike="noStrike" u="none">
                <a:solidFill>
                  <a:srgbClr val="EFEFEF"/>
                </a:solidFill>
                <a:latin typeface="TT Hoves"/>
                <a:ea typeface="TT Hoves"/>
                <a:cs typeface="TT Hoves"/>
                <a:sym typeface="TT Hoves"/>
              </a:rPr>
              <a:t>M</a:t>
            </a:r>
            <a:r>
              <a:rPr lang="en-US" sz="1999" spc="31" strike="noStrike" u="none">
                <a:solidFill>
                  <a:srgbClr val="EFEFEF"/>
                </a:solidFill>
                <a:latin typeface="TT Hoves"/>
                <a:ea typeface="TT Hoves"/>
                <a:cs typeface="TT Hoves"/>
                <a:sym typeface="TT Hoves"/>
              </a:rPr>
              <a:t>enguasai t</a:t>
            </a:r>
            <a:r>
              <a:rPr lang="en-US" sz="1999" spc="31" strike="noStrike" u="none">
                <a:solidFill>
                  <a:srgbClr val="EFEFEF"/>
                </a:solidFill>
                <a:latin typeface="TT Hoves"/>
                <a:ea typeface="TT Hoves"/>
                <a:cs typeface="TT Hoves"/>
                <a:sym typeface="TT Hoves"/>
              </a:rPr>
              <a:t>eknik</a:t>
            </a:r>
            <a:r>
              <a:rPr lang="en-US" sz="1999" spc="31" strike="noStrike" u="none">
                <a:solidFill>
                  <a:srgbClr val="EFEFEF"/>
                </a:solidFill>
                <a:latin typeface="TT Hoves"/>
                <a:ea typeface="TT Hoves"/>
                <a:cs typeface="TT Hoves"/>
                <a:sym typeface="TT Hoves"/>
              </a:rPr>
              <a:t> manipulasi data menggu</a:t>
            </a:r>
            <a:r>
              <a:rPr lang="en-US" sz="1999" spc="31" strike="noStrike" u="none">
                <a:solidFill>
                  <a:srgbClr val="EFEFEF"/>
                </a:solidFill>
                <a:latin typeface="TT Hoves"/>
                <a:ea typeface="TT Hoves"/>
                <a:cs typeface="TT Hoves"/>
                <a:sym typeface="TT Hoves"/>
              </a:rPr>
              <a:t>naka</a:t>
            </a:r>
            <a:r>
              <a:rPr lang="en-US" sz="1999" spc="31" strike="noStrike" u="none">
                <a:solidFill>
                  <a:srgbClr val="EFEFEF"/>
                </a:solidFill>
                <a:latin typeface="TT Hoves"/>
                <a:ea typeface="TT Hoves"/>
                <a:cs typeface="TT Hoves"/>
                <a:sym typeface="TT Hoves"/>
              </a:rPr>
              <a:t>n Pandas </a:t>
            </a:r>
            <a:r>
              <a:rPr lang="en-US" sz="1999" spc="31" strike="noStrike" u="none">
                <a:solidFill>
                  <a:srgbClr val="EFEFEF"/>
                </a:solidFill>
                <a:latin typeface="TT Hoves"/>
                <a:ea typeface="TT Hoves"/>
                <a:cs typeface="TT Hoves"/>
                <a:sym typeface="TT Hoves"/>
              </a:rPr>
              <a:t>d</a:t>
            </a:r>
            <a:r>
              <a:rPr lang="en-US" sz="1999" spc="31" strike="noStrike" u="none">
                <a:solidFill>
                  <a:srgbClr val="EFEFEF"/>
                </a:solidFill>
                <a:latin typeface="TT Hoves"/>
                <a:ea typeface="TT Hoves"/>
                <a:cs typeface="TT Hoves"/>
                <a:sym typeface="TT Hoves"/>
              </a:rPr>
              <a:t>an SQL</a:t>
            </a:r>
            <a:r>
              <a:rPr lang="en-US" sz="1999" spc="31" strike="noStrike" u="none">
                <a:solidFill>
                  <a:srgbClr val="EFEFEF"/>
                </a:solidFill>
                <a:latin typeface="TT Hoves"/>
                <a:ea typeface="TT Hoves"/>
                <a:cs typeface="TT Hoves"/>
                <a:sym typeface="TT Hoves"/>
              </a:rPr>
              <a:t>.</a:t>
            </a:r>
          </a:p>
          <a:p>
            <a:pPr algn="just" marL="0" indent="0" lvl="0">
              <a:lnSpc>
                <a:spcPts val="2699"/>
              </a:lnSpc>
              <a:spcBef>
                <a:spcPct val="0"/>
              </a:spcBef>
            </a:pPr>
          </a:p>
        </p:txBody>
      </p:sp>
      <p:sp>
        <p:nvSpPr>
          <p:cNvPr name="TextBox 20" id="20"/>
          <p:cNvSpPr txBox="true"/>
          <p:nvPr/>
        </p:nvSpPr>
        <p:spPr>
          <a:xfrm rot="0">
            <a:off x="11592102" y="6852501"/>
            <a:ext cx="4758934" cy="2324100"/>
          </a:xfrm>
          <a:prstGeom prst="rect">
            <a:avLst/>
          </a:prstGeom>
        </p:spPr>
        <p:txBody>
          <a:bodyPr anchor="t" rtlCol="false" tIns="0" lIns="0" bIns="0" rIns="0">
            <a:spAutoFit/>
          </a:bodyPr>
          <a:lstStyle/>
          <a:p>
            <a:pPr algn="just" marL="431799" indent="-215899" lvl="1">
              <a:lnSpc>
                <a:spcPts val="2699"/>
              </a:lnSpc>
              <a:spcBef>
                <a:spcPct val="0"/>
              </a:spcBef>
              <a:buFont typeface="Arial"/>
              <a:buChar char="•"/>
            </a:pPr>
            <a:r>
              <a:rPr lang="en-US" sz="1999" spc="31">
                <a:solidFill>
                  <a:srgbClr val="EFEFEF"/>
                </a:solidFill>
                <a:latin typeface="TT Hoves"/>
                <a:ea typeface="TT Hoves"/>
                <a:cs typeface="TT Hoves"/>
                <a:sym typeface="TT Hoves"/>
              </a:rPr>
              <a:t>T</a:t>
            </a:r>
            <a:r>
              <a:rPr lang="en-US" sz="1999" spc="31" strike="noStrike" u="none">
                <a:solidFill>
                  <a:srgbClr val="EFEFEF"/>
                </a:solidFill>
                <a:latin typeface="TT Hoves"/>
                <a:ea typeface="TT Hoves"/>
                <a:cs typeface="TT Hoves"/>
                <a:sym typeface="TT Hoves"/>
              </a:rPr>
              <a:t>erampil memb</a:t>
            </a:r>
            <a:r>
              <a:rPr lang="en-US" sz="1999" spc="31" strike="noStrike" u="none">
                <a:solidFill>
                  <a:srgbClr val="EFEFEF"/>
                </a:solidFill>
                <a:latin typeface="TT Hoves"/>
                <a:ea typeface="TT Hoves"/>
                <a:cs typeface="TT Hoves"/>
                <a:sym typeface="TT Hoves"/>
              </a:rPr>
              <a:t>a</a:t>
            </a:r>
            <a:r>
              <a:rPr lang="en-US" sz="1999" spc="31" strike="noStrike" u="none">
                <a:solidFill>
                  <a:srgbClr val="EFEFEF"/>
                </a:solidFill>
                <a:latin typeface="TT Hoves"/>
                <a:ea typeface="TT Hoves"/>
                <a:cs typeface="TT Hoves"/>
                <a:sym typeface="TT Hoves"/>
              </a:rPr>
              <a:t>ngun model predi</a:t>
            </a:r>
            <a:r>
              <a:rPr lang="en-US" sz="1999" spc="31" strike="noStrike" u="none">
                <a:solidFill>
                  <a:srgbClr val="EFEFEF"/>
                </a:solidFill>
                <a:latin typeface="TT Hoves"/>
                <a:ea typeface="TT Hoves"/>
                <a:cs typeface="TT Hoves"/>
                <a:sym typeface="TT Hoves"/>
              </a:rPr>
              <a:t>k</a:t>
            </a:r>
            <a:r>
              <a:rPr lang="en-US" sz="1999" spc="31" strike="noStrike" u="none">
                <a:solidFill>
                  <a:srgbClr val="EFEFEF"/>
                </a:solidFill>
                <a:latin typeface="TT Hoves"/>
                <a:ea typeface="TT Hoves"/>
                <a:cs typeface="TT Hoves"/>
                <a:sym typeface="TT Hoves"/>
              </a:rPr>
              <a:t>ti</a:t>
            </a:r>
            <a:r>
              <a:rPr lang="en-US" sz="1999" spc="31" strike="noStrike" u="none">
                <a:solidFill>
                  <a:srgbClr val="EFEFEF"/>
                </a:solidFill>
                <a:latin typeface="TT Hoves"/>
                <a:ea typeface="TT Hoves"/>
                <a:cs typeface="TT Hoves"/>
                <a:sym typeface="TT Hoves"/>
              </a:rPr>
              <a:t>f</a:t>
            </a:r>
            <a:r>
              <a:rPr lang="en-US" sz="1999" spc="31" strike="noStrike" u="none">
                <a:solidFill>
                  <a:srgbClr val="EFEFEF"/>
                </a:solidFill>
                <a:latin typeface="TT Hoves"/>
                <a:ea typeface="TT Hoves"/>
                <a:cs typeface="TT Hoves"/>
                <a:sym typeface="TT Hoves"/>
              </a:rPr>
              <a:t> de</a:t>
            </a:r>
            <a:r>
              <a:rPr lang="en-US" sz="1999" spc="31" strike="noStrike" u="none">
                <a:solidFill>
                  <a:srgbClr val="EFEFEF"/>
                </a:solidFill>
                <a:latin typeface="TT Hoves"/>
                <a:ea typeface="TT Hoves"/>
                <a:cs typeface="TT Hoves"/>
                <a:sym typeface="TT Hoves"/>
              </a:rPr>
              <a:t>ngan</a:t>
            </a:r>
            <a:r>
              <a:rPr lang="en-US" sz="1999" spc="31" strike="noStrike" u="none">
                <a:solidFill>
                  <a:srgbClr val="EFEFEF"/>
                </a:solidFill>
                <a:latin typeface="TT Hoves"/>
                <a:ea typeface="TT Hoves"/>
                <a:cs typeface="TT Hoves"/>
                <a:sym typeface="TT Hoves"/>
              </a:rPr>
              <a:t> </a:t>
            </a:r>
            <a:r>
              <a:rPr lang="en-US" sz="1999" spc="31" strike="noStrike" u="none">
                <a:solidFill>
                  <a:srgbClr val="EFEFEF"/>
                </a:solidFill>
                <a:latin typeface="TT Hoves"/>
                <a:ea typeface="TT Hoves"/>
                <a:cs typeface="TT Hoves"/>
                <a:sym typeface="TT Hoves"/>
              </a:rPr>
              <a:t>tek</a:t>
            </a:r>
            <a:r>
              <a:rPr lang="en-US" sz="1999" spc="31" strike="noStrike" u="none">
                <a:solidFill>
                  <a:srgbClr val="EFEFEF"/>
                </a:solidFill>
                <a:latin typeface="TT Hoves"/>
                <a:ea typeface="TT Hoves"/>
                <a:cs typeface="TT Hoves"/>
                <a:sym typeface="TT Hoves"/>
              </a:rPr>
              <a:t>nik Machine Learning seperti regresi, Random Forest, dan XGBoost.</a:t>
            </a:r>
          </a:p>
          <a:p>
            <a:pPr algn="just" marL="431799" indent="-215899" lvl="1">
              <a:lnSpc>
                <a:spcPts val="2699"/>
              </a:lnSpc>
              <a:spcBef>
                <a:spcPct val="0"/>
              </a:spcBef>
              <a:buFont typeface="Arial"/>
              <a:buChar char="•"/>
            </a:pPr>
            <a:r>
              <a:rPr lang="en-US" sz="1999" spc="31" strike="noStrike" u="none">
                <a:solidFill>
                  <a:srgbClr val="EFEFEF"/>
                </a:solidFill>
                <a:latin typeface="TT Hoves"/>
                <a:ea typeface="TT Hoves"/>
                <a:cs typeface="TT Hoves"/>
                <a:sym typeface="TT Hoves"/>
              </a:rPr>
              <a:t>Terb</a:t>
            </a:r>
            <a:r>
              <a:rPr lang="en-US" sz="1999" spc="31" strike="noStrike" u="none">
                <a:solidFill>
                  <a:srgbClr val="EFEFEF"/>
                </a:solidFill>
                <a:latin typeface="TT Hoves"/>
                <a:ea typeface="TT Hoves"/>
                <a:cs typeface="TT Hoves"/>
                <a:sym typeface="TT Hoves"/>
              </a:rPr>
              <a:t>ia</a:t>
            </a:r>
            <a:r>
              <a:rPr lang="en-US" sz="1999" spc="31" strike="noStrike" u="none">
                <a:solidFill>
                  <a:srgbClr val="EFEFEF"/>
                </a:solidFill>
                <a:latin typeface="TT Hoves"/>
                <a:ea typeface="TT Hoves"/>
                <a:cs typeface="TT Hoves"/>
                <a:sym typeface="TT Hoves"/>
              </a:rPr>
              <a:t>sa</a:t>
            </a:r>
            <a:r>
              <a:rPr lang="en-US" sz="1999" spc="31" strike="noStrike" u="none">
                <a:solidFill>
                  <a:srgbClr val="EFEFEF"/>
                </a:solidFill>
                <a:latin typeface="TT Hoves"/>
                <a:ea typeface="TT Hoves"/>
                <a:cs typeface="TT Hoves"/>
                <a:sym typeface="TT Hoves"/>
              </a:rPr>
              <a:t> menangani data </a:t>
            </a:r>
            <a:r>
              <a:rPr lang="en-US" sz="1999" spc="31" strike="noStrike" u="none">
                <a:solidFill>
                  <a:srgbClr val="EFEFEF"/>
                </a:solidFill>
                <a:latin typeface="TT Hoves"/>
                <a:ea typeface="TT Hoves"/>
                <a:cs typeface="TT Hoves"/>
                <a:sym typeface="TT Hoves"/>
              </a:rPr>
              <a:t>y</a:t>
            </a:r>
            <a:r>
              <a:rPr lang="en-US" sz="1999" spc="31" strike="noStrike" u="none">
                <a:solidFill>
                  <a:srgbClr val="EFEFEF"/>
                </a:solidFill>
                <a:latin typeface="TT Hoves"/>
                <a:ea typeface="TT Hoves"/>
                <a:cs typeface="TT Hoves"/>
                <a:sym typeface="TT Hoves"/>
              </a:rPr>
              <a:t>ang tidak seimbang se</a:t>
            </a:r>
            <a:r>
              <a:rPr lang="en-US" sz="1999" spc="31" strike="noStrike" u="none">
                <a:solidFill>
                  <a:srgbClr val="EFEFEF"/>
                </a:solidFill>
                <a:latin typeface="TT Hoves"/>
                <a:ea typeface="TT Hoves"/>
                <a:cs typeface="TT Hoves"/>
                <a:sym typeface="TT Hoves"/>
              </a:rPr>
              <a:t>r</a:t>
            </a:r>
            <a:r>
              <a:rPr lang="en-US" sz="1999" spc="31" strike="noStrike" u="none">
                <a:solidFill>
                  <a:srgbClr val="EFEFEF"/>
                </a:solidFill>
                <a:latin typeface="TT Hoves"/>
                <a:ea typeface="TT Hoves"/>
                <a:cs typeface="TT Hoves"/>
                <a:sym typeface="TT Hoves"/>
              </a:rPr>
              <a:t>ta melakukan strategi optimasi model.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3263798" y="-4131629"/>
            <a:ext cx="7991003" cy="7991003"/>
          </a:xfrm>
          <a:custGeom>
            <a:avLst/>
            <a:gdLst/>
            <a:ahLst/>
            <a:cxnLst/>
            <a:rect r="r" b="b" t="t" l="l"/>
            <a:pathLst>
              <a:path h="7991003" w="7991003">
                <a:moveTo>
                  <a:pt x="0" y="0"/>
                </a:moveTo>
                <a:lnTo>
                  <a:pt x="7991004" y="0"/>
                </a:lnTo>
                <a:lnTo>
                  <a:pt x="7991004" y="7991003"/>
                </a:lnTo>
                <a:lnTo>
                  <a:pt x="0" y="7991003"/>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5424" y="4604416"/>
            <a:ext cx="5846231" cy="5682584"/>
          </a:xfrm>
          <a:custGeom>
            <a:avLst/>
            <a:gdLst/>
            <a:ahLst/>
            <a:cxnLst/>
            <a:rect r="r" b="b" t="t" l="l"/>
            <a:pathLst>
              <a:path h="5682584" w="5846231">
                <a:moveTo>
                  <a:pt x="0" y="0"/>
                </a:moveTo>
                <a:lnTo>
                  <a:pt x="5846231" y="0"/>
                </a:lnTo>
                <a:lnTo>
                  <a:pt x="5846231" y="5682584"/>
                </a:lnTo>
                <a:lnTo>
                  <a:pt x="0" y="5682584"/>
                </a:lnTo>
                <a:lnTo>
                  <a:pt x="0" y="0"/>
                </a:lnTo>
                <a:close/>
              </a:path>
            </a:pathLst>
          </a:custGeom>
          <a:blipFill>
            <a:blip r:embed="rId4">
              <a:alphaModFix amt="52000"/>
            </a:blip>
            <a:stretch>
              <a:fillRect l="0" t="0" r="0" b="-9933"/>
            </a:stretch>
          </a:blipFill>
          <a:ln cap="sq">
            <a:noFill/>
            <a:prstDash val="solid"/>
            <a:miter/>
          </a:ln>
        </p:spPr>
      </p:sp>
      <p:sp>
        <p:nvSpPr>
          <p:cNvPr name="Freeform 4" id="4"/>
          <p:cNvSpPr/>
          <p:nvPr/>
        </p:nvSpPr>
        <p:spPr>
          <a:xfrm flipH="false" flipV="false" rot="0">
            <a:off x="6186397" y="4604416"/>
            <a:ext cx="5846231" cy="5682584"/>
          </a:xfrm>
          <a:custGeom>
            <a:avLst/>
            <a:gdLst/>
            <a:ahLst/>
            <a:cxnLst/>
            <a:rect r="r" b="b" t="t" l="l"/>
            <a:pathLst>
              <a:path h="5682584" w="5846231">
                <a:moveTo>
                  <a:pt x="0" y="0"/>
                </a:moveTo>
                <a:lnTo>
                  <a:pt x="5846231" y="0"/>
                </a:lnTo>
                <a:lnTo>
                  <a:pt x="5846231" y="5682584"/>
                </a:lnTo>
                <a:lnTo>
                  <a:pt x="0" y="5682584"/>
                </a:lnTo>
                <a:lnTo>
                  <a:pt x="0" y="0"/>
                </a:lnTo>
                <a:close/>
              </a:path>
            </a:pathLst>
          </a:custGeom>
          <a:blipFill>
            <a:blip r:embed="rId5">
              <a:alphaModFix amt="52000"/>
            </a:blip>
            <a:stretch>
              <a:fillRect l="0" t="0" r="0" b="-9933"/>
            </a:stretch>
          </a:blipFill>
          <a:ln cap="sq">
            <a:noFill/>
            <a:prstDash val="solid"/>
            <a:miter/>
          </a:ln>
        </p:spPr>
      </p:sp>
      <p:sp>
        <p:nvSpPr>
          <p:cNvPr name="Freeform 5" id="5"/>
          <p:cNvSpPr/>
          <p:nvPr/>
        </p:nvSpPr>
        <p:spPr>
          <a:xfrm flipH="false" flipV="false" rot="0">
            <a:off x="7604910" y="6107088"/>
            <a:ext cx="2863257" cy="1159903"/>
          </a:xfrm>
          <a:custGeom>
            <a:avLst/>
            <a:gdLst/>
            <a:ahLst/>
            <a:cxnLst/>
            <a:rect r="r" b="b" t="t" l="l"/>
            <a:pathLst>
              <a:path h="1159903" w="2863257">
                <a:moveTo>
                  <a:pt x="0" y="0"/>
                </a:moveTo>
                <a:lnTo>
                  <a:pt x="2863257" y="0"/>
                </a:lnTo>
                <a:lnTo>
                  <a:pt x="2863257" y="1159903"/>
                </a:lnTo>
                <a:lnTo>
                  <a:pt x="0" y="1159903"/>
                </a:lnTo>
                <a:lnTo>
                  <a:pt x="0" y="0"/>
                </a:lnTo>
                <a:close/>
              </a:path>
            </a:pathLst>
          </a:custGeom>
          <a:blipFill>
            <a:blip r:embed="rId6"/>
            <a:stretch>
              <a:fillRect l="0" t="0" r="0" b="0"/>
            </a:stretch>
          </a:blipFill>
        </p:spPr>
      </p:sp>
      <p:sp>
        <p:nvSpPr>
          <p:cNvPr name="Freeform 6" id="6"/>
          <p:cNvSpPr/>
          <p:nvPr/>
        </p:nvSpPr>
        <p:spPr>
          <a:xfrm flipH="false" flipV="false" rot="0">
            <a:off x="12280278" y="4604416"/>
            <a:ext cx="5846231" cy="5682584"/>
          </a:xfrm>
          <a:custGeom>
            <a:avLst/>
            <a:gdLst/>
            <a:ahLst/>
            <a:cxnLst/>
            <a:rect r="r" b="b" t="t" l="l"/>
            <a:pathLst>
              <a:path h="5682584" w="5846231">
                <a:moveTo>
                  <a:pt x="0" y="0"/>
                </a:moveTo>
                <a:lnTo>
                  <a:pt x="5846232" y="0"/>
                </a:lnTo>
                <a:lnTo>
                  <a:pt x="5846232" y="5682584"/>
                </a:lnTo>
                <a:lnTo>
                  <a:pt x="0" y="5682584"/>
                </a:lnTo>
                <a:lnTo>
                  <a:pt x="0" y="0"/>
                </a:lnTo>
                <a:close/>
              </a:path>
            </a:pathLst>
          </a:custGeom>
          <a:blipFill>
            <a:blip r:embed="rId5">
              <a:alphaModFix amt="52000"/>
            </a:blip>
            <a:stretch>
              <a:fillRect l="0" t="0" r="0" b="-9933"/>
            </a:stretch>
          </a:blipFill>
          <a:ln cap="sq">
            <a:noFill/>
            <a:prstDash val="solid"/>
            <a:miter/>
          </a:ln>
        </p:spPr>
      </p:sp>
      <p:sp>
        <p:nvSpPr>
          <p:cNvPr name="Freeform 7" id="7"/>
          <p:cNvSpPr/>
          <p:nvPr/>
        </p:nvSpPr>
        <p:spPr>
          <a:xfrm flipH="false" flipV="false" rot="0">
            <a:off x="13212324" y="6632465"/>
            <a:ext cx="1484713" cy="1579759"/>
          </a:xfrm>
          <a:custGeom>
            <a:avLst/>
            <a:gdLst/>
            <a:ahLst/>
            <a:cxnLst/>
            <a:rect r="r" b="b" t="t" l="l"/>
            <a:pathLst>
              <a:path h="1579759" w="1484713">
                <a:moveTo>
                  <a:pt x="0" y="0"/>
                </a:moveTo>
                <a:lnTo>
                  <a:pt x="1484712" y="0"/>
                </a:lnTo>
                <a:lnTo>
                  <a:pt x="1484712" y="1579760"/>
                </a:lnTo>
                <a:lnTo>
                  <a:pt x="0" y="1579760"/>
                </a:lnTo>
                <a:lnTo>
                  <a:pt x="0" y="0"/>
                </a:lnTo>
                <a:close/>
              </a:path>
            </a:pathLst>
          </a:custGeom>
          <a:blipFill>
            <a:blip r:embed="rId7"/>
            <a:stretch>
              <a:fillRect l="-25802" t="0" r="-21977" b="0"/>
            </a:stretch>
          </a:blipFill>
        </p:spPr>
      </p:sp>
      <p:sp>
        <p:nvSpPr>
          <p:cNvPr name="TextBox 8" id="8"/>
          <p:cNvSpPr txBox="true"/>
          <p:nvPr/>
        </p:nvSpPr>
        <p:spPr>
          <a:xfrm rot="0">
            <a:off x="7428385" y="-38100"/>
            <a:ext cx="3355164" cy="1135380"/>
          </a:xfrm>
          <a:prstGeom prst="rect">
            <a:avLst/>
          </a:prstGeom>
        </p:spPr>
        <p:txBody>
          <a:bodyPr anchor="t" rtlCol="false" tIns="0" lIns="0" bIns="0" rIns="0">
            <a:spAutoFit/>
          </a:bodyPr>
          <a:lstStyle/>
          <a:p>
            <a:pPr algn="l">
              <a:lnSpc>
                <a:spcPts val="7200"/>
              </a:lnSpc>
            </a:pPr>
            <a:r>
              <a:rPr lang="en-US" sz="7200" b="true">
                <a:solidFill>
                  <a:srgbClr val="000000"/>
                </a:solidFill>
                <a:latin typeface="Heading Now 71-78 Bold"/>
                <a:ea typeface="Heading Now 71-78 Bold"/>
                <a:cs typeface="Heading Now 71-78 Bold"/>
                <a:sym typeface="Heading Now 71-78 Bold"/>
              </a:rPr>
              <a:t>TOOLS</a:t>
            </a:r>
          </a:p>
        </p:txBody>
      </p:sp>
      <p:sp>
        <p:nvSpPr>
          <p:cNvPr name="TextBox 9" id="9"/>
          <p:cNvSpPr txBox="true"/>
          <p:nvPr/>
        </p:nvSpPr>
        <p:spPr>
          <a:xfrm rot="0">
            <a:off x="7747313" y="4891753"/>
            <a:ext cx="2717308" cy="552450"/>
          </a:xfrm>
          <a:prstGeom prst="rect">
            <a:avLst/>
          </a:prstGeom>
        </p:spPr>
        <p:txBody>
          <a:bodyPr anchor="t" rtlCol="false" tIns="0" lIns="0" bIns="0" rIns="0">
            <a:spAutoFit/>
          </a:bodyPr>
          <a:lstStyle/>
          <a:p>
            <a:pPr algn="ctr">
              <a:lnSpc>
                <a:spcPts val="4464"/>
              </a:lnSpc>
            </a:pPr>
            <a:r>
              <a:rPr lang="en-US" sz="3720">
                <a:solidFill>
                  <a:srgbClr val="F9F9F9"/>
                </a:solidFill>
                <a:latin typeface="TT Norms"/>
                <a:ea typeface="TT Norms"/>
                <a:cs typeface="TT Norms"/>
                <a:sym typeface="TT Norms"/>
              </a:rPr>
              <a:t>Framework</a:t>
            </a:r>
          </a:p>
        </p:txBody>
      </p:sp>
      <p:sp>
        <p:nvSpPr>
          <p:cNvPr name="TextBox 10" id="10"/>
          <p:cNvSpPr txBox="true"/>
          <p:nvPr/>
        </p:nvSpPr>
        <p:spPr>
          <a:xfrm rot="0">
            <a:off x="1028700" y="4896515"/>
            <a:ext cx="3897755" cy="533400"/>
          </a:xfrm>
          <a:prstGeom prst="rect">
            <a:avLst/>
          </a:prstGeom>
        </p:spPr>
        <p:txBody>
          <a:bodyPr anchor="t" rtlCol="false" tIns="0" lIns="0" bIns="0" rIns="0">
            <a:spAutoFit/>
          </a:bodyPr>
          <a:lstStyle/>
          <a:p>
            <a:pPr algn="ctr">
              <a:lnSpc>
                <a:spcPts val="4209"/>
              </a:lnSpc>
            </a:pPr>
            <a:r>
              <a:rPr lang="en-US" sz="3507">
                <a:solidFill>
                  <a:srgbClr val="F9F9F9"/>
                </a:solidFill>
                <a:latin typeface="TT Norms"/>
                <a:ea typeface="TT Norms"/>
                <a:cs typeface="TT Norms"/>
                <a:sym typeface="TT Norms"/>
              </a:rPr>
              <a:t>Visualization</a:t>
            </a:r>
          </a:p>
        </p:txBody>
      </p:sp>
      <p:sp>
        <p:nvSpPr>
          <p:cNvPr name="Freeform 11" id="11"/>
          <p:cNvSpPr/>
          <p:nvPr/>
        </p:nvSpPr>
        <p:spPr>
          <a:xfrm flipH="false" flipV="false" rot="0">
            <a:off x="4657234" y="966608"/>
            <a:ext cx="9455175" cy="3266333"/>
          </a:xfrm>
          <a:custGeom>
            <a:avLst/>
            <a:gdLst/>
            <a:ahLst/>
            <a:cxnLst/>
            <a:rect r="r" b="b" t="t" l="l"/>
            <a:pathLst>
              <a:path h="3266333" w="9455175">
                <a:moveTo>
                  <a:pt x="0" y="0"/>
                </a:moveTo>
                <a:lnTo>
                  <a:pt x="9455175" y="0"/>
                </a:lnTo>
                <a:lnTo>
                  <a:pt x="9455175" y="3266333"/>
                </a:lnTo>
                <a:lnTo>
                  <a:pt x="0" y="32663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557178" y="1810139"/>
            <a:ext cx="1398125" cy="935393"/>
          </a:xfrm>
          <a:custGeom>
            <a:avLst/>
            <a:gdLst/>
            <a:ahLst/>
            <a:cxnLst/>
            <a:rect r="r" b="b" t="t" l="l"/>
            <a:pathLst>
              <a:path h="935393" w="1398125">
                <a:moveTo>
                  <a:pt x="0" y="0"/>
                </a:moveTo>
                <a:lnTo>
                  <a:pt x="1398125" y="0"/>
                </a:lnTo>
                <a:lnTo>
                  <a:pt x="1398125" y="935392"/>
                </a:lnTo>
                <a:lnTo>
                  <a:pt x="0" y="935392"/>
                </a:lnTo>
                <a:lnTo>
                  <a:pt x="0" y="0"/>
                </a:lnTo>
                <a:close/>
              </a:path>
            </a:pathLst>
          </a:custGeom>
          <a:blipFill>
            <a:blip r:embed="rId10"/>
            <a:stretch>
              <a:fillRect l="0" t="-24216" r="0" b="-25252"/>
            </a:stretch>
          </a:blipFill>
        </p:spPr>
      </p:sp>
      <p:sp>
        <p:nvSpPr>
          <p:cNvPr name="Freeform 13" id="13"/>
          <p:cNvSpPr/>
          <p:nvPr/>
        </p:nvSpPr>
        <p:spPr>
          <a:xfrm flipH="false" flipV="false" rot="0">
            <a:off x="9812294" y="1774583"/>
            <a:ext cx="1075692" cy="1095348"/>
          </a:xfrm>
          <a:custGeom>
            <a:avLst/>
            <a:gdLst/>
            <a:ahLst/>
            <a:cxnLst/>
            <a:rect r="r" b="b" t="t" l="l"/>
            <a:pathLst>
              <a:path h="1095348" w="1075692">
                <a:moveTo>
                  <a:pt x="0" y="0"/>
                </a:moveTo>
                <a:lnTo>
                  <a:pt x="1075692" y="0"/>
                </a:lnTo>
                <a:lnTo>
                  <a:pt x="1075692" y="1095348"/>
                </a:lnTo>
                <a:lnTo>
                  <a:pt x="0" y="1095348"/>
                </a:lnTo>
                <a:lnTo>
                  <a:pt x="0" y="0"/>
                </a:lnTo>
                <a:close/>
              </a:path>
            </a:pathLst>
          </a:custGeom>
          <a:blipFill>
            <a:blip r:embed="rId11"/>
            <a:stretch>
              <a:fillRect l="-48265" t="0" r="-45691" b="0"/>
            </a:stretch>
          </a:blipFill>
        </p:spPr>
      </p:sp>
      <p:sp>
        <p:nvSpPr>
          <p:cNvPr name="Freeform 14" id="14"/>
          <p:cNvSpPr/>
          <p:nvPr/>
        </p:nvSpPr>
        <p:spPr>
          <a:xfrm flipH="false" flipV="false" rot="0">
            <a:off x="8296892" y="1794121"/>
            <a:ext cx="935565" cy="951410"/>
          </a:xfrm>
          <a:custGeom>
            <a:avLst/>
            <a:gdLst/>
            <a:ahLst/>
            <a:cxnLst/>
            <a:rect r="r" b="b" t="t" l="l"/>
            <a:pathLst>
              <a:path h="951410" w="935565">
                <a:moveTo>
                  <a:pt x="0" y="0"/>
                </a:moveTo>
                <a:lnTo>
                  <a:pt x="935565" y="0"/>
                </a:lnTo>
                <a:lnTo>
                  <a:pt x="935565" y="951410"/>
                </a:lnTo>
                <a:lnTo>
                  <a:pt x="0" y="951410"/>
                </a:lnTo>
                <a:lnTo>
                  <a:pt x="0" y="0"/>
                </a:lnTo>
                <a:close/>
              </a:path>
            </a:pathLst>
          </a:custGeom>
          <a:blipFill>
            <a:blip r:embed="rId12"/>
            <a:stretch>
              <a:fillRect l="0" t="0" r="0" b="-1375"/>
            </a:stretch>
          </a:blipFill>
        </p:spPr>
      </p:sp>
      <p:sp>
        <p:nvSpPr>
          <p:cNvPr name="Freeform 15" id="15"/>
          <p:cNvSpPr/>
          <p:nvPr/>
        </p:nvSpPr>
        <p:spPr>
          <a:xfrm flipH="false" flipV="false" rot="0">
            <a:off x="11369471" y="1774583"/>
            <a:ext cx="951410" cy="951410"/>
          </a:xfrm>
          <a:custGeom>
            <a:avLst/>
            <a:gdLst/>
            <a:ahLst/>
            <a:cxnLst/>
            <a:rect r="r" b="b" t="t" l="l"/>
            <a:pathLst>
              <a:path h="951410" w="951410">
                <a:moveTo>
                  <a:pt x="0" y="0"/>
                </a:moveTo>
                <a:lnTo>
                  <a:pt x="951410" y="0"/>
                </a:lnTo>
                <a:lnTo>
                  <a:pt x="951410" y="951410"/>
                </a:lnTo>
                <a:lnTo>
                  <a:pt x="0" y="95141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6" id="16"/>
          <p:cNvSpPr/>
          <p:nvPr/>
        </p:nvSpPr>
        <p:spPr>
          <a:xfrm flipH="false" flipV="false" rot="0">
            <a:off x="15382836" y="6974187"/>
            <a:ext cx="1914101" cy="1005386"/>
          </a:xfrm>
          <a:custGeom>
            <a:avLst/>
            <a:gdLst/>
            <a:ahLst/>
            <a:cxnLst/>
            <a:rect r="r" b="b" t="t" l="l"/>
            <a:pathLst>
              <a:path h="1005386" w="1914101">
                <a:moveTo>
                  <a:pt x="0" y="0"/>
                </a:moveTo>
                <a:lnTo>
                  <a:pt x="1914101" y="0"/>
                </a:lnTo>
                <a:lnTo>
                  <a:pt x="1914101" y="1005387"/>
                </a:lnTo>
                <a:lnTo>
                  <a:pt x="0" y="1005387"/>
                </a:lnTo>
                <a:lnTo>
                  <a:pt x="0" y="0"/>
                </a:lnTo>
                <a:close/>
              </a:path>
            </a:pathLst>
          </a:custGeom>
          <a:blipFill>
            <a:blip r:embed="rId15"/>
            <a:stretch>
              <a:fillRect l="0" t="0" r="0" b="0"/>
            </a:stretch>
          </a:blipFill>
        </p:spPr>
      </p:sp>
      <p:sp>
        <p:nvSpPr>
          <p:cNvPr name="Freeform 17" id="17"/>
          <p:cNvSpPr/>
          <p:nvPr/>
        </p:nvSpPr>
        <p:spPr>
          <a:xfrm flipH="false" flipV="false" rot="0">
            <a:off x="9256259" y="8118763"/>
            <a:ext cx="2187762" cy="1212692"/>
          </a:xfrm>
          <a:custGeom>
            <a:avLst/>
            <a:gdLst/>
            <a:ahLst/>
            <a:cxnLst/>
            <a:rect r="r" b="b" t="t" l="l"/>
            <a:pathLst>
              <a:path h="1212692" w="2187762">
                <a:moveTo>
                  <a:pt x="0" y="0"/>
                </a:moveTo>
                <a:lnTo>
                  <a:pt x="2187763" y="0"/>
                </a:lnTo>
                <a:lnTo>
                  <a:pt x="2187763" y="1212692"/>
                </a:lnTo>
                <a:lnTo>
                  <a:pt x="0" y="1212692"/>
                </a:lnTo>
                <a:lnTo>
                  <a:pt x="0" y="0"/>
                </a:lnTo>
                <a:close/>
              </a:path>
            </a:pathLst>
          </a:custGeom>
          <a:blipFill>
            <a:blip r:embed="rId16"/>
            <a:stretch>
              <a:fillRect l="0" t="0" r="0" b="0"/>
            </a:stretch>
          </a:blipFill>
        </p:spPr>
      </p:sp>
      <p:sp>
        <p:nvSpPr>
          <p:cNvPr name="Freeform 18" id="18"/>
          <p:cNvSpPr/>
          <p:nvPr/>
        </p:nvSpPr>
        <p:spPr>
          <a:xfrm flipH="false" flipV="false" rot="0">
            <a:off x="6686611" y="8108618"/>
            <a:ext cx="1610281" cy="1295226"/>
          </a:xfrm>
          <a:custGeom>
            <a:avLst/>
            <a:gdLst/>
            <a:ahLst/>
            <a:cxnLst/>
            <a:rect r="r" b="b" t="t" l="l"/>
            <a:pathLst>
              <a:path h="1295226" w="1610281">
                <a:moveTo>
                  <a:pt x="0" y="0"/>
                </a:moveTo>
                <a:lnTo>
                  <a:pt x="1610281" y="0"/>
                </a:lnTo>
                <a:lnTo>
                  <a:pt x="1610281" y="1295226"/>
                </a:lnTo>
                <a:lnTo>
                  <a:pt x="0" y="1295226"/>
                </a:lnTo>
                <a:lnTo>
                  <a:pt x="0" y="0"/>
                </a:lnTo>
                <a:close/>
              </a:path>
            </a:pathLst>
          </a:custGeom>
          <a:blipFill>
            <a:blip r:embed="rId17"/>
            <a:stretch>
              <a:fillRect l="0" t="0" r="0" b="0"/>
            </a:stretch>
          </a:blipFill>
        </p:spPr>
      </p:sp>
      <p:sp>
        <p:nvSpPr>
          <p:cNvPr name="Freeform 19" id="19"/>
          <p:cNvSpPr/>
          <p:nvPr/>
        </p:nvSpPr>
        <p:spPr>
          <a:xfrm flipH="false" flipV="false" rot="0">
            <a:off x="4903595" y="1483472"/>
            <a:ext cx="1540595" cy="1365318"/>
          </a:xfrm>
          <a:custGeom>
            <a:avLst/>
            <a:gdLst/>
            <a:ahLst/>
            <a:cxnLst/>
            <a:rect r="r" b="b" t="t" l="l"/>
            <a:pathLst>
              <a:path h="1365318" w="1540595">
                <a:moveTo>
                  <a:pt x="0" y="0"/>
                </a:moveTo>
                <a:lnTo>
                  <a:pt x="1540595" y="0"/>
                </a:lnTo>
                <a:lnTo>
                  <a:pt x="1540595" y="1365318"/>
                </a:lnTo>
                <a:lnTo>
                  <a:pt x="0" y="1365318"/>
                </a:lnTo>
                <a:lnTo>
                  <a:pt x="0" y="0"/>
                </a:lnTo>
                <a:close/>
              </a:path>
            </a:pathLst>
          </a:custGeom>
          <a:blipFill>
            <a:blip r:embed="rId18"/>
            <a:stretch>
              <a:fillRect l="0" t="0" r="0" b="0"/>
            </a:stretch>
          </a:blipFill>
        </p:spPr>
      </p:sp>
      <p:sp>
        <p:nvSpPr>
          <p:cNvPr name="Freeform 20" id="20"/>
          <p:cNvSpPr/>
          <p:nvPr/>
        </p:nvSpPr>
        <p:spPr>
          <a:xfrm flipH="false" flipV="false" rot="0">
            <a:off x="12605646" y="1671008"/>
            <a:ext cx="1213356" cy="1158559"/>
          </a:xfrm>
          <a:custGeom>
            <a:avLst/>
            <a:gdLst/>
            <a:ahLst/>
            <a:cxnLst/>
            <a:rect r="r" b="b" t="t" l="l"/>
            <a:pathLst>
              <a:path h="1158559" w="1213356">
                <a:moveTo>
                  <a:pt x="0" y="0"/>
                </a:moveTo>
                <a:lnTo>
                  <a:pt x="1213356" y="0"/>
                </a:lnTo>
                <a:lnTo>
                  <a:pt x="1213356" y="1158560"/>
                </a:lnTo>
                <a:lnTo>
                  <a:pt x="0" y="1158560"/>
                </a:lnTo>
                <a:lnTo>
                  <a:pt x="0" y="0"/>
                </a:lnTo>
                <a:close/>
              </a:path>
            </a:pathLst>
          </a:custGeom>
          <a:blipFill>
            <a:blip r:embed="rId19"/>
            <a:stretch>
              <a:fillRect l="0" t="0" r="0" b="0"/>
            </a:stretch>
          </a:blipFill>
        </p:spPr>
      </p:sp>
      <p:sp>
        <p:nvSpPr>
          <p:cNvPr name="TextBox 21" id="21"/>
          <p:cNvSpPr txBox="true"/>
          <p:nvPr/>
        </p:nvSpPr>
        <p:spPr>
          <a:xfrm rot="0">
            <a:off x="192746" y="605089"/>
            <a:ext cx="1767251" cy="1212981"/>
          </a:xfrm>
          <a:prstGeom prst="rect">
            <a:avLst/>
          </a:prstGeom>
        </p:spPr>
        <p:txBody>
          <a:bodyPr anchor="t" rtlCol="false" tIns="0" lIns="0" bIns="0" rIns="0">
            <a:spAutoFit/>
          </a:bodyPr>
          <a:lstStyle/>
          <a:p>
            <a:pPr algn="ctr">
              <a:lnSpc>
                <a:spcPts val="8903"/>
              </a:lnSpc>
            </a:pPr>
            <a:r>
              <a:rPr lang="en-US" b="true" sz="9472" spc="-464">
                <a:solidFill>
                  <a:srgbClr val="343434"/>
                </a:solidFill>
                <a:latin typeface="TT Hoves Bold"/>
                <a:ea typeface="TT Hoves Bold"/>
                <a:cs typeface="TT Hoves Bold"/>
                <a:sym typeface="TT Hoves Bold"/>
              </a:rPr>
              <a:t>05</a:t>
            </a:r>
          </a:p>
        </p:txBody>
      </p:sp>
      <p:sp>
        <p:nvSpPr>
          <p:cNvPr name="TextBox 22" id="22"/>
          <p:cNvSpPr txBox="true"/>
          <p:nvPr/>
        </p:nvSpPr>
        <p:spPr>
          <a:xfrm rot="0">
            <a:off x="6444190" y="2951894"/>
            <a:ext cx="1605052" cy="307268"/>
          </a:xfrm>
          <a:prstGeom prst="rect">
            <a:avLst/>
          </a:prstGeom>
        </p:spPr>
        <p:txBody>
          <a:bodyPr anchor="t" rtlCol="false" tIns="0" lIns="0" bIns="0" rIns="0">
            <a:spAutoFit/>
          </a:bodyPr>
          <a:lstStyle/>
          <a:p>
            <a:pPr algn="ctr">
              <a:lnSpc>
                <a:spcPts val="2574"/>
              </a:lnSpc>
            </a:pPr>
            <a:r>
              <a:rPr lang="en-US" sz="2145">
                <a:solidFill>
                  <a:srgbClr val="000000"/>
                </a:solidFill>
                <a:latin typeface="TT Norms"/>
                <a:ea typeface="TT Norms"/>
                <a:cs typeface="TT Norms"/>
                <a:sym typeface="TT Norms"/>
              </a:rPr>
              <a:t>GColab</a:t>
            </a:r>
          </a:p>
        </p:txBody>
      </p:sp>
      <p:sp>
        <p:nvSpPr>
          <p:cNvPr name="TextBox 23" id="23"/>
          <p:cNvSpPr txBox="true"/>
          <p:nvPr/>
        </p:nvSpPr>
        <p:spPr>
          <a:xfrm rot="0">
            <a:off x="7865408" y="2963821"/>
            <a:ext cx="1775436" cy="317487"/>
          </a:xfrm>
          <a:prstGeom prst="rect">
            <a:avLst/>
          </a:prstGeom>
        </p:spPr>
        <p:txBody>
          <a:bodyPr anchor="t" rtlCol="false" tIns="0" lIns="0" bIns="0" rIns="0">
            <a:spAutoFit/>
          </a:bodyPr>
          <a:lstStyle/>
          <a:p>
            <a:pPr algn="ctr">
              <a:lnSpc>
                <a:spcPts val="2574"/>
              </a:lnSpc>
            </a:pPr>
            <a:r>
              <a:rPr lang="en-US" sz="2145">
                <a:solidFill>
                  <a:srgbClr val="000000"/>
                </a:solidFill>
                <a:latin typeface="TT Norms"/>
                <a:ea typeface="TT Norms"/>
                <a:cs typeface="TT Norms"/>
                <a:sym typeface="TT Norms"/>
              </a:rPr>
              <a:t>Postgresql</a:t>
            </a:r>
          </a:p>
        </p:txBody>
      </p:sp>
      <p:sp>
        <p:nvSpPr>
          <p:cNvPr name="TextBox 24" id="24"/>
          <p:cNvSpPr txBox="true"/>
          <p:nvPr/>
        </p:nvSpPr>
        <p:spPr>
          <a:xfrm rot="0">
            <a:off x="11059797" y="2951894"/>
            <a:ext cx="1775436" cy="317487"/>
          </a:xfrm>
          <a:prstGeom prst="rect">
            <a:avLst/>
          </a:prstGeom>
        </p:spPr>
        <p:txBody>
          <a:bodyPr anchor="t" rtlCol="false" tIns="0" lIns="0" bIns="0" rIns="0">
            <a:spAutoFit/>
          </a:bodyPr>
          <a:lstStyle/>
          <a:p>
            <a:pPr algn="ctr">
              <a:lnSpc>
                <a:spcPts val="2574"/>
              </a:lnSpc>
            </a:pPr>
            <a:r>
              <a:rPr lang="en-US" sz="2145">
                <a:solidFill>
                  <a:srgbClr val="000000"/>
                </a:solidFill>
                <a:latin typeface="TT Norms"/>
                <a:ea typeface="TT Norms"/>
                <a:cs typeface="TT Norms"/>
                <a:sym typeface="TT Norms"/>
              </a:rPr>
              <a:t>Ms.Excel</a:t>
            </a:r>
          </a:p>
        </p:txBody>
      </p:sp>
      <p:sp>
        <p:nvSpPr>
          <p:cNvPr name="TextBox 25" id="25"/>
          <p:cNvSpPr txBox="true"/>
          <p:nvPr/>
        </p:nvSpPr>
        <p:spPr>
          <a:xfrm rot="0">
            <a:off x="9384821" y="2951894"/>
            <a:ext cx="1841338" cy="317487"/>
          </a:xfrm>
          <a:prstGeom prst="rect">
            <a:avLst/>
          </a:prstGeom>
        </p:spPr>
        <p:txBody>
          <a:bodyPr anchor="t" rtlCol="false" tIns="0" lIns="0" bIns="0" rIns="0">
            <a:spAutoFit/>
          </a:bodyPr>
          <a:lstStyle/>
          <a:p>
            <a:pPr algn="ctr">
              <a:lnSpc>
                <a:spcPts val="2574"/>
              </a:lnSpc>
            </a:pPr>
            <a:r>
              <a:rPr lang="en-US" sz="2145">
                <a:solidFill>
                  <a:srgbClr val="000000"/>
                </a:solidFill>
                <a:latin typeface="TT Norms"/>
                <a:ea typeface="TT Norms"/>
                <a:cs typeface="TT Norms"/>
                <a:sym typeface="TT Norms"/>
              </a:rPr>
              <a:t>Jupyter</a:t>
            </a:r>
          </a:p>
        </p:txBody>
      </p:sp>
      <p:sp>
        <p:nvSpPr>
          <p:cNvPr name="TextBox 26" id="26"/>
          <p:cNvSpPr txBox="true"/>
          <p:nvPr/>
        </p:nvSpPr>
        <p:spPr>
          <a:xfrm rot="0">
            <a:off x="8209117" y="7433027"/>
            <a:ext cx="1654842" cy="381504"/>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Pandas</a:t>
            </a:r>
          </a:p>
        </p:txBody>
      </p:sp>
      <p:sp>
        <p:nvSpPr>
          <p:cNvPr name="TextBox 27" id="27"/>
          <p:cNvSpPr txBox="true"/>
          <p:nvPr/>
        </p:nvSpPr>
        <p:spPr>
          <a:xfrm rot="0">
            <a:off x="13269824" y="4706015"/>
            <a:ext cx="3867140" cy="923925"/>
          </a:xfrm>
          <a:prstGeom prst="rect">
            <a:avLst/>
          </a:prstGeom>
        </p:spPr>
        <p:txBody>
          <a:bodyPr anchor="t" rtlCol="false" tIns="0" lIns="0" bIns="0" rIns="0">
            <a:spAutoFit/>
          </a:bodyPr>
          <a:lstStyle/>
          <a:p>
            <a:pPr algn="ctr">
              <a:lnSpc>
                <a:spcPts val="3678"/>
              </a:lnSpc>
            </a:pPr>
            <a:r>
              <a:rPr lang="en-US" sz="3065">
                <a:solidFill>
                  <a:srgbClr val="F9F9F9"/>
                </a:solidFill>
                <a:latin typeface="TT Norms"/>
                <a:ea typeface="TT Norms"/>
                <a:cs typeface="TT Norms"/>
                <a:sym typeface="TT Norms"/>
              </a:rPr>
              <a:t>Programming </a:t>
            </a:r>
          </a:p>
          <a:p>
            <a:pPr algn="ctr">
              <a:lnSpc>
                <a:spcPts val="3678"/>
              </a:lnSpc>
            </a:pPr>
            <a:r>
              <a:rPr lang="en-US" sz="3065">
                <a:solidFill>
                  <a:srgbClr val="F9F9F9"/>
                </a:solidFill>
                <a:latin typeface="TT Norms"/>
                <a:ea typeface="TT Norms"/>
                <a:cs typeface="TT Norms"/>
                <a:sym typeface="TT Norms"/>
              </a:rPr>
              <a:t>Languages</a:t>
            </a:r>
          </a:p>
        </p:txBody>
      </p:sp>
      <p:sp>
        <p:nvSpPr>
          <p:cNvPr name="TextBox 28" id="28"/>
          <p:cNvSpPr txBox="true"/>
          <p:nvPr/>
        </p:nvSpPr>
        <p:spPr>
          <a:xfrm rot="0">
            <a:off x="15357724" y="8460998"/>
            <a:ext cx="1654842" cy="381504"/>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SQL</a:t>
            </a:r>
          </a:p>
        </p:txBody>
      </p:sp>
      <p:sp>
        <p:nvSpPr>
          <p:cNvPr name="TextBox 29" id="29"/>
          <p:cNvSpPr txBox="true"/>
          <p:nvPr/>
        </p:nvSpPr>
        <p:spPr>
          <a:xfrm rot="0">
            <a:off x="13042194" y="8407859"/>
            <a:ext cx="1654842" cy="381504"/>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Python</a:t>
            </a:r>
          </a:p>
        </p:txBody>
      </p:sp>
      <p:grpSp>
        <p:nvGrpSpPr>
          <p:cNvPr name="Group 30" id="30"/>
          <p:cNvGrpSpPr/>
          <p:nvPr/>
        </p:nvGrpSpPr>
        <p:grpSpPr>
          <a:xfrm rot="0">
            <a:off x="759298" y="6003464"/>
            <a:ext cx="4498484" cy="3952218"/>
            <a:chOff x="0" y="0"/>
            <a:chExt cx="5997979" cy="5269625"/>
          </a:xfrm>
        </p:grpSpPr>
        <p:sp>
          <p:nvSpPr>
            <p:cNvPr name="Freeform 31" id="31"/>
            <p:cNvSpPr/>
            <p:nvPr/>
          </p:nvSpPr>
          <p:spPr>
            <a:xfrm flipH="false" flipV="false" rot="0">
              <a:off x="604512" y="0"/>
              <a:ext cx="1601944" cy="1601944"/>
            </a:xfrm>
            <a:custGeom>
              <a:avLst/>
              <a:gdLst/>
              <a:ahLst/>
              <a:cxnLst/>
              <a:rect r="r" b="b" t="t" l="l"/>
              <a:pathLst>
                <a:path h="1601944" w="1601944">
                  <a:moveTo>
                    <a:pt x="0" y="0"/>
                  </a:moveTo>
                  <a:lnTo>
                    <a:pt x="1601944" y="0"/>
                  </a:lnTo>
                  <a:lnTo>
                    <a:pt x="1601944" y="1601944"/>
                  </a:lnTo>
                  <a:lnTo>
                    <a:pt x="0" y="1601944"/>
                  </a:lnTo>
                  <a:lnTo>
                    <a:pt x="0" y="0"/>
                  </a:lnTo>
                  <a:close/>
                </a:path>
              </a:pathLst>
            </a:custGeom>
            <a:blipFill>
              <a:blip r:embed="rId20"/>
              <a:stretch>
                <a:fillRect l="0" t="0" r="0" b="0"/>
              </a:stretch>
            </a:blipFill>
          </p:spPr>
        </p:sp>
        <p:sp>
          <p:nvSpPr>
            <p:cNvPr name="Freeform 32" id="32"/>
            <p:cNvSpPr/>
            <p:nvPr/>
          </p:nvSpPr>
          <p:spPr>
            <a:xfrm flipH="false" flipV="false" rot="0">
              <a:off x="4007956" y="68660"/>
              <a:ext cx="1527258" cy="1549800"/>
            </a:xfrm>
            <a:custGeom>
              <a:avLst/>
              <a:gdLst/>
              <a:ahLst/>
              <a:cxnLst/>
              <a:rect r="r" b="b" t="t" l="l"/>
              <a:pathLst>
                <a:path h="1549800" w="1527258">
                  <a:moveTo>
                    <a:pt x="0" y="0"/>
                  </a:moveTo>
                  <a:lnTo>
                    <a:pt x="1527258" y="0"/>
                  </a:lnTo>
                  <a:lnTo>
                    <a:pt x="1527258" y="1549800"/>
                  </a:lnTo>
                  <a:lnTo>
                    <a:pt x="0" y="154980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3" id="33"/>
            <p:cNvSpPr/>
            <p:nvPr/>
          </p:nvSpPr>
          <p:spPr>
            <a:xfrm flipH="false" flipV="false" rot="0">
              <a:off x="0" y="3373834"/>
              <a:ext cx="3244818" cy="1125913"/>
            </a:xfrm>
            <a:custGeom>
              <a:avLst/>
              <a:gdLst/>
              <a:ahLst/>
              <a:cxnLst/>
              <a:rect r="r" b="b" t="t" l="l"/>
              <a:pathLst>
                <a:path h="1125913" w="3244818">
                  <a:moveTo>
                    <a:pt x="0" y="0"/>
                  </a:moveTo>
                  <a:lnTo>
                    <a:pt x="3244818" y="0"/>
                  </a:lnTo>
                  <a:lnTo>
                    <a:pt x="3244818" y="1125914"/>
                  </a:lnTo>
                  <a:lnTo>
                    <a:pt x="0" y="1125914"/>
                  </a:lnTo>
                  <a:lnTo>
                    <a:pt x="0" y="0"/>
                  </a:lnTo>
                  <a:close/>
                </a:path>
              </a:pathLst>
            </a:custGeom>
            <a:blipFill>
              <a:blip r:embed="rId23"/>
              <a:stretch>
                <a:fillRect l="-4096" t="0" r="0" b="0"/>
              </a:stretch>
            </a:blipFill>
          </p:spPr>
        </p:sp>
        <p:sp>
          <p:nvSpPr>
            <p:cNvPr name="Freeform 34" id="34"/>
            <p:cNvSpPr/>
            <p:nvPr/>
          </p:nvSpPr>
          <p:spPr>
            <a:xfrm flipH="false" flipV="false" rot="0">
              <a:off x="4036036" y="2949434"/>
              <a:ext cx="1499178" cy="1499178"/>
            </a:xfrm>
            <a:custGeom>
              <a:avLst/>
              <a:gdLst/>
              <a:ahLst/>
              <a:cxnLst/>
              <a:rect r="r" b="b" t="t" l="l"/>
              <a:pathLst>
                <a:path h="1499178" w="1499178">
                  <a:moveTo>
                    <a:pt x="0" y="0"/>
                  </a:moveTo>
                  <a:lnTo>
                    <a:pt x="1499178" y="0"/>
                  </a:lnTo>
                  <a:lnTo>
                    <a:pt x="1499178" y="1499178"/>
                  </a:lnTo>
                  <a:lnTo>
                    <a:pt x="0" y="1499178"/>
                  </a:lnTo>
                  <a:lnTo>
                    <a:pt x="0" y="0"/>
                  </a:lnTo>
                  <a:close/>
                </a:path>
              </a:pathLst>
            </a:custGeom>
            <a:blipFill>
              <a:blip r:embed="rId24"/>
              <a:stretch>
                <a:fillRect l="0" t="0" r="0" b="0"/>
              </a:stretch>
            </a:blipFill>
          </p:spPr>
        </p:sp>
        <p:sp>
          <p:nvSpPr>
            <p:cNvPr name="TextBox 35" id="35"/>
            <p:cNvSpPr txBox="true"/>
            <p:nvPr/>
          </p:nvSpPr>
          <p:spPr>
            <a:xfrm rot="0">
              <a:off x="202300" y="1805480"/>
              <a:ext cx="2206456" cy="508000"/>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Tableau</a:t>
              </a:r>
            </a:p>
          </p:txBody>
        </p:sp>
        <p:sp>
          <p:nvSpPr>
            <p:cNvPr name="TextBox 36" id="36"/>
            <p:cNvSpPr txBox="true"/>
            <p:nvPr/>
          </p:nvSpPr>
          <p:spPr>
            <a:xfrm rot="0">
              <a:off x="3571448" y="1956787"/>
              <a:ext cx="2206456" cy="508672"/>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PowerBI</a:t>
              </a:r>
            </a:p>
          </p:txBody>
        </p:sp>
        <p:sp>
          <p:nvSpPr>
            <p:cNvPr name="TextBox 37" id="37"/>
            <p:cNvSpPr txBox="true"/>
            <p:nvPr/>
          </p:nvSpPr>
          <p:spPr>
            <a:xfrm rot="0">
              <a:off x="3791523" y="4760953"/>
              <a:ext cx="2206456" cy="508672"/>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Seaborn</a:t>
              </a:r>
            </a:p>
          </p:txBody>
        </p:sp>
        <p:sp>
          <p:nvSpPr>
            <p:cNvPr name="TextBox 38" id="38"/>
            <p:cNvSpPr txBox="true"/>
            <p:nvPr/>
          </p:nvSpPr>
          <p:spPr>
            <a:xfrm rot="0">
              <a:off x="519181" y="4626748"/>
              <a:ext cx="2206456" cy="508672"/>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Matplotlib</a:t>
              </a:r>
            </a:p>
          </p:txBody>
        </p:sp>
      </p:grpSp>
      <p:sp>
        <p:nvSpPr>
          <p:cNvPr name="TextBox 39" id="39"/>
          <p:cNvSpPr txBox="true"/>
          <p:nvPr/>
        </p:nvSpPr>
        <p:spPr>
          <a:xfrm rot="0">
            <a:off x="6600964" y="9453728"/>
            <a:ext cx="1654842" cy="381504"/>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NumPy</a:t>
            </a:r>
          </a:p>
        </p:txBody>
      </p:sp>
      <p:sp>
        <p:nvSpPr>
          <p:cNvPr name="TextBox 40" id="40"/>
          <p:cNvSpPr txBox="true"/>
          <p:nvPr/>
        </p:nvSpPr>
        <p:spPr>
          <a:xfrm rot="0">
            <a:off x="9522719" y="9415376"/>
            <a:ext cx="1654842" cy="381504"/>
          </a:xfrm>
          <a:prstGeom prst="rect">
            <a:avLst/>
          </a:prstGeom>
        </p:spPr>
        <p:txBody>
          <a:bodyPr anchor="t" rtlCol="false" tIns="0" lIns="0" bIns="0" rIns="0">
            <a:spAutoFit/>
          </a:bodyPr>
          <a:lstStyle/>
          <a:p>
            <a:pPr algn="ctr">
              <a:lnSpc>
                <a:spcPts val="3035"/>
              </a:lnSpc>
            </a:pPr>
            <a:r>
              <a:rPr lang="en-US" sz="2529">
                <a:solidFill>
                  <a:srgbClr val="000000"/>
                </a:solidFill>
                <a:latin typeface="TT Norms"/>
                <a:ea typeface="TT Norms"/>
                <a:cs typeface="TT Norms"/>
                <a:sym typeface="TT Norms"/>
              </a:rPr>
              <a:t>Scikit-learn</a:t>
            </a:r>
          </a:p>
        </p:txBody>
      </p:sp>
      <p:sp>
        <p:nvSpPr>
          <p:cNvPr name="TextBox 41" id="41"/>
          <p:cNvSpPr txBox="true"/>
          <p:nvPr/>
        </p:nvSpPr>
        <p:spPr>
          <a:xfrm rot="0">
            <a:off x="12320881" y="2941675"/>
            <a:ext cx="1775436" cy="317487"/>
          </a:xfrm>
          <a:prstGeom prst="rect">
            <a:avLst/>
          </a:prstGeom>
        </p:spPr>
        <p:txBody>
          <a:bodyPr anchor="t" rtlCol="false" tIns="0" lIns="0" bIns="0" rIns="0">
            <a:spAutoFit/>
          </a:bodyPr>
          <a:lstStyle/>
          <a:p>
            <a:pPr algn="ctr">
              <a:lnSpc>
                <a:spcPts val="2574"/>
              </a:lnSpc>
            </a:pPr>
            <a:r>
              <a:rPr lang="en-US" sz="2145">
                <a:solidFill>
                  <a:srgbClr val="000000"/>
                </a:solidFill>
                <a:latin typeface="TT Norms"/>
                <a:ea typeface="TT Norms"/>
                <a:cs typeface="TT Norms"/>
                <a:sym typeface="TT Norms"/>
              </a:rPr>
              <a:t>GitHub</a:t>
            </a:r>
          </a:p>
        </p:txBody>
      </p:sp>
      <p:sp>
        <p:nvSpPr>
          <p:cNvPr name="TextBox 42" id="42"/>
          <p:cNvSpPr txBox="true"/>
          <p:nvPr/>
        </p:nvSpPr>
        <p:spPr>
          <a:xfrm rot="0">
            <a:off x="4825528" y="2960828"/>
            <a:ext cx="1775436" cy="317487"/>
          </a:xfrm>
          <a:prstGeom prst="rect">
            <a:avLst/>
          </a:prstGeom>
        </p:spPr>
        <p:txBody>
          <a:bodyPr anchor="t" rtlCol="false" tIns="0" lIns="0" bIns="0" rIns="0">
            <a:spAutoFit/>
          </a:bodyPr>
          <a:lstStyle/>
          <a:p>
            <a:pPr algn="ctr">
              <a:lnSpc>
                <a:spcPts val="2574"/>
              </a:lnSpc>
            </a:pPr>
            <a:r>
              <a:rPr lang="en-US" sz="2145">
                <a:solidFill>
                  <a:srgbClr val="000000"/>
                </a:solidFill>
                <a:latin typeface="TT Norms"/>
                <a:ea typeface="TT Norms"/>
                <a:cs typeface="TT Norms"/>
                <a:sym typeface="TT Norms"/>
              </a:rPr>
              <a:t>VS Cod</a:t>
            </a:r>
            <a:r>
              <a:rPr lang="en-US" sz="2145">
                <a:solidFill>
                  <a:srgbClr val="000000"/>
                </a:solidFill>
                <a:latin typeface="TT Norms"/>
                <a:ea typeface="TT Norms"/>
                <a:cs typeface="TT Norms"/>
                <a:sym typeface="TT Norms"/>
              </a:rPr>
              <a:t>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7011184" y="5105400"/>
            <a:ext cx="10680641" cy="3268980"/>
          </a:xfrm>
          <a:prstGeom prst="rect">
            <a:avLst/>
          </a:prstGeom>
        </p:spPr>
        <p:txBody>
          <a:bodyPr anchor="t" rtlCol="false" tIns="0" lIns="0" bIns="0" rIns="0">
            <a:spAutoFit/>
          </a:bodyPr>
          <a:lstStyle/>
          <a:p>
            <a:pPr algn="just" marL="0" indent="0" lvl="0">
              <a:lnSpc>
                <a:spcPts val="3239"/>
              </a:lnSpc>
              <a:spcBef>
                <a:spcPct val="0"/>
              </a:spcBef>
            </a:pPr>
            <a:r>
              <a:rPr lang="en-US" sz="2399" spc="143">
                <a:solidFill>
                  <a:srgbClr val="343434"/>
                </a:solidFill>
                <a:latin typeface="TT Hoves"/>
                <a:ea typeface="TT Hoves"/>
                <a:cs typeface="TT Hoves"/>
                <a:sym typeface="TT Hoves"/>
              </a:rPr>
              <a:t>Sp</a:t>
            </a:r>
            <a:r>
              <a:rPr lang="en-US" sz="2399" spc="143" u="none">
                <a:solidFill>
                  <a:srgbClr val="343434"/>
                </a:solidFill>
                <a:latin typeface="TT Hoves"/>
                <a:ea typeface="TT Hoves"/>
                <a:cs typeface="TT Hoves"/>
                <a:sym typeface="TT Hoves"/>
              </a:rPr>
              <a:t>otify sebagai salah satu platform streaming musik terbesar menghadapi tantangan dalam mempertahankan pengguna di tengah persaingan layanan digital lainnya. Tingkat churn (pengguna yang berhenti berlangganan atau tidak aktif) menjadi indikator penting dalam mengukur loyalitas pelanggan. Oleh karena itu, analisis perilaku pengguna diperlukan untuk memahami faktor-faktor yang memengaruhi keterlibatan dan risiko churn, sehingga strategi retensi dapat lebih tepat sasaran.</a:t>
            </a:r>
          </a:p>
        </p:txBody>
      </p:sp>
      <p:grpSp>
        <p:nvGrpSpPr>
          <p:cNvPr name="Group 3" id="3"/>
          <p:cNvGrpSpPr/>
          <p:nvPr/>
        </p:nvGrpSpPr>
        <p:grpSpPr>
          <a:xfrm rot="0">
            <a:off x="-696258" y="-976142"/>
            <a:ext cx="7178388" cy="11878896"/>
            <a:chOff x="0" y="0"/>
            <a:chExt cx="1890604" cy="3128598"/>
          </a:xfrm>
        </p:grpSpPr>
        <p:sp>
          <p:nvSpPr>
            <p:cNvPr name="Freeform 4" id="4"/>
            <p:cNvSpPr/>
            <p:nvPr/>
          </p:nvSpPr>
          <p:spPr>
            <a:xfrm flipH="false" flipV="false" rot="0">
              <a:off x="0" y="0"/>
              <a:ext cx="1890604" cy="3128598"/>
            </a:xfrm>
            <a:custGeom>
              <a:avLst/>
              <a:gdLst/>
              <a:ahLst/>
              <a:cxnLst/>
              <a:rect r="r" b="b" t="t" l="l"/>
              <a:pathLst>
                <a:path h="3128598" w="1890604">
                  <a:moveTo>
                    <a:pt x="0" y="0"/>
                  </a:moveTo>
                  <a:lnTo>
                    <a:pt x="1890604" y="0"/>
                  </a:lnTo>
                  <a:lnTo>
                    <a:pt x="1890604" y="3128598"/>
                  </a:lnTo>
                  <a:lnTo>
                    <a:pt x="0" y="3128598"/>
                  </a:lnTo>
                  <a:close/>
                </a:path>
              </a:pathLst>
            </a:custGeom>
            <a:solidFill>
              <a:srgbClr val="0003FF"/>
            </a:solidFill>
          </p:spPr>
        </p:sp>
        <p:sp>
          <p:nvSpPr>
            <p:cNvPr name="TextBox 5" id="5"/>
            <p:cNvSpPr txBox="true"/>
            <p:nvPr/>
          </p:nvSpPr>
          <p:spPr>
            <a:xfrm>
              <a:off x="0" y="-57150"/>
              <a:ext cx="1890604" cy="318574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13263798" y="-4131629"/>
            <a:ext cx="7991003" cy="7991003"/>
          </a:xfrm>
          <a:custGeom>
            <a:avLst/>
            <a:gdLst/>
            <a:ahLst/>
            <a:cxnLst/>
            <a:rect r="r" b="b" t="t" l="l"/>
            <a:pathLst>
              <a:path h="7991003" w="7991003">
                <a:moveTo>
                  <a:pt x="0" y="0"/>
                </a:moveTo>
                <a:lnTo>
                  <a:pt x="7991004" y="0"/>
                </a:lnTo>
                <a:lnTo>
                  <a:pt x="7991004" y="7991003"/>
                </a:lnTo>
                <a:lnTo>
                  <a:pt x="0" y="7991003"/>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498726" y="1323975"/>
            <a:ext cx="9760574" cy="2958089"/>
          </a:xfrm>
          <a:prstGeom prst="rect">
            <a:avLst/>
          </a:prstGeom>
        </p:spPr>
        <p:txBody>
          <a:bodyPr anchor="t" rtlCol="false" tIns="0" lIns="0" bIns="0" rIns="0">
            <a:spAutoFit/>
          </a:bodyPr>
          <a:lstStyle/>
          <a:p>
            <a:pPr algn="l">
              <a:lnSpc>
                <a:spcPts val="11269"/>
              </a:lnSpc>
            </a:pPr>
            <a:r>
              <a:rPr lang="en-US" b="true" sz="11988" spc="-587">
                <a:solidFill>
                  <a:srgbClr val="343434"/>
                </a:solidFill>
                <a:latin typeface="TT Hoves Bold"/>
                <a:ea typeface="TT Hoves Bold"/>
                <a:cs typeface="TT Hoves Bold"/>
                <a:sym typeface="TT Hoves Bold"/>
              </a:rPr>
              <a:t>Background Story</a:t>
            </a:r>
          </a:p>
        </p:txBody>
      </p:sp>
      <p:sp>
        <p:nvSpPr>
          <p:cNvPr name="TextBox 8" id="8"/>
          <p:cNvSpPr txBox="true"/>
          <p:nvPr/>
        </p:nvSpPr>
        <p:spPr>
          <a:xfrm rot="0">
            <a:off x="-406095" y="8151634"/>
            <a:ext cx="4189230" cy="2905286"/>
          </a:xfrm>
          <a:prstGeom prst="rect">
            <a:avLst/>
          </a:prstGeom>
        </p:spPr>
        <p:txBody>
          <a:bodyPr anchor="t" rtlCol="false" tIns="0" lIns="0" bIns="0" rIns="0">
            <a:spAutoFit/>
          </a:bodyPr>
          <a:lstStyle/>
          <a:p>
            <a:pPr algn="ctr">
              <a:lnSpc>
                <a:spcPts val="21444"/>
              </a:lnSpc>
            </a:pPr>
            <a:r>
              <a:rPr lang="en-US" b="true" sz="22813" spc="-1117">
                <a:solidFill>
                  <a:srgbClr val="EFEFEF"/>
                </a:solidFill>
                <a:latin typeface="TT Hoves Bold"/>
                <a:ea typeface="TT Hoves Bold"/>
                <a:cs typeface="TT Hoves Bold"/>
                <a:sym typeface="TT Hoves Bold"/>
              </a:rPr>
              <a:t>06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805628" y="-3991568"/>
            <a:ext cx="9598990" cy="9598990"/>
          </a:xfrm>
          <a:custGeom>
            <a:avLst/>
            <a:gdLst/>
            <a:ahLst/>
            <a:cxnLst/>
            <a:rect r="r" b="b" t="t" l="l"/>
            <a:pathLst>
              <a:path h="9598990" w="9598990">
                <a:moveTo>
                  <a:pt x="0" y="0"/>
                </a:moveTo>
                <a:lnTo>
                  <a:pt x="9598990" y="0"/>
                </a:lnTo>
                <a:lnTo>
                  <a:pt x="9598990" y="9598990"/>
                </a:lnTo>
                <a:lnTo>
                  <a:pt x="0" y="959899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95523" y="4714138"/>
            <a:ext cx="8467871" cy="3657600"/>
          </a:xfrm>
          <a:prstGeom prst="rect">
            <a:avLst/>
          </a:prstGeom>
        </p:spPr>
        <p:txBody>
          <a:bodyPr anchor="t" rtlCol="false" tIns="0" lIns="0" bIns="0" rIns="0">
            <a:spAutoFit/>
          </a:bodyPr>
          <a:lstStyle/>
          <a:p>
            <a:pPr algn="just" marL="0" indent="0" lvl="0">
              <a:lnSpc>
                <a:spcPts val="2699"/>
              </a:lnSpc>
              <a:spcBef>
                <a:spcPct val="0"/>
              </a:spcBef>
            </a:pPr>
            <a:r>
              <a:rPr lang="en-US" sz="1999" spc="119">
                <a:solidFill>
                  <a:srgbClr val="343434"/>
                </a:solidFill>
                <a:latin typeface="TT Hoves"/>
                <a:ea typeface="TT Hoves"/>
                <a:cs typeface="TT Hoves"/>
                <a:sym typeface="TT Hoves"/>
              </a:rPr>
              <a:t>Objektif analisis </a:t>
            </a:r>
            <a:r>
              <a:rPr lang="en-US" sz="1999" spc="119" u="none">
                <a:solidFill>
                  <a:srgbClr val="343434"/>
                </a:solidFill>
                <a:latin typeface="TT Hoves"/>
                <a:ea typeface="TT Hoves"/>
                <a:cs typeface="TT Hoves"/>
                <a:sym typeface="TT Hoves"/>
              </a:rPr>
              <a:t>ini adalah untuk memahami karakteristik demografis dan perilaku mendengarkan pengguna Spotify dengan menganalisis faktor-faktor seperti tingkat skip, waktu mendengarkan, dan paparan iklan serta hubungannya dengan tingkat churn. Selain itu, analisis ini bertujuan untuk membandingkan perilaku antara pengguna premium dan non-premium, serta mengelompokkan pengguna berdasarkan kesamaan perilaku menggunakan metode K-Prototypes. Hasil analisis diharapkan dapat menghasilkan insight mendalam dan rekomendasi strategi pemasaran yang tepat sasaran untuk setiap klaster pengguna.</a:t>
            </a:r>
          </a:p>
        </p:txBody>
      </p:sp>
      <p:grpSp>
        <p:nvGrpSpPr>
          <p:cNvPr name="Group 4" id="4"/>
          <p:cNvGrpSpPr/>
          <p:nvPr/>
        </p:nvGrpSpPr>
        <p:grpSpPr>
          <a:xfrm rot="0">
            <a:off x="9975489" y="1170261"/>
            <a:ext cx="6998061" cy="2561528"/>
            <a:chOff x="0" y="0"/>
            <a:chExt cx="2342659" cy="857492"/>
          </a:xfrm>
        </p:grpSpPr>
        <p:sp>
          <p:nvSpPr>
            <p:cNvPr name="Freeform 5" id="5"/>
            <p:cNvSpPr/>
            <p:nvPr/>
          </p:nvSpPr>
          <p:spPr>
            <a:xfrm flipH="false" flipV="false" rot="0">
              <a:off x="0" y="0"/>
              <a:ext cx="2342659" cy="857492"/>
            </a:xfrm>
            <a:custGeom>
              <a:avLst/>
              <a:gdLst/>
              <a:ahLst/>
              <a:cxnLst/>
              <a:rect r="r" b="b" t="t" l="l"/>
              <a:pathLst>
                <a:path h="857492" w="2342659">
                  <a:moveTo>
                    <a:pt x="0" y="0"/>
                  </a:moveTo>
                  <a:lnTo>
                    <a:pt x="2342659" y="0"/>
                  </a:lnTo>
                  <a:lnTo>
                    <a:pt x="2342659" y="857492"/>
                  </a:lnTo>
                  <a:lnTo>
                    <a:pt x="0" y="857492"/>
                  </a:lnTo>
                  <a:close/>
                </a:path>
              </a:pathLst>
            </a:custGeom>
            <a:solidFill>
              <a:srgbClr val="0003FF"/>
            </a:solidFill>
          </p:spPr>
        </p:sp>
        <p:sp>
          <p:nvSpPr>
            <p:cNvPr name="TextBox 6" id="6"/>
            <p:cNvSpPr txBox="true"/>
            <p:nvPr/>
          </p:nvSpPr>
          <p:spPr>
            <a:xfrm>
              <a:off x="0" y="104775"/>
              <a:ext cx="2342659" cy="752717"/>
            </a:xfrm>
            <a:prstGeom prst="rect">
              <a:avLst/>
            </a:prstGeom>
          </p:spPr>
          <p:txBody>
            <a:bodyPr anchor="ctr" rtlCol="false" tIns="50800" lIns="50800" bIns="50800" rIns="50800"/>
            <a:lstStyle/>
            <a:p>
              <a:pPr algn="ctr">
                <a:lnSpc>
                  <a:spcPts val="1925"/>
                </a:lnSpc>
              </a:pPr>
            </a:p>
          </p:txBody>
        </p:sp>
      </p:grpSp>
      <p:sp>
        <p:nvSpPr>
          <p:cNvPr name="TextBox 7" id="7"/>
          <p:cNvSpPr txBox="true"/>
          <p:nvPr/>
        </p:nvSpPr>
        <p:spPr>
          <a:xfrm rot="0">
            <a:off x="10491672" y="2024301"/>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01.</a:t>
            </a:r>
          </a:p>
        </p:txBody>
      </p:sp>
      <p:sp>
        <p:nvSpPr>
          <p:cNvPr name="TextBox 8" id="8"/>
          <p:cNvSpPr txBox="true"/>
          <p:nvPr/>
        </p:nvSpPr>
        <p:spPr>
          <a:xfrm rot="0">
            <a:off x="12601687" y="6540872"/>
            <a:ext cx="7498697" cy="4832876"/>
          </a:xfrm>
          <a:prstGeom prst="rect">
            <a:avLst/>
          </a:prstGeom>
        </p:spPr>
        <p:txBody>
          <a:bodyPr anchor="t" rtlCol="false" tIns="0" lIns="0" bIns="0" rIns="0">
            <a:spAutoFit/>
          </a:bodyPr>
          <a:lstStyle/>
          <a:p>
            <a:pPr algn="ctr">
              <a:lnSpc>
                <a:spcPts val="35614"/>
              </a:lnSpc>
            </a:pPr>
            <a:r>
              <a:rPr lang="en-US" b="true" sz="37888" spc="-1856">
                <a:solidFill>
                  <a:srgbClr val="343434"/>
                </a:solidFill>
                <a:latin typeface="TT Hoves Bold"/>
                <a:ea typeface="TT Hoves Bold"/>
                <a:cs typeface="TT Hoves Bold"/>
                <a:sym typeface="TT Hoves Bold"/>
              </a:rPr>
              <a:t>07</a:t>
            </a:r>
          </a:p>
        </p:txBody>
      </p:sp>
      <p:grpSp>
        <p:nvGrpSpPr>
          <p:cNvPr name="Group 9" id="9"/>
          <p:cNvGrpSpPr/>
          <p:nvPr/>
        </p:nvGrpSpPr>
        <p:grpSpPr>
          <a:xfrm rot="0">
            <a:off x="9975489" y="3862348"/>
            <a:ext cx="6998061" cy="2561528"/>
            <a:chOff x="0" y="0"/>
            <a:chExt cx="2342659" cy="857492"/>
          </a:xfrm>
        </p:grpSpPr>
        <p:sp>
          <p:nvSpPr>
            <p:cNvPr name="Freeform 10" id="10"/>
            <p:cNvSpPr/>
            <p:nvPr/>
          </p:nvSpPr>
          <p:spPr>
            <a:xfrm flipH="false" flipV="false" rot="0">
              <a:off x="0" y="0"/>
              <a:ext cx="2342659" cy="857492"/>
            </a:xfrm>
            <a:custGeom>
              <a:avLst/>
              <a:gdLst/>
              <a:ahLst/>
              <a:cxnLst/>
              <a:rect r="r" b="b" t="t" l="l"/>
              <a:pathLst>
                <a:path h="857492" w="2342659">
                  <a:moveTo>
                    <a:pt x="0" y="0"/>
                  </a:moveTo>
                  <a:lnTo>
                    <a:pt x="2342659" y="0"/>
                  </a:lnTo>
                  <a:lnTo>
                    <a:pt x="2342659" y="857492"/>
                  </a:lnTo>
                  <a:lnTo>
                    <a:pt x="0" y="857492"/>
                  </a:lnTo>
                  <a:close/>
                </a:path>
              </a:pathLst>
            </a:custGeom>
            <a:solidFill>
              <a:srgbClr val="0003FF"/>
            </a:solidFill>
          </p:spPr>
        </p:sp>
        <p:sp>
          <p:nvSpPr>
            <p:cNvPr name="TextBox 11" id="11"/>
            <p:cNvSpPr txBox="true"/>
            <p:nvPr/>
          </p:nvSpPr>
          <p:spPr>
            <a:xfrm>
              <a:off x="0" y="104775"/>
              <a:ext cx="2342659" cy="752717"/>
            </a:xfrm>
            <a:prstGeom prst="rect">
              <a:avLst/>
            </a:prstGeom>
          </p:spPr>
          <p:txBody>
            <a:bodyPr anchor="ctr" rtlCol="false" tIns="50800" lIns="50800" bIns="50800" rIns="50800"/>
            <a:lstStyle/>
            <a:p>
              <a:pPr algn="ctr">
                <a:lnSpc>
                  <a:spcPts val="1925"/>
                </a:lnSpc>
              </a:pPr>
            </a:p>
          </p:txBody>
        </p:sp>
      </p:grpSp>
      <p:grpSp>
        <p:nvGrpSpPr>
          <p:cNvPr name="Group 12" id="12"/>
          <p:cNvGrpSpPr/>
          <p:nvPr/>
        </p:nvGrpSpPr>
        <p:grpSpPr>
          <a:xfrm rot="0">
            <a:off x="9975489" y="6557226"/>
            <a:ext cx="6998061" cy="2561528"/>
            <a:chOff x="0" y="0"/>
            <a:chExt cx="2342659" cy="857492"/>
          </a:xfrm>
        </p:grpSpPr>
        <p:sp>
          <p:nvSpPr>
            <p:cNvPr name="Freeform 13" id="13"/>
            <p:cNvSpPr/>
            <p:nvPr/>
          </p:nvSpPr>
          <p:spPr>
            <a:xfrm flipH="false" flipV="false" rot="0">
              <a:off x="0" y="0"/>
              <a:ext cx="2342659" cy="857492"/>
            </a:xfrm>
            <a:custGeom>
              <a:avLst/>
              <a:gdLst/>
              <a:ahLst/>
              <a:cxnLst/>
              <a:rect r="r" b="b" t="t" l="l"/>
              <a:pathLst>
                <a:path h="857492" w="2342659">
                  <a:moveTo>
                    <a:pt x="0" y="0"/>
                  </a:moveTo>
                  <a:lnTo>
                    <a:pt x="2342659" y="0"/>
                  </a:lnTo>
                  <a:lnTo>
                    <a:pt x="2342659" y="857492"/>
                  </a:lnTo>
                  <a:lnTo>
                    <a:pt x="0" y="857492"/>
                  </a:lnTo>
                  <a:close/>
                </a:path>
              </a:pathLst>
            </a:custGeom>
            <a:solidFill>
              <a:srgbClr val="0003FF"/>
            </a:solidFill>
          </p:spPr>
        </p:sp>
        <p:sp>
          <p:nvSpPr>
            <p:cNvPr name="TextBox 14" id="14"/>
            <p:cNvSpPr txBox="true"/>
            <p:nvPr/>
          </p:nvSpPr>
          <p:spPr>
            <a:xfrm>
              <a:off x="0" y="104775"/>
              <a:ext cx="2342659" cy="752717"/>
            </a:xfrm>
            <a:prstGeom prst="rect">
              <a:avLst/>
            </a:prstGeom>
          </p:spPr>
          <p:txBody>
            <a:bodyPr anchor="ctr" rtlCol="false" tIns="50800" lIns="50800" bIns="50800" rIns="50800"/>
            <a:lstStyle/>
            <a:p>
              <a:pPr algn="ctr">
                <a:lnSpc>
                  <a:spcPts val="1925"/>
                </a:lnSpc>
              </a:pPr>
            </a:p>
          </p:txBody>
        </p:sp>
      </p:grpSp>
      <p:sp>
        <p:nvSpPr>
          <p:cNvPr name="TextBox 15" id="15"/>
          <p:cNvSpPr txBox="true"/>
          <p:nvPr/>
        </p:nvSpPr>
        <p:spPr>
          <a:xfrm rot="0">
            <a:off x="10491672" y="4717783"/>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02.</a:t>
            </a:r>
          </a:p>
        </p:txBody>
      </p:sp>
      <p:sp>
        <p:nvSpPr>
          <p:cNvPr name="TextBox 16" id="16"/>
          <p:cNvSpPr txBox="true"/>
          <p:nvPr/>
        </p:nvSpPr>
        <p:spPr>
          <a:xfrm rot="0">
            <a:off x="10491672" y="7411266"/>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03.</a:t>
            </a:r>
          </a:p>
        </p:txBody>
      </p:sp>
      <p:sp>
        <p:nvSpPr>
          <p:cNvPr name="TextBox 17" id="17"/>
          <p:cNvSpPr txBox="true"/>
          <p:nvPr/>
        </p:nvSpPr>
        <p:spPr>
          <a:xfrm rot="0">
            <a:off x="12218908" y="2068124"/>
            <a:ext cx="4132127" cy="990600"/>
          </a:xfrm>
          <a:prstGeom prst="rect">
            <a:avLst/>
          </a:prstGeom>
        </p:spPr>
        <p:txBody>
          <a:bodyPr anchor="t" rtlCol="false" tIns="0" lIns="0" bIns="0" rIns="0">
            <a:spAutoFit/>
          </a:bodyPr>
          <a:lstStyle/>
          <a:p>
            <a:pPr algn="just" marL="0" indent="0" lvl="0">
              <a:lnSpc>
                <a:spcPts val="2699"/>
              </a:lnSpc>
              <a:spcBef>
                <a:spcPct val="0"/>
              </a:spcBef>
            </a:pPr>
            <a:r>
              <a:rPr lang="en-US" sz="1999" spc="31">
                <a:solidFill>
                  <a:srgbClr val="EFEFEF"/>
                </a:solidFill>
                <a:latin typeface="TT Hoves"/>
                <a:ea typeface="TT Hoves"/>
                <a:cs typeface="TT Hoves"/>
                <a:sym typeface="TT Hoves"/>
              </a:rPr>
              <a:t>Mengidentifikasi perilaku pengguna spotify untuk mendukung strategi retensi.</a:t>
            </a:r>
          </a:p>
        </p:txBody>
      </p:sp>
      <p:sp>
        <p:nvSpPr>
          <p:cNvPr name="TextBox 18" id="18"/>
          <p:cNvSpPr txBox="true"/>
          <p:nvPr/>
        </p:nvSpPr>
        <p:spPr>
          <a:xfrm rot="0">
            <a:off x="12218908" y="4600155"/>
            <a:ext cx="4132127" cy="1323975"/>
          </a:xfrm>
          <a:prstGeom prst="rect">
            <a:avLst/>
          </a:prstGeom>
        </p:spPr>
        <p:txBody>
          <a:bodyPr anchor="t" rtlCol="false" tIns="0" lIns="0" bIns="0" rIns="0">
            <a:spAutoFit/>
          </a:bodyPr>
          <a:lstStyle/>
          <a:p>
            <a:pPr algn="just" marL="0" indent="0" lvl="0">
              <a:lnSpc>
                <a:spcPts val="2699"/>
              </a:lnSpc>
              <a:spcBef>
                <a:spcPct val="0"/>
              </a:spcBef>
            </a:pPr>
            <a:r>
              <a:rPr lang="en-US" sz="1999" spc="31" strike="noStrike" u="none">
                <a:solidFill>
                  <a:srgbClr val="EFEFEF"/>
                </a:solidFill>
                <a:latin typeface="TT Hoves"/>
                <a:ea typeface="TT Hoves"/>
                <a:cs typeface="TT Hoves"/>
                <a:sym typeface="TT Hoves"/>
              </a:rPr>
              <a:t>Memahami pola mendengarkan dan preferensi berdasarkan tipe langganan serta segmen pengguna.</a:t>
            </a:r>
          </a:p>
        </p:txBody>
      </p:sp>
      <p:sp>
        <p:nvSpPr>
          <p:cNvPr name="TextBox 19" id="19"/>
          <p:cNvSpPr txBox="true"/>
          <p:nvPr/>
        </p:nvSpPr>
        <p:spPr>
          <a:xfrm rot="0">
            <a:off x="12218908" y="7465562"/>
            <a:ext cx="4132127" cy="990600"/>
          </a:xfrm>
          <a:prstGeom prst="rect">
            <a:avLst/>
          </a:prstGeom>
        </p:spPr>
        <p:txBody>
          <a:bodyPr anchor="t" rtlCol="false" tIns="0" lIns="0" bIns="0" rIns="0">
            <a:spAutoFit/>
          </a:bodyPr>
          <a:lstStyle/>
          <a:p>
            <a:pPr algn="just" marL="0" indent="0" lvl="0">
              <a:lnSpc>
                <a:spcPts val="2699"/>
              </a:lnSpc>
              <a:spcBef>
                <a:spcPct val="0"/>
              </a:spcBef>
            </a:pPr>
            <a:r>
              <a:rPr lang="en-US" sz="1999" spc="31" strike="noStrike" u="none">
                <a:solidFill>
                  <a:srgbClr val="EFEFEF"/>
                </a:solidFill>
                <a:latin typeface="TT Hoves"/>
                <a:ea typeface="TT Hoves"/>
                <a:cs typeface="TT Hoves"/>
                <a:sym typeface="TT Hoves"/>
              </a:rPr>
              <a:t>Memberikan rekomendasi promosi dan peningkatan fitur berdasarkan hasil segmentasi pengguna.</a:t>
            </a:r>
          </a:p>
        </p:txBody>
      </p:sp>
      <p:sp>
        <p:nvSpPr>
          <p:cNvPr name="TextBox 20" id="20"/>
          <p:cNvSpPr txBox="true"/>
          <p:nvPr/>
        </p:nvSpPr>
        <p:spPr>
          <a:xfrm rot="0">
            <a:off x="1309933" y="1505361"/>
            <a:ext cx="7639050" cy="2613580"/>
          </a:xfrm>
          <a:prstGeom prst="rect">
            <a:avLst/>
          </a:prstGeom>
        </p:spPr>
        <p:txBody>
          <a:bodyPr anchor="t" rtlCol="false" tIns="0" lIns="0" bIns="0" rIns="0">
            <a:spAutoFit/>
          </a:bodyPr>
          <a:lstStyle/>
          <a:p>
            <a:pPr algn="l">
              <a:lnSpc>
                <a:spcPts val="10180"/>
              </a:lnSpc>
            </a:pPr>
            <a:r>
              <a:rPr lang="en-US" b="true" sz="9695" spc="-475">
                <a:solidFill>
                  <a:srgbClr val="343434"/>
                </a:solidFill>
                <a:latin typeface="TT Hoves Bold"/>
                <a:ea typeface="TT Hoves Bold"/>
                <a:cs typeface="TT Hoves Bold"/>
                <a:sym typeface="TT Hoves Bold"/>
              </a:rPr>
              <a:t>Project vision and mission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9560011" y="-2564899"/>
            <a:ext cx="16075318" cy="16075318"/>
          </a:xfrm>
          <a:custGeom>
            <a:avLst/>
            <a:gdLst/>
            <a:ahLst/>
            <a:cxnLst/>
            <a:rect r="r" b="b" t="t" l="l"/>
            <a:pathLst>
              <a:path h="16075318" w="16075318">
                <a:moveTo>
                  <a:pt x="0" y="0"/>
                </a:moveTo>
                <a:lnTo>
                  <a:pt x="16075318" y="0"/>
                </a:lnTo>
                <a:lnTo>
                  <a:pt x="16075318" y="16075318"/>
                </a:lnTo>
                <a:lnTo>
                  <a:pt x="0" y="16075318"/>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258" y="-976142"/>
            <a:ext cx="2222590" cy="11878896"/>
            <a:chOff x="0" y="0"/>
            <a:chExt cx="585373" cy="3128598"/>
          </a:xfrm>
        </p:grpSpPr>
        <p:sp>
          <p:nvSpPr>
            <p:cNvPr name="Freeform 4" id="4"/>
            <p:cNvSpPr/>
            <p:nvPr/>
          </p:nvSpPr>
          <p:spPr>
            <a:xfrm flipH="false" flipV="false" rot="0">
              <a:off x="0" y="0"/>
              <a:ext cx="585373" cy="3128598"/>
            </a:xfrm>
            <a:custGeom>
              <a:avLst/>
              <a:gdLst/>
              <a:ahLst/>
              <a:cxnLst/>
              <a:rect r="r" b="b" t="t" l="l"/>
              <a:pathLst>
                <a:path h="3128598" w="585373">
                  <a:moveTo>
                    <a:pt x="0" y="0"/>
                  </a:moveTo>
                  <a:lnTo>
                    <a:pt x="585373" y="0"/>
                  </a:lnTo>
                  <a:lnTo>
                    <a:pt x="585373" y="3128598"/>
                  </a:lnTo>
                  <a:lnTo>
                    <a:pt x="0" y="3128598"/>
                  </a:lnTo>
                  <a:close/>
                </a:path>
              </a:pathLst>
            </a:custGeom>
            <a:solidFill>
              <a:srgbClr val="0003FF"/>
            </a:solidFill>
          </p:spPr>
        </p:sp>
        <p:sp>
          <p:nvSpPr>
            <p:cNvPr name="TextBox 5" id="5"/>
            <p:cNvSpPr txBox="true"/>
            <p:nvPr/>
          </p:nvSpPr>
          <p:spPr>
            <a:xfrm>
              <a:off x="0" y="-57150"/>
              <a:ext cx="585373" cy="318574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1947773" y="1597469"/>
            <a:ext cx="13184366" cy="1994135"/>
          </a:xfrm>
          <a:custGeom>
            <a:avLst/>
            <a:gdLst/>
            <a:ahLst/>
            <a:cxnLst/>
            <a:rect r="r" b="b" t="t" l="l"/>
            <a:pathLst>
              <a:path h="1994135" w="13184366">
                <a:moveTo>
                  <a:pt x="0" y="0"/>
                </a:moveTo>
                <a:lnTo>
                  <a:pt x="13184366" y="0"/>
                </a:lnTo>
                <a:lnTo>
                  <a:pt x="13184366" y="1994136"/>
                </a:lnTo>
                <a:lnTo>
                  <a:pt x="0" y="1994136"/>
                </a:lnTo>
                <a:lnTo>
                  <a:pt x="0" y="0"/>
                </a:lnTo>
                <a:close/>
              </a:path>
            </a:pathLst>
          </a:custGeom>
          <a:blipFill>
            <a:blip r:embed="rId4"/>
            <a:stretch>
              <a:fillRect l="0" t="0" r="0" b="0"/>
            </a:stretch>
          </a:blipFill>
        </p:spPr>
      </p:sp>
      <p:sp>
        <p:nvSpPr>
          <p:cNvPr name="TextBox 7" id="7"/>
          <p:cNvSpPr txBox="true"/>
          <p:nvPr/>
        </p:nvSpPr>
        <p:spPr>
          <a:xfrm rot="0">
            <a:off x="12149710" y="6833397"/>
            <a:ext cx="7498697" cy="4832876"/>
          </a:xfrm>
          <a:prstGeom prst="rect">
            <a:avLst/>
          </a:prstGeom>
        </p:spPr>
        <p:txBody>
          <a:bodyPr anchor="t" rtlCol="false" tIns="0" lIns="0" bIns="0" rIns="0">
            <a:spAutoFit/>
          </a:bodyPr>
          <a:lstStyle/>
          <a:p>
            <a:pPr algn="ctr">
              <a:lnSpc>
                <a:spcPts val="35614"/>
              </a:lnSpc>
            </a:pPr>
            <a:r>
              <a:rPr lang="en-US" b="true" sz="37888" spc="-1856">
                <a:solidFill>
                  <a:srgbClr val="343434"/>
                </a:solidFill>
                <a:latin typeface="TT Hoves Bold"/>
                <a:ea typeface="TT Hoves Bold"/>
                <a:cs typeface="TT Hoves Bold"/>
                <a:sym typeface="TT Hoves Bold"/>
              </a:rPr>
              <a:t>08</a:t>
            </a:r>
          </a:p>
        </p:txBody>
      </p:sp>
      <p:graphicFrame>
        <p:nvGraphicFramePr>
          <p:cNvPr name="Object 8" id="8"/>
          <p:cNvGraphicFramePr/>
          <p:nvPr/>
        </p:nvGraphicFramePr>
        <p:xfrm>
          <a:off x="8539956" y="4546431"/>
          <a:ext cx="3771900" cy="6286500"/>
        </p:xfrm>
        <a:graphic>
          <a:graphicData uri="http://schemas.openxmlformats.org/presentationml/2006/ole">
            <p:oleObj imgW="5029200" imgH="75438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9" id="9"/>
          <p:cNvSpPr txBox="true"/>
          <p:nvPr/>
        </p:nvSpPr>
        <p:spPr>
          <a:xfrm rot="0">
            <a:off x="1941416" y="4508331"/>
            <a:ext cx="6183455" cy="4339308"/>
          </a:xfrm>
          <a:prstGeom prst="rect">
            <a:avLst/>
          </a:prstGeom>
        </p:spPr>
        <p:txBody>
          <a:bodyPr anchor="t" rtlCol="false" tIns="0" lIns="0" bIns="0" rIns="0">
            <a:spAutoFit/>
          </a:bodyPr>
          <a:lstStyle/>
          <a:p>
            <a:pPr algn="just" marL="0" indent="0" lvl="0">
              <a:lnSpc>
                <a:spcPts val="2930"/>
              </a:lnSpc>
              <a:spcBef>
                <a:spcPct val="0"/>
              </a:spcBef>
            </a:pPr>
            <a:r>
              <a:rPr lang="en-US" sz="2171" spc="130">
                <a:solidFill>
                  <a:srgbClr val="343434"/>
                </a:solidFill>
                <a:latin typeface="TT Hoves"/>
                <a:ea typeface="TT Hoves"/>
                <a:cs typeface="TT Hoves"/>
                <a:sym typeface="TT Hoves"/>
              </a:rPr>
              <a:t>D</a:t>
            </a:r>
            <a:r>
              <a:rPr lang="en-US" sz="2171" spc="130" u="none">
                <a:solidFill>
                  <a:srgbClr val="343434"/>
                </a:solidFill>
                <a:latin typeface="TT Hoves"/>
                <a:ea typeface="TT Hoves"/>
                <a:cs typeface="TT Hoves"/>
                <a:sym typeface="TT Hoves"/>
              </a:rPr>
              <a:t>ataset ini berisi 8.000 sampel data pengguna dengan 12 kolom fitur, termasuk variabel target is_churned yang menunjukkan apakah pengguna berhenti berlangganan atau tetap aktif.</a:t>
            </a:r>
          </a:p>
          <a:p>
            <a:pPr algn="just" marL="0" indent="0" lvl="0">
              <a:lnSpc>
                <a:spcPts val="2930"/>
              </a:lnSpc>
              <a:spcBef>
                <a:spcPct val="0"/>
              </a:spcBef>
            </a:pPr>
            <a:r>
              <a:rPr lang="en-US" sz="2171" spc="130" u="none">
                <a:solidFill>
                  <a:srgbClr val="343434"/>
                </a:solidFill>
                <a:latin typeface="TT Hoves"/>
                <a:ea typeface="TT Hoves"/>
                <a:cs typeface="TT Hoves"/>
                <a:sym typeface="TT Hoves"/>
              </a:rPr>
              <a:t> Data ini mencakup informasi demografis, aktivitas mendengarkan musik, serta interaksi pengguna dengan iklan. Melalui dataset ini, kita dapat menganalisis faktor-faktor yang memengaruhi perilaku pengguna Spotify dan membangun model prediksi untuk meningkatkan retensi pelanggan.</a:t>
            </a:r>
          </a:p>
        </p:txBody>
      </p:sp>
      <p:sp>
        <p:nvSpPr>
          <p:cNvPr name="TextBox 10" id="10"/>
          <p:cNvSpPr txBox="true"/>
          <p:nvPr/>
        </p:nvSpPr>
        <p:spPr>
          <a:xfrm rot="0">
            <a:off x="1947773" y="294428"/>
            <a:ext cx="8224100" cy="1095303"/>
          </a:xfrm>
          <a:prstGeom prst="rect">
            <a:avLst/>
          </a:prstGeom>
        </p:spPr>
        <p:txBody>
          <a:bodyPr anchor="t" rtlCol="false" tIns="0" lIns="0" bIns="0" rIns="0">
            <a:spAutoFit/>
          </a:bodyPr>
          <a:lstStyle/>
          <a:p>
            <a:pPr algn="just">
              <a:lnSpc>
                <a:spcPts val="8396"/>
              </a:lnSpc>
            </a:pPr>
            <a:r>
              <a:rPr lang="en-US" b="true" sz="7996" spc="-391">
                <a:solidFill>
                  <a:srgbClr val="343434"/>
                </a:solidFill>
                <a:latin typeface="TT Hoves Bold"/>
                <a:ea typeface="TT Hoves Bold"/>
                <a:cs typeface="TT Hoves Bold"/>
                <a:sym typeface="TT Hoves Bold"/>
              </a:rPr>
              <a:t>About Dataset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2007223" y="1698999"/>
            <a:ext cx="2197323" cy="679451"/>
          </a:xfrm>
          <a:prstGeom prst="rect">
            <a:avLst/>
          </a:prstGeom>
        </p:spPr>
        <p:txBody>
          <a:bodyPr anchor="t" rtlCol="false" tIns="0" lIns="0" bIns="0" rIns="0">
            <a:spAutoFit/>
          </a:bodyPr>
          <a:lstStyle/>
          <a:p>
            <a:pPr algn="just">
              <a:lnSpc>
                <a:spcPts val="5150"/>
              </a:lnSpc>
            </a:pPr>
            <a:r>
              <a:rPr lang="en-US" b="true" sz="5000">
                <a:solidFill>
                  <a:srgbClr val="343434"/>
                </a:solidFill>
                <a:latin typeface="TT Hoves Bold"/>
                <a:ea typeface="TT Hoves Bold"/>
                <a:cs typeface="TT Hoves Bold"/>
                <a:sym typeface="TT Hoves Bold"/>
              </a:rPr>
              <a:t>01</a:t>
            </a:r>
          </a:p>
        </p:txBody>
      </p:sp>
      <p:sp>
        <p:nvSpPr>
          <p:cNvPr name="TextBox 3" id="3"/>
          <p:cNvSpPr txBox="true"/>
          <p:nvPr/>
        </p:nvSpPr>
        <p:spPr>
          <a:xfrm rot="0">
            <a:off x="2007223" y="5274145"/>
            <a:ext cx="2197323" cy="679451"/>
          </a:xfrm>
          <a:prstGeom prst="rect">
            <a:avLst/>
          </a:prstGeom>
        </p:spPr>
        <p:txBody>
          <a:bodyPr anchor="t" rtlCol="false" tIns="0" lIns="0" bIns="0" rIns="0">
            <a:spAutoFit/>
          </a:bodyPr>
          <a:lstStyle/>
          <a:p>
            <a:pPr algn="just">
              <a:lnSpc>
                <a:spcPts val="5150"/>
              </a:lnSpc>
            </a:pPr>
            <a:r>
              <a:rPr lang="en-US" b="true" sz="5000">
                <a:solidFill>
                  <a:srgbClr val="343434"/>
                </a:solidFill>
                <a:latin typeface="TT Hoves Bold"/>
                <a:ea typeface="TT Hoves Bold"/>
                <a:cs typeface="TT Hoves Bold"/>
                <a:sym typeface="TT Hoves Bold"/>
              </a:rPr>
              <a:t>03</a:t>
            </a:r>
          </a:p>
        </p:txBody>
      </p:sp>
      <p:sp>
        <p:nvSpPr>
          <p:cNvPr name="TextBox 4" id="4"/>
          <p:cNvSpPr txBox="true"/>
          <p:nvPr/>
        </p:nvSpPr>
        <p:spPr>
          <a:xfrm rot="0">
            <a:off x="2007223" y="2511800"/>
            <a:ext cx="2646492" cy="765811"/>
          </a:xfrm>
          <a:prstGeom prst="rect">
            <a:avLst/>
          </a:prstGeom>
        </p:spPr>
        <p:txBody>
          <a:bodyPr anchor="t" rtlCol="false" tIns="0" lIns="0" bIns="0" rIns="0">
            <a:spAutoFit/>
          </a:bodyPr>
          <a:lstStyle/>
          <a:p>
            <a:pPr algn="just">
              <a:lnSpc>
                <a:spcPts val="3119"/>
              </a:lnSpc>
            </a:pPr>
            <a:r>
              <a:rPr lang="en-US" b="true" sz="1999">
                <a:solidFill>
                  <a:srgbClr val="343434"/>
                </a:solidFill>
                <a:latin typeface="TT Hoves Bold"/>
                <a:ea typeface="TT Hoves Bold"/>
                <a:cs typeface="TT Hoves Bold"/>
                <a:sym typeface="TT Hoves Bold"/>
              </a:rPr>
              <a:t>Data Understanding &amp; EDA</a:t>
            </a:r>
          </a:p>
        </p:txBody>
      </p:sp>
      <p:sp>
        <p:nvSpPr>
          <p:cNvPr name="TextBox 5" id="5"/>
          <p:cNvSpPr txBox="true"/>
          <p:nvPr/>
        </p:nvSpPr>
        <p:spPr>
          <a:xfrm rot="0">
            <a:off x="2007223" y="6086946"/>
            <a:ext cx="2732862" cy="765811"/>
          </a:xfrm>
          <a:prstGeom prst="rect">
            <a:avLst/>
          </a:prstGeom>
        </p:spPr>
        <p:txBody>
          <a:bodyPr anchor="t" rtlCol="false" tIns="0" lIns="0" bIns="0" rIns="0">
            <a:spAutoFit/>
          </a:bodyPr>
          <a:lstStyle/>
          <a:p>
            <a:pPr algn="just">
              <a:lnSpc>
                <a:spcPts val="3119"/>
              </a:lnSpc>
            </a:pPr>
            <a:r>
              <a:rPr lang="en-US" b="true" sz="1999">
                <a:solidFill>
                  <a:srgbClr val="343434"/>
                </a:solidFill>
                <a:latin typeface="TT Hoves Bold"/>
                <a:ea typeface="TT Hoves Bold"/>
                <a:cs typeface="TT Hoves Bold"/>
                <a:sym typeface="TT Hoves Bold"/>
              </a:rPr>
              <a:t>Build Machine Learning Model</a:t>
            </a:r>
          </a:p>
        </p:txBody>
      </p:sp>
      <p:sp>
        <p:nvSpPr>
          <p:cNvPr name="TextBox 6" id="6"/>
          <p:cNvSpPr txBox="true"/>
          <p:nvPr/>
        </p:nvSpPr>
        <p:spPr>
          <a:xfrm rot="0">
            <a:off x="6616921" y="1698999"/>
            <a:ext cx="2197323" cy="679451"/>
          </a:xfrm>
          <a:prstGeom prst="rect">
            <a:avLst/>
          </a:prstGeom>
        </p:spPr>
        <p:txBody>
          <a:bodyPr anchor="t" rtlCol="false" tIns="0" lIns="0" bIns="0" rIns="0">
            <a:spAutoFit/>
          </a:bodyPr>
          <a:lstStyle/>
          <a:p>
            <a:pPr algn="just">
              <a:lnSpc>
                <a:spcPts val="5150"/>
              </a:lnSpc>
            </a:pPr>
            <a:r>
              <a:rPr lang="en-US" b="true" sz="5000">
                <a:solidFill>
                  <a:srgbClr val="343434"/>
                </a:solidFill>
                <a:latin typeface="TT Hoves Bold"/>
                <a:ea typeface="TT Hoves Bold"/>
                <a:cs typeface="TT Hoves Bold"/>
                <a:sym typeface="TT Hoves Bold"/>
              </a:rPr>
              <a:t>02</a:t>
            </a:r>
          </a:p>
        </p:txBody>
      </p:sp>
      <p:sp>
        <p:nvSpPr>
          <p:cNvPr name="TextBox 7" id="7"/>
          <p:cNvSpPr txBox="true"/>
          <p:nvPr/>
        </p:nvSpPr>
        <p:spPr>
          <a:xfrm rot="0">
            <a:off x="6616921" y="2511800"/>
            <a:ext cx="2747991" cy="765811"/>
          </a:xfrm>
          <a:prstGeom prst="rect">
            <a:avLst/>
          </a:prstGeom>
        </p:spPr>
        <p:txBody>
          <a:bodyPr anchor="t" rtlCol="false" tIns="0" lIns="0" bIns="0" rIns="0">
            <a:spAutoFit/>
          </a:bodyPr>
          <a:lstStyle/>
          <a:p>
            <a:pPr algn="just">
              <a:lnSpc>
                <a:spcPts val="3119"/>
              </a:lnSpc>
            </a:pPr>
            <a:r>
              <a:rPr lang="en-US" b="true" sz="1999">
                <a:solidFill>
                  <a:srgbClr val="343434"/>
                </a:solidFill>
                <a:latin typeface="TT Hoves Bold"/>
                <a:ea typeface="TT Hoves Bold"/>
                <a:cs typeface="TT Hoves Bold"/>
                <a:sym typeface="TT Hoves Bold"/>
              </a:rPr>
              <a:t>Data Cleaning &amp; Data Prepocessing</a:t>
            </a:r>
          </a:p>
        </p:txBody>
      </p:sp>
      <p:sp>
        <p:nvSpPr>
          <p:cNvPr name="TextBox 8" id="8"/>
          <p:cNvSpPr txBox="true"/>
          <p:nvPr/>
        </p:nvSpPr>
        <p:spPr>
          <a:xfrm rot="0">
            <a:off x="6616921" y="5274145"/>
            <a:ext cx="2197323" cy="679451"/>
          </a:xfrm>
          <a:prstGeom prst="rect">
            <a:avLst/>
          </a:prstGeom>
        </p:spPr>
        <p:txBody>
          <a:bodyPr anchor="t" rtlCol="false" tIns="0" lIns="0" bIns="0" rIns="0">
            <a:spAutoFit/>
          </a:bodyPr>
          <a:lstStyle/>
          <a:p>
            <a:pPr algn="just">
              <a:lnSpc>
                <a:spcPts val="5150"/>
              </a:lnSpc>
            </a:pPr>
            <a:r>
              <a:rPr lang="en-US" b="true" sz="5000">
                <a:solidFill>
                  <a:srgbClr val="343434"/>
                </a:solidFill>
                <a:latin typeface="TT Hoves Bold"/>
                <a:ea typeface="TT Hoves Bold"/>
                <a:cs typeface="TT Hoves Bold"/>
                <a:sym typeface="TT Hoves Bold"/>
              </a:rPr>
              <a:t>04</a:t>
            </a:r>
          </a:p>
        </p:txBody>
      </p:sp>
      <p:sp>
        <p:nvSpPr>
          <p:cNvPr name="TextBox 9" id="9"/>
          <p:cNvSpPr txBox="true"/>
          <p:nvPr/>
        </p:nvSpPr>
        <p:spPr>
          <a:xfrm rot="0">
            <a:off x="6616921" y="6086946"/>
            <a:ext cx="2646492" cy="765811"/>
          </a:xfrm>
          <a:prstGeom prst="rect">
            <a:avLst/>
          </a:prstGeom>
        </p:spPr>
        <p:txBody>
          <a:bodyPr anchor="t" rtlCol="false" tIns="0" lIns="0" bIns="0" rIns="0">
            <a:spAutoFit/>
          </a:bodyPr>
          <a:lstStyle/>
          <a:p>
            <a:pPr algn="just">
              <a:lnSpc>
                <a:spcPts val="3119"/>
              </a:lnSpc>
            </a:pPr>
            <a:r>
              <a:rPr lang="en-US" b="true" sz="1999">
                <a:solidFill>
                  <a:srgbClr val="343434"/>
                </a:solidFill>
                <a:latin typeface="TT Hoves Bold"/>
                <a:ea typeface="TT Hoves Bold"/>
                <a:cs typeface="TT Hoves Bold"/>
                <a:sym typeface="TT Hoves Bold"/>
              </a:rPr>
              <a:t>Insight and Recomendation</a:t>
            </a:r>
          </a:p>
        </p:txBody>
      </p:sp>
      <p:grpSp>
        <p:nvGrpSpPr>
          <p:cNvPr name="Group 10" id="10"/>
          <p:cNvGrpSpPr/>
          <p:nvPr/>
        </p:nvGrpSpPr>
        <p:grpSpPr>
          <a:xfrm rot="0">
            <a:off x="1547478" y="1755600"/>
            <a:ext cx="273982" cy="245024"/>
            <a:chOff x="0" y="0"/>
            <a:chExt cx="91718" cy="82024"/>
          </a:xfrm>
        </p:grpSpPr>
        <p:sp>
          <p:nvSpPr>
            <p:cNvPr name="Freeform 11" id="11"/>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12" id="12"/>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grpSp>
        <p:nvGrpSpPr>
          <p:cNvPr name="Group 13" id="13"/>
          <p:cNvGrpSpPr/>
          <p:nvPr/>
        </p:nvGrpSpPr>
        <p:grpSpPr>
          <a:xfrm rot="0">
            <a:off x="1547478" y="5330746"/>
            <a:ext cx="273982" cy="245024"/>
            <a:chOff x="0" y="0"/>
            <a:chExt cx="91718" cy="82024"/>
          </a:xfrm>
        </p:grpSpPr>
        <p:sp>
          <p:nvSpPr>
            <p:cNvPr name="Freeform 14" id="14"/>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15" id="15"/>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grpSp>
        <p:nvGrpSpPr>
          <p:cNvPr name="Group 16" id="16"/>
          <p:cNvGrpSpPr/>
          <p:nvPr/>
        </p:nvGrpSpPr>
        <p:grpSpPr>
          <a:xfrm rot="0">
            <a:off x="6200012" y="5330746"/>
            <a:ext cx="273982" cy="245024"/>
            <a:chOff x="0" y="0"/>
            <a:chExt cx="91718" cy="82024"/>
          </a:xfrm>
        </p:grpSpPr>
        <p:sp>
          <p:nvSpPr>
            <p:cNvPr name="Freeform 17" id="17"/>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18" id="18"/>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grpSp>
        <p:nvGrpSpPr>
          <p:cNvPr name="Group 19" id="19"/>
          <p:cNvGrpSpPr/>
          <p:nvPr/>
        </p:nvGrpSpPr>
        <p:grpSpPr>
          <a:xfrm rot="0">
            <a:off x="6200012" y="1755600"/>
            <a:ext cx="273982" cy="245024"/>
            <a:chOff x="0" y="0"/>
            <a:chExt cx="91718" cy="82024"/>
          </a:xfrm>
        </p:grpSpPr>
        <p:sp>
          <p:nvSpPr>
            <p:cNvPr name="Freeform 20" id="20"/>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21" id="21"/>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sp>
        <p:nvSpPr>
          <p:cNvPr name="TextBox 22" id="22"/>
          <p:cNvSpPr txBox="true"/>
          <p:nvPr/>
        </p:nvSpPr>
        <p:spPr>
          <a:xfrm rot="0">
            <a:off x="10324016" y="6156795"/>
            <a:ext cx="6935284" cy="2512947"/>
          </a:xfrm>
          <a:prstGeom prst="rect">
            <a:avLst/>
          </a:prstGeom>
        </p:spPr>
        <p:txBody>
          <a:bodyPr anchor="t" rtlCol="false" tIns="0" lIns="0" bIns="0" rIns="0">
            <a:spAutoFit/>
          </a:bodyPr>
          <a:lstStyle/>
          <a:p>
            <a:pPr algn="r">
              <a:lnSpc>
                <a:spcPts val="9141"/>
              </a:lnSpc>
            </a:pPr>
            <a:r>
              <a:rPr lang="en-US" b="true" sz="12696" spc="-622">
                <a:solidFill>
                  <a:srgbClr val="343434"/>
                </a:solidFill>
                <a:latin typeface="TT Hoves Bold"/>
                <a:ea typeface="TT Hoves Bold"/>
                <a:cs typeface="TT Hoves Bold"/>
                <a:sym typeface="TT Hoves Bold"/>
              </a:rPr>
              <a:t>Project process</a:t>
            </a:r>
          </a:p>
        </p:txBody>
      </p:sp>
      <p:sp>
        <p:nvSpPr>
          <p:cNvPr name="Freeform 23" id="23"/>
          <p:cNvSpPr/>
          <p:nvPr/>
        </p:nvSpPr>
        <p:spPr>
          <a:xfrm flipH="false" flipV="false" rot="0">
            <a:off x="9555412" y="-7939543"/>
            <a:ext cx="14102688" cy="14102688"/>
          </a:xfrm>
          <a:custGeom>
            <a:avLst/>
            <a:gdLst/>
            <a:ahLst/>
            <a:cxnLst/>
            <a:rect r="r" b="b" t="t" l="l"/>
            <a:pathLst>
              <a:path h="14102688" w="14102688">
                <a:moveTo>
                  <a:pt x="0" y="0"/>
                </a:moveTo>
                <a:lnTo>
                  <a:pt x="14102688" y="0"/>
                </a:lnTo>
                <a:lnTo>
                  <a:pt x="14102688" y="14102689"/>
                </a:lnTo>
                <a:lnTo>
                  <a:pt x="0" y="1410268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24" id="24"/>
          <p:cNvSpPr txBox="true"/>
          <p:nvPr/>
        </p:nvSpPr>
        <p:spPr>
          <a:xfrm rot="0">
            <a:off x="12880286" y="-327462"/>
            <a:ext cx="6393149" cy="4116084"/>
          </a:xfrm>
          <a:prstGeom prst="rect">
            <a:avLst/>
          </a:prstGeom>
        </p:spPr>
        <p:txBody>
          <a:bodyPr anchor="t" rtlCol="false" tIns="0" lIns="0" bIns="0" rIns="0">
            <a:spAutoFit/>
          </a:bodyPr>
          <a:lstStyle/>
          <a:p>
            <a:pPr algn="ctr">
              <a:lnSpc>
                <a:spcPts val="30364"/>
              </a:lnSpc>
            </a:pPr>
            <a:r>
              <a:rPr lang="en-US" b="true" sz="32302" spc="-1582">
                <a:solidFill>
                  <a:srgbClr val="343434"/>
                </a:solidFill>
                <a:latin typeface="TT Hoves Bold"/>
                <a:ea typeface="TT Hoves Bold"/>
                <a:cs typeface="TT Hoves Bold"/>
                <a:sym typeface="TT Hoves Bold"/>
              </a:rPr>
              <a:t>09</a:t>
            </a:r>
          </a:p>
        </p:txBody>
      </p:sp>
      <p:grpSp>
        <p:nvGrpSpPr>
          <p:cNvPr name="Group 25" id="25"/>
          <p:cNvGrpSpPr/>
          <p:nvPr/>
        </p:nvGrpSpPr>
        <p:grpSpPr>
          <a:xfrm rot="0">
            <a:off x="-696258" y="9258300"/>
            <a:ext cx="19680517" cy="1115933"/>
            <a:chOff x="0" y="0"/>
            <a:chExt cx="5183346" cy="293908"/>
          </a:xfrm>
        </p:grpSpPr>
        <p:sp>
          <p:nvSpPr>
            <p:cNvPr name="Freeform 26" id="26"/>
            <p:cNvSpPr/>
            <p:nvPr/>
          </p:nvSpPr>
          <p:spPr>
            <a:xfrm flipH="false" flipV="false" rot="0">
              <a:off x="0" y="0"/>
              <a:ext cx="5183346" cy="293908"/>
            </a:xfrm>
            <a:custGeom>
              <a:avLst/>
              <a:gdLst/>
              <a:ahLst/>
              <a:cxnLst/>
              <a:rect r="r" b="b" t="t" l="l"/>
              <a:pathLst>
                <a:path h="293908" w="5183346">
                  <a:moveTo>
                    <a:pt x="0" y="0"/>
                  </a:moveTo>
                  <a:lnTo>
                    <a:pt x="5183346" y="0"/>
                  </a:lnTo>
                  <a:lnTo>
                    <a:pt x="5183346" y="293908"/>
                  </a:lnTo>
                  <a:lnTo>
                    <a:pt x="0" y="293908"/>
                  </a:lnTo>
                  <a:close/>
                </a:path>
              </a:pathLst>
            </a:custGeom>
            <a:solidFill>
              <a:srgbClr val="0003FF"/>
            </a:solidFill>
          </p:spPr>
        </p:sp>
        <p:sp>
          <p:nvSpPr>
            <p:cNvPr name="TextBox 27" id="27"/>
            <p:cNvSpPr txBox="true"/>
            <p:nvPr/>
          </p:nvSpPr>
          <p:spPr>
            <a:xfrm>
              <a:off x="0" y="-57150"/>
              <a:ext cx="5183346" cy="351058"/>
            </a:xfrm>
            <a:prstGeom prst="rect">
              <a:avLst/>
            </a:prstGeom>
          </p:spPr>
          <p:txBody>
            <a:bodyPr anchor="ctr" rtlCol="false" tIns="50800" lIns="50800" bIns="50800" rIns="50800"/>
            <a:lstStyle/>
            <a:p>
              <a:pPr algn="ctr">
                <a:lnSpc>
                  <a:spcPts val="3639"/>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11672061" y="1025292"/>
            <a:ext cx="5587239" cy="2662922"/>
            <a:chOff x="0" y="0"/>
            <a:chExt cx="2065940" cy="984643"/>
          </a:xfrm>
        </p:grpSpPr>
        <p:sp>
          <p:nvSpPr>
            <p:cNvPr name="Freeform 3" id="3"/>
            <p:cNvSpPr/>
            <p:nvPr/>
          </p:nvSpPr>
          <p:spPr>
            <a:xfrm flipH="false" flipV="false" rot="0">
              <a:off x="0" y="0"/>
              <a:ext cx="2065940" cy="984643"/>
            </a:xfrm>
            <a:custGeom>
              <a:avLst/>
              <a:gdLst/>
              <a:ahLst/>
              <a:cxnLst/>
              <a:rect r="r" b="b" t="t" l="l"/>
              <a:pathLst>
                <a:path h="984643" w="2065940">
                  <a:moveTo>
                    <a:pt x="0" y="0"/>
                  </a:moveTo>
                  <a:lnTo>
                    <a:pt x="2065940" y="0"/>
                  </a:lnTo>
                  <a:lnTo>
                    <a:pt x="2065940" y="984643"/>
                  </a:lnTo>
                  <a:lnTo>
                    <a:pt x="0" y="984643"/>
                  </a:lnTo>
                  <a:close/>
                </a:path>
              </a:pathLst>
            </a:custGeom>
            <a:solidFill>
              <a:srgbClr val="0003FF"/>
            </a:solidFill>
            <a:ln cap="sq">
              <a:noFill/>
              <a:prstDash val="solid"/>
              <a:miter/>
            </a:ln>
          </p:spPr>
        </p:sp>
        <p:sp>
          <p:nvSpPr>
            <p:cNvPr name="TextBox 4" id="4"/>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3416809" y="7139097"/>
            <a:ext cx="6393149" cy="4116084"/>
          </a:xfrm>
          <a:prstGeom prst="rect">
            <a:avLst/>
          </a:prstGeom>
        </p:spPr>
        <p:txBody>
          <a:bodyPr anchor="t" rtlCol="false" tIns="0" lIns="0" bIns="0" rIns="0">
            <a:spAutoFit/>
          </a:bodyPr>
          <a:lstStyle/>
          <a:p>
            <a:pPr algn="ctr">
              <a:lnSpc>
                <a:spcPts val="30364"/>
              </a:lnSpc>
            </a:pPr>
            <a:r>
              <a:rPr lang="en-US" b="true" sz="32302" spc="-1582">
                <a:solidFill>
                  <a:srgbClr val="343434"/>
                </a:solidFill>
                <a:latin typeface="TT Hoves Bold"/>
                <a:ea typeface="TT Hoves Bold"/>
                <a:cs typeface="TT Hoves Bold"/>
                <a:sym typeface="TT Hoves Bold"/>
              </a:rPr>
              <a:t>10</a:t>
            </a:r>
          </a:p>
        </p:txBody>
      </p:sp>
      <p:grpSp>
        <p:nvGrpSpPr>
          <p:cNvPr name="Group 6" id="6"/>
          <p:cNvGrpSpPr/>
          <p:nvPr/>
        </p:nvGrpSpPr>
        <p:grpSpPr>
          <a:xfrm rot="0">
            <a:off x="11672061" y="3808631"/>
            <a:ext cx="5587239" cy="2662922"/>
            <a:chOff x="0" y="0"/>
            <a:chExt cx="2065940" cy="984643"/>
          </a:xfrm>
        </p:grpSpPr>
        <p:sp>
          <p:nvSpPr>
            <p:cNvPr name="Freeform 7" id="7"/>
            <p:cNvSpPr/>
            <p:nvPr/>
          </p:nvSpPr>
          <p:spPr>
            <a:xfrm flipH="false" flipV="false" rot="0">
              <a:off x="0" y="0"/>
              <a:ext cx="2065940" cy="984643"/>
            </a:xfrm>
            <a:custGeom>
              <a:avLst/>
              <a:gdLst/>
              <a:ahLst/>
              <a:cxnLst/>
              <a:rect r="r" b="b" t="t" l="l"/>
              <a:pathLst>
                <a:path h="984643" w="2065940">
                  <a:moveTo>
                    <a:pt x="0" y="0"/>
                  </a:moveTo>
                  <a:lnTo>
                    <a:pt x="2065940" y="0"/>
                  </a:lnTo>
                  <a:lnTo>
                    <a:pt x="2065940" y="984643"/>
                  </a:lnTo>
                  <a:lnTo>
                    <a:pt x="0" y="984643"/>
                  </a:lnTo>
                  <a:close/>
                </a:path>
              </a:pathLst>
            </a:custGeom>
            <a:solidFill>
              <a:srgbClr val="0003FF"/>
            </a:solidFill>
            <a:ln cap="sq">
              <a:noFill/>
              <a:prstDash val="solid"/>
              <a:miter/>
            </a:ln>
          </p:spPr>
        </p:sp>
        <p:sp>
          <p:nvSpPr>
            <p:cNvPr name="TextBox 8" id="8"/>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11672061" y="6595378"/>
            <a:ext cx="5587239" cy="2662922"/>
            <a:chOff x="0" y="0"/>
            <a:chExt cx="2065940" cy="984643"/>
          </a:xfrm>
        </p:grpSpPr>
        <p:sp>
          <p:nvSpPr>
            <p:cNvPr name="Freeform 10" id="10"/>
            <p:cNvSpPr/>
            <p:nvPr/>
          </p:nvSpPr>
          <p:spPr>
            <a:xfrm flipH="false" flipV="false" rot="0">
              <a:off x="0" y="0"/>
              <a:ext cx="2065940" cy="984643"/>
            </a:xfrm>
            <a:custGeom>
              <a:avLst/>
              <a:gdLst/>
              <a:ahLst/>
              <a:cxnLst/>
              <a:rect r="r" b="b" t="t" l="l"/>
              <a:pathLst>
                <a:path h="984643" w="2065940">
                  <a:moveTo>
                    <a:pt x="0" y="0"/>
                  </a:moveTo>
                  <a:lnTo>
                    <a:pt x="2065940" y="0"/>
                  </a:lnTo>
                  <a:lnTo>
                    <a:pt x="2065940" y="984643"/>
                  </a:lnTo>
                  <a:lnTo>
                    <a:pt x="0" y="984643"/>
                  </a:lnTo>
                  <a:close/>
                </a:path>
              </a:pathLst>
            </a:custGeom>
            <a:solidFill>
              <a:srgbClr val="0003FF"/>
            </a:solidFill>
            <a:ln cap="sq">
              <a:noFill/>
              <a:prstDash val="solid"/>
              <a:miter/>
            </a:ln>
          </p:spPr>
        </p:sp>
        <p:sp>
          <p:nvSpPr>
            <p:cNvPr name="TextBox 11" id="11"/>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2" id="12"/>
          <p:cNvSpPr/>
          <p:nvPr/>
        </p:nvSpPr>
        <p:spPr>
          <a:xfrm flipH="false" flipV="false" rot="0">
            <a:off x="-3126789" y="-2986203"/>
            <a:ext cx="9584989" cy="9584989"/>
          </a:xfrm>
          <a:custGeom>
            <a:avLst/>
            <a:gdLst/>
            <a:ahLst/>
            <a:cxnLst/>
            <a:rect r="r" b="b" t="t" l="l"/>
            <a:pathLst>
              <a:path h="9584989" w="9584989">
                <a:moveTo>
                  <a:pt x="0" y="0"/>
                </a:moveTo>
                <a:lnTo>
                  <a:pt x="9584989" y="0"/>
                </a:lnTo>
                <a:lnTo>
                  <a:pt x="9584989" y="9584989"/>
                </a:lnTo>
                <a:lnTo>
                  <a:pt x="0" y="958498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1028700" y="1028700"/>
            <a:ext cx="5587239" cy="2662922"/>
            <a:chOff x="0" y="0"/>
            <a:chExt cx="2065940" cy="984643"/>
          </a:xfrm>
        </p:grpSpPr>
        <p:sp>
          <p:nvSpPr>
            <p:cNvPr name="Freeform 14" id="14"/>
            <p:cNvSpPr/>
            <p:nvPr/>
          </p:nvSpPr>
          <p:spPr>
            <a:xfrm flipH="false" flipV="false" rot="0">
              <a:off x="0" y="0"/>
              <a:ext cx="2065940" cy="984643"/>
            </a:xfrm>
            <a:custGeom>
              <a:avLst/>
              <a:gdLst/>
              <a:ahLst/>
              <a:cxnLst/>
              <a:rect r="r" b="b" t="t" l="l"/>
              <a:pathLst>
                <a:path h="984643" w="2065940">
                  <a:moveTo>
                    <a:pt x="0" y="0"/>
                  </a:moveTo>
                  <a:lnTo>
                    <a:pt x="2065940" y="0"/>
                  </a:lnTo>
                  <a:lnTo>
                    <a:pt x="2065940" y="984643"/>
                  </a:lnTo>
                  <a:lnTo>
                    <a:pt x="0" y="984643"/>
                  </a:lnTo>
                  <a:close/>
                </a:path>
              </a:pathLst>
            </a:custGeom>
            <a:solidFill>
              <a:srgbClr val="0003FF"/>
            </a:solidFill>
            <a:ln cap="sq">
              <a:noFill/>
              <a:prstDash val="solid"/>
              <a:miter/>
            </a:ln>
          </p:spPr>
        </p:sp>
        <p:sp>
          <p:nvSpPr>
            <p:cNvPr name="TextBox 15" id="15"/>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6" id="16"/>
          <p:cNvGrpSpPr/>
          <p:nvPr/>
        </p:nvGrpSpPr>
        <p:grpSpPr>
          <a:xfrm rot="0">
            <a:off x="1028700" y="3812039"/>
            <a:ext cx="5587239" cy="2662922"/>
            <a:chOff x="0" y="0"/>
            <a:chExt cx="2065940" cy="984643"/>
          </a:xfrm>
        </p:grpSpPr>
        <p:sp>
          <p:nvSpPr>
            <p:cNvPr name="Freeform 17" id="17"/>
            <p:cNvSpPr/>
            <p:nvPr/>
          </p:nvSpPr>
          <p:spPr>
            <a:xfrm flipH="false" flipV="false" rot="0">
              <a:off x="0" y="0"/>
              <a:ext cx="2065940" cy="984643"/>
            </a:xfrm>
            <a:custGeom>
              <a:avLst/>
              <a:gdLst/>
              <a:ahLst/>
              <a:cxnLst/>
              <a:rect r="r" b="b" t="t" l="l"/>
              <a:pathLst>
                <a:path h="984643" w="2065940">
                  <a:moveTo>
                    <a:pt x="0" y="0"/>
                  </a:moveTo>
                  <a:lnTo>
                    <a:pt x="2065940" y="0"/>
                  </a:lnTo>
                  <a:lnTo>
                    <a:pt x="2065940" y="984643"/>
                  </a:lnTo>
                  <a:lnTo>
                    <a:pt x="0" y="984643"/>
                  </a:lnTo>
                  <a:close/>
                </a:path>
              </a:pathLst>
            </a:custGeom>
            <a:solidFill>
              <a:srgbClr val="0003FF"/>
            </a:solidFill>
            <a:ln cap="sq">
              <a:noFill/>
              <a:prstDash val="solid"/>
              <a:miter/>
            </a:ln>
          </p:spPr>
        </p:sp>
        <p:sp>
          <p:nvSpPr>
            <p:cNvPr name="TextBox 18" id="18"/>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9" id="19"/>
          <p:cNvGrpSpPr/>
          <p:nvPr/>
        </p:nvGrpSpPr>
        <p:grpSpPr>
          <a:xfrm rot="0">
            <a:off x="1028700" y="6598786"/>
            <a:ext cx="5587239" cy="2662922"/>
            <a:chOff x="0" y="0"/>
            <a:chExt cx="2065940" cy="984643"/>
          </a:xfrm>
        </p:grpSpPr>
        <p:sp>
          <p:nvSpPr>
            <p:cNvPr name="Freeform 20" id="20"/>
            <p:cNvSpPr/>
            <p:nvPr/>
          </p:nvSpPr>
          <p:spPr>
            <a:xfrm flipH="false" flipV="false" rot="0">
              <a:off x="0" y="0"/>
              <a:ext cx="2065940" cy="984643"/>
            </a:xfrm>
            <a:custGeom>
              <a:avLst/>
              <a:gdLst/>
              <a:ahLst/>
              <a:cxnLst/>
              <a:rect r="r" b="b" t="t" l="l"/>
              <a:pathLst>
                <a:path h="984643" w="2065940">
                  <a:moveTo>
                    <a:pt x="0" y="0"/>
                  </a:moveTo>
                  <a:lnTo>
                    <a:pt x="2065940" y="0"/>
                  </a:lnTo>
                  <a:lnTo>
                    <a:pt x="2065940" y="984643"/>
                  </a:lnTo>
                  <a:lnTo>
                    <a:pt x="0" y="984643"/>
                  </a:lnTo>
                  <a:close/>
                </a:path>
              </a:pathLst>
            </a:custGeom>
            <a:solidFill>
              <a:srgbClr val="0003FF"/>
            </a:solidFill>
            <a:ln cap="sq">
              <a:noFill/>
              <a:prstDash val="solid"/>
              <a:miter/>
            </a:ln>
          </p:spPr>
        </p:sp>
        <p:sp>
          <p:nvSpPr>
            <p:cNvPr name="TextBox 21" id="21"/>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22" id="22"/>
          <p:cNvSpPr/>
          <p:nvPr/>
        </p:nvSpPr>
        <p:spPr>
          <a:xfrm flipH="false" flipV="false" rot="-7900054">
            <a:off x="7348622" y="2133028"/>
            <a:ext cx="1012981" cy="454921"/>
          </a:xfrm>
          <a:custGeom>
            <a:avLst/>
            <a:gdLst/>
            <a:ahLst/>
            <a:cxnLst/>
            <a:rect r="r" b="b" t="t" l="l"/>
            <a:pathLst>
              <a:path h="454921" w="1012981">
                <a:moveTo>
                  <a:pt x="0" y="0"/>
                </a:moveTo>
                <a:lnTo>
                  <a:pt x="1012982" y="0"/>
                </a:lnTo>
                <a:lnTo>
                  <a:pt x="1012982" y="454921"/>
                </a:lnTo>
                <a:lnTo>
                  <a:pt x="0" y="4549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2700000">
            <a:off x="10017119" y="2144497"/>
            <a:ext cx="1012981" cy="454921"/>
          </a:xfrm>
          <a:custGeom>
            <a:avLst/>
            <a:gdLst/>
            <a:ahLst/>
            <a:cxnLst/>
            <a:rect r="r" b="b" t="t" l="l"/>
            <a:pathLst>
              <a:path h="454921" w="1012981">
                <a:moveTo>
                  <a:pt x="0" y="0"/>
                </a:moveTo>
                <a:lnTo>
                  <a:pt x="1012982" y="0"/>
                </a:lnTo>
                <a:lnTo>
                  <a:pt x="1012982" y="454921"/>
                </a:lnTo>
                <a:lnTo>
                  <a:pt x="0" y="4549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false" rot="3209977">
            <a:off x="9982257" y="7689589"/>
            <a:ext cx="1012981" cy="454921"/>
          </a:xfrm>
          <a:custGeom>
            <a:avLst/>
            <a:gdLst/>
            <a:ahLst/>
            <a:cxnLst/>
            <a:rect r="r" b="b" t="t" l="l"/>
            <a:pathLst>
              <a:path h="454921" w="1012981">
                <a:moveTo>
                  <a:pt x="0" y="0"/>
                </a:moveTo>
                <a:lnTo>
                  <a:pt x="1012981" y="0"/>
                </a:lnTo>
                <a:lnTo>
                  <a:pt x="1012981" y="454921"/>
                </a:lnTo>
                <a:lnTo>
                  <a:pt x="0" y="4549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7866361">
            <a:off x="7243302" y="7665457"/>
            <a:ext cx="1012981" cy="454921"/>
          </a:xfrm>
          <a:custGeom>
            <a:avLst/>
            <a:gdLst/>
            <a:ahLst/>
            <a:cxnLst/>
            <a:rect r="r" b="b" t="t" l="l"/>
            <a:pathLst>
              <a:path h="454921" w="1012981">
                <a:moveTo>
                  <a:pt x="0" y="0"/>
                </a:moveTo>
                <a:lnTo>
                  <a:pt x="1012982" y="0"/>
                </a:lnTo>
                <a:lnTo>
                  <a:pt x="1012982" y="454921"/>
                </a:lnTo>
                <a:lnTo>
                  <a:pt x="0" y="4549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6" id="26"/>
          <p:cNvSpPr txBox="true"/>
          <p:nvPr/>
        </p:nvSpPr>
        <p:spPr>
          <a:xfrm rot="0">
            <a:off x="14101836" y="1480580"/>
            <a:ext cx="2816627" cy="1551432"/>
          </a:xfrm>
          <a:prstGeom prst="rect">
            <a:avLst/>
          </a:prstGeom>
        </p:spPr>
        <p:txBody>
          <a:bodyPr anchor="t" rtlCol="false" tIns="0" lIns="0" bIns="0" rIns="0">
            <a:spAutoFit/>
          </a:bodyPr>
          <a:lstStyle/>
          <a:p>
            <a:pPr algn="just" marL="0" indent="0" lvl="0">
              <a:lnSpc>
                <a:spcPts val="3129"/>
              </a:lnSpc>
              <a:spcBef>
                <a:spcPct val="0"/>
              </a:spcBef>
            </a:pPr>
            <a:r>
              <a:rPr lang="en-US" sz="2100">
                <a:solidFill>
                  <a:srgbClr val="EFEFEF"/>
                </a:solidFill>
                <a:latin typeface="TT Hoves"/>
                <a:ea typeface="TT Hoves"/>
                <a:cs typeface="TT Hoves"/>
                <a:sym typeface="TT Hoves"/>
              </a:rPr>
              <a:t>Baga</a:t>
            </a:r>
            <a:r>
              <a:rPr lang="en-US" sz="2100" strike="noStrike" u="none">
                <a:solidFill>
                  <a:srgbClr val="EFEFEF"/>
                </a:solidFill>
                <a:latin typeface="TT Hoves"/>
                <a:ea typeface="TT Hoves"/>
                <a:cs typeface="TT Hoves"/>
                <a:sym typeface="TT Hoves"/>
              </a:rPr>
              <a:t>iman</a:t>
            </a:r>
            <a:r>
              <a:rPr lang="en-US" sz="2100" strike="noStrike" u="none">
                <a:solidFill>
                  <a:srgbClr val="EFEFEF"/>
                </a:solidFill>
                <a:latin typeface="TT Hoves"/>
                <a:ea typeface="TT Hoves"/>
                <a:cs typeface="TT Hoves"/>
                <a:sym typeface="TT Hoves"/>
              </a:rPr>
              <a:t>a</a:t>
            </a:r>
            <a:r>
              <a:rPr lang="en-US" sz="2100" strike="noStrike" u="none">
                <a:solidFill>
                  <a:srgbClr val="EFEFEF"/>
                </a:solidFill>
                <a:latin typeface="TT Hoves"/>
                <a:ea typeface="TT Hoves"/>
                <a:cs typeface="TT Hoves"/>
                <a:sym typeface="TT Hoves"/>
              </a:rPr>
              <a:t> pe</a:t>
            </a:r>
            <a:r>
              <a:rPr lang="en-US" sz="2100" strike="noStrike" u="none">
                <a:solidFill>
                  <a:srgbClr val="EFEFEF"/>
                </a:solidFill>
                <a:latin typeface="TT Hoves"/>
                <a:ea typeface="TT Hoves"/>
                <a:cs typeface="TT Hoves"/>
                <a:sym typeface="TT Hoves"/>
              </a:rPr>
              <a:t>rb</a:t>
            </a:r>
            <a:r>
              <a:rPr lang="en-US" sz="2100" strike="noStrike" u="none">
                <a:solidFill>
                  <a:srgbClr val="EFEFEF"/>
                </a:solidFill>
                <a:latin typeface="TT Hoves"/>
                <a:ea typeface="TT Hoves"/>
                <a:cs typeface="TT Hoves"/>
                <a:sym typeface="TT Hoves"/>
              </a:rPr>
              <a:t>ed</a:t>
            </a:r>
            <a:r>
              <a:rPr lang="en-US" sz="2100" strike="noStrike" u="none">
                <a:solidFill>
                  <a:srgbClr val="EFEFEF"/>
                </a:solidFill>
                <a:latin typeface="TT Hoves"/>
                <a:ea typeface="TT Hoves"/>
                <a:cs typeface="TT Hoves"/>
                <a:sym typeface="TT Hoves"/>
              </a:rPr>
              <a:t>aan</a:t>
            </a:r>
            <a:r>
              <a:rPr lang="en-US" sz="2100" strike="noStrike" u="none">
                <a:solidFill>
                  <a:srgbClr val="EFEFEF"/>
                </a:solidFill>
                <a:latin typeface="TT Hoves"/>
                <a:ea typeface="TT Hoves"/>
                <a:cs typeface="TT Hoves"/>
                <a:sym typeface="TT Hoves"/>
              </a:rPr>
              <a:t> </a:t>
            </a:r>
            <a:r>
              <a:rPr lang="en-US" sz="2100" strike="noStrike" u="none">
                <a:solidFill>
                  <a:srgbClr val="EFEFEF"/>
                </a:solidFill>
                <a:latin typeface="TT Hoves"/>
                <a:ea typeface="TT Hoves"/>
                <a:cs typeface="TT Hoves"/>
                <a:sym typeface="TT Hoves"/>
              </a:rPr>
              <a:t>p</a:t>
            </a:r>
            <a:r>
              <a:rPr lang="en-US" sz="2100" strike="noStrike" u="none">
                <a:solidFill>
                  <a:srgbClr val="EFEFEF"/>
                </a:solidFill>
                <a:latin typeface="TT Hoves"/>
                <a:ea typeface="TT Hoves"/>
                <a:cs typeface="TT Hoves"/>
                <a:sym typeface="TT Hoves"/>
              </a:rPr>
              <a:t>e</a:t>
            </a:r>
            <a:r>
              <a:rPr lang="en-US" sz="2100" strike="noStrike" u="none">
                <a:solidFill>
                  <a:srgbClr val="EFEFEF"/>
                </a:solidFill>
                <a:latin typeface="TT Hoves"/>
                <a:ea typeface="TT Hoves"/>
                <a:cs typeface="TT Hoves"/>
                <a:sym typeface="TT Hoves"/>
              </a:rPr>
              <a:t>r</a:t>
            </a:r>
            <a:r>
              <a:rPr lang="en-US" sz="2100" strike="noStrike" u="none">
                <a:solidFill>
                  <a:srgbClr val="EFEFEF"/>
                </a:solidFill>
                <a:latin typeface="TT Hoves"/>
                <a:ea typeface="TT Hoves"/>
                <a:cs typeface="TT Hoves"/>
                <a:sym typeface="TT Hoves"/>
              </a:rPr>
              <a:t>i</a:t>
            </a:r>
            <a:r>
              <a:rPr lang="en-US" sz="2100" strike="noStrike" u="none">
                <a:solidFill>
                  <a:srgbClr val="EFEFEF"/>
                </a:solidFill>
                <a:latin typeface="TT Hoves"/>
                <a:ea typeface="TT Hoves"/>
                <a:cs typeface="TT Hoves"/>
                <a:sym typeface="TT Hoves"/>
              </a:rPr>
              <a:t>lak</a:t>
            </a:r>
            <a:r>
              <a:rPr lang="en-US" sz="2100" strike="noStrike" u="none">
                <a:solidFill>
                  <a:srgbClr val="EFEFEF"/>
                </a:solidFill>
                <a:latin typeface="TT Hoves"/>
                <a:ea typeface="TT Hoves"/>
                <a:cs typeface="TT Hoves"/>
                <a:sym typeface="TT Hoves"/>
              </a:rPr>
              <a:t>u </a:t>
            </a:r>
            <a:r>
              <a:rPr lang="en-US" sz="2100" strike="noStrike" u="none">
                <a:solidFill>
                  <a:srgbClr val="EFEFEF"/>
                </a:solidFill>
                <a:latin typeface="TT Hoves"/>
                <a:ea typeface="TT Hoves"/>
                <a:cs typeface="TT Hoves"/>
                <a:sym typeface="TT Hoves"/>
              </a:rPr>
              <a:t>an</a:t>
            </a:r>
            <a:r>
              <a:rPr lang="en-US" sz="2100" strike="noStrike" u="none">
                <a:solidFill>
                  <a:srgbClr val="EFEFEF"/>
                </a:solidFill>
                <a:latin typeface="TT Hoves"/>
                <a:ea typeface="TT Hoves"/>
                <a:cs typeface="TT Hoves"/>
                <a:sym typeface="TT Hoves"/>
              </a:rPr>
              <a:t>t</a:t>
            </a:r>
            <a:r>
              <a:rPr lang="en-US" sz="2100" strike="noStrike" u="none">
                <a:solidFill>
                  <a:srgbClr val="EFEFEF"/>
                </a:solidFill>
                <a:latin typeface="TT Hoves"/>
                <a:ea typeface="TT Hoves"/>
                <a:cs typeface="TT Hoves"/>
                <a:sym typeface="TT Hoves"/>
              </a:rPr>
              <a:t>a</a:t>
            </a:r>
            <a:r>
              <a:rPr lang="en-US" sz="2100" strike="noStrike" u="none">
                <a:solidFill>
                  <a:srgbClr val="EFEFEF"/>
                </a:solidFill>
                <a:latin typeface="TT Hoves"/>
                <a:ea typeface="TT Hoves"/>
                <a:cs typeface="TT Hoves"/>
                <a:sym typeface="TT Hoves"/>
              </a:rPr>
              <a:t>r</a:t>
            </a:r>
            <a:r>
              <a:rPr lang="en-US" sz="2100" strike="noStrike" u="none">
                <a:solidFill>
                  <a:srgbClr val="EFEFEF"/>
                </a:solidFill>
                <a:latin typeface="TT Hoves"/>
                <a:ea typeface="TT Hoves"/>
                <a:cs typeface="TT Hoves"/>
                <a:sym typeface="TT Hoves"/>
              </a:rPr>
              <a:t>a user</a:t>
            </a:r>
            <a:r>
              <a:rPr lang="en-US" sz="2100" strike="noStrike" u="none">
                <a:solidFill>
                  <a:srgbClr val="EFEFEF"/>
                </a:solidFill>
                <a:latin typeface="TT Hoves"/>
                <a:ea typeface="TT Hoves"/>
                <a:cs typeface="TT Hoves"/>
                <a:sym typeface="TT Hoves"/>
              </a:rPr>
              <a:t> </a:t>
            </a:r>
            <a:r>
              <a:rPr lang="en-US" sz="2100" strike="noStrike" u="none">
                <a:solidFill>
                  <a:srgbClr val="EFEFEF"/>
                </a:solidFill>
                <a:latin typeface="TT Hoves"/>
                <a:ea typeface="TT Hoves"/>
                <a:cs typeface="TT Hoves"/>
                <a:sym typeface="TT Hoves"/>
              </a:rPr>
              <a:t>p</a:t>
            </a:r>
            <a:r>
              <a:rPr lang="en-US" sz="2100" strike="noStrike" u="none">
                <a:solidFill>
                  <a:srgbClr val="EFEFEF"/>
                </a:solidFill>
                <a:latin typeface="TT Hoves"/>
                <a:ea typeface="TT Hoves"/>
                <a:cs typeface="TT Hoves"/>
                <a:sym typeface="TT Hoves"/>
              </a:rPr>
              <a:t>remium dan non</a:t>
            </a:r>
            <a:r>
              <a:rPr lang="en-US" sz="2100" strike="noStrike" u="none">
                <a:solidFill>
                  <a:srgbClr val="EFEFEF"/>
                </a:solidFill>
                <a:latin typeface="TT Hoves"/>
                <a:ea typeface="TT Hoves"/>
                <a:cs typeface="TT Hoves"/>
                <a:sym typeface="TT Hoves"/>
              </a:rPr>
              <a:t>-</a:t>
            </a:r>
            <a:r>
              <a:rPr lang="en-US" sz="2100" strike="noStrike" u="none">
                <a:solidFill>
                  <a:srgbClr val="EFEFEF"/>
                </a:solidFill>
                <a:latin typeface="TT Hoves"/>
                <a:ea typeface="TT Hoves"/>
                <a:cs typeface="TT Hoves"/>
                <a:sym typeface="TT Hoves"/>
              </a:rPr>
              <a:t>p</a:t>
            </a:r>
            <a:r>
              <a:rPr lang="en-US" sz="2100" strike="noStrike" u="none">
                <a:solidFill>
                  <a:srgbClr val="EFEFEF"/>
                </a:solidFill>
                <a:latin typeface="TT Hoves"/>
                <a:ea typeface="TT Hoves"/>
                <a:cs typeface="TT Hoves"/>
                <a:sym typeface="TT Hoves"/>
              </a:rPr>
              <a:t>r</a:t>
            </a:r>
            <a:r>
              <a:rPr lang="en-US" sz="2100" strike="noStrike" u="none">
                <a:solidFill>
                  <a:srgbClr val="EFEFEF"/>
                </a:solidFill>
                <a:latin typeface="TT Hoves"/>
                <a:ea typeface="TT Hoves"/>
                <a:cs typeface="TT Hoves"/>
                <a:sym typeface="TT Hoves"/>
              </a:rPr>
              <a:t>em</a:t>
            </a:r>
            <a:r>
              <a:rPr lang="en-US" sz="2100" strike="noStrike" u="none">
                <a:solidFill>
                  <a:srgbClr val="EFEFEF"/>
                </a:solidFill>
                <a:latin typeface="TT Hoves"/>
                <a:ea typeface="TT Hoves"/>
                <a:cs typeface="TT Hoves"/>
                <a:sym typeface="TT Hoves"/>
              </a:rPr>
              <a:t>iu</a:t>
            </a:r>
            <a:r>
              <a:rPr lang="en-US" sz="2100" strike="noStrike" u="none">
                <a:solidFill>
                  <a:srgbClr val="EFEFEF"/>
                </a:solidFill>
                <a:latin typeface="TT Hoves"/>
                <a:ea typeface="TT Hoves"/>
                <a:cs typeface="TT Hoves"/>
                <a:sym typeface="TT Hoves"/>
              </a:rPr>
              <a:t>m</a:t>
            </a:r>
            <a:r>
              <a:rPr lang="en-US" sz="2100" strike="noStrike" u="none">
                <a:solidFill>
                  <a:srgbClr val="EFEFEF"/>
                </a:solidFill>
                <a:latin typeface="TT Hoves"/>
                <a:ea typeface="TT Hoves"/>
                <a:cs typeface="TT Hoves"/>
                <a:sym typeface="TT Hoves"/>
              </a:rPr>
              <a:t>?</a:t>
            </a:r>
          </a:p>
        </p:txBody>
      </p:sp>
      <p:sp>
        <p:nvSpPr>
          <p:cNvPr name="TextBox 27" id="27"/>
          <p:cNvSpPr txBox="true"/>
          <p:nvPr/>
        </p:nvSpPr>
        <p:spPr>
          <a:xfrm rot="0">
            <a:off x="14101836" y="4267327"/>
            <a:ext cx="2816627" cy="1941957"/>
          </a:xfrm>
          <a:prstGeom prst="rect">
            <a:avLst/>
          </a:prstGeom>
        </p:spPr>
        <p:txBody>
          <a:bodyPr anchor="t" rtlCol="false" tIns="0" lIns="0" bIns="0" rIns="0">
            <a:spAutoFit/>
          </a:bodyPr>
          <a:lstStyle/>
          <a:p>
            <a:pPr algn="just" marL="0" indent="0" lvl="0">
              <a:lnSpc>
                <a:spcPts val="3129"/>
              </a:lnSpc>
              <a:spcBef>
                <a:spcPct val="0"/>
              </a:spcBef>
            </a:pPr>
            <a:r>
              <a:rPr lang="en-US" sz="2100" strike="noStrike" u="none">
                <a:solidFill>
                  <a:srgbClr val="EFEFEF"/>
                </a:solidFill>
                <a:latin typeface="TT Hoves"/>
                <a:ea typeface="TT Hoves"/>
                <a:cs typeface="TT Hoves"/>
                <a:sym typeface="TT Hoves"/>
              </a:rPr>
              <a:t>Rentang usia berapa yang memiliki tingkat aktivitas mendengarkan lagu tertinggi di platform spotify?</a:t>
            </a:r>
          </a:p>
        </p:txBody>
      </p:sp>
      <p:sp>
        <p:nvSpPr>
          <p:cNvPr name="TextBox 28" id="28"/>
          <p:cNvSpPr txBox="true"/>
          <p:nvPr/>
        </p:nvSpPr>
        <p:spPr>
          <a:xfrm rot="0">
            <a:off x="14101836" y="7016744"/>
            <a:ext cx="2816627" cy="1551432"/>
          </a:xfrm>
          <a:prstGeom prst="rect">
            <a:avLst/>
          </a:prstGeom>
        </p:spPr>
        <p:txBody>
          <a:bodyPr anchor="t" rtlCol="false" tIns="0" lIns="0" bIns="0" rIns="0">
            <a:spAutoFit/>
          </a:bodyPr>
          <a:lstStyle/>
          <a:p>
            <a:pPr algn="just" marL="0" indent="0" lvl="0">
              <a:lnSpc>
                <a:spcPts val="3129"/>
              </a:lnSpc>
              <a:spcBef>
                <a:spcPct val="0"/>
              </a:spcBef>
            </a:pPr>
            <a:r>
              <a:rPr lang="en-US" sz="2100">
                <a:solidFill>
                  <a:srgbClr val="EFEFEF"/>
                </a:solidFill>
                <a:latin typeface="TT Hoves"/>
                <a:ea typeface="TT Hoves"/>
                <a:cs typeface="TT Hoves"/>
                <a:sym typeface="TT Hoves"/>
              </a:rPr>
              <a:t>Fakt</a:t>
            </a:r>
            <a:r>
              <a:rPr lang="en-US" sz="2100" strike="noStrike" u="none">
                <a:solidFill>
                  <a:srgbClr val="EFEFEF"/>
                </a:solidFill>
                <a:latin typeface="TT Hoves"/>
                <a:ea typeface="TT Hoves"/>
                <a:cs typeface="TT Hoves"/>
                <a:sym typeface="TT Hoves"/>
              </a:rPr>
              <a:t>or </a:t>
            </a:r>
            <a:r>
              <a:rPr lang="en-US" sz="2100" strike="noStrike" u="none">
                <a:solidFill>
                  <a:srgbClr val="EFEFEF"/>
                </a:solidFill>
                <a:latin typeface="TT Hoves"/>
                <a:ea typeface="TT Hoves"/>
                <a:cs typeface="TT Hoves"/>
                <a:sym typeface="TT Hoves"/>
              </a:rPr>
              <a:t>a</a:t>
            </a:r>
            <a:r>
              <a:rPr lang="en-US" sz="2100" strike="noStrike" u="none">
                <a:solidFill>
                  <a:srgbClr val="EFEFEF"/>
                </a:solidFill>
                <a:latin typeface="TT Hoves"/>
                <a:ea typeface="TT Hoves"/>
                <a:cs typeface="TT Hoves"/>
                <a:sym typeface="TT Hoves"/>
              </a:rPr>
              <a:t>p</a:t>
            </a:r>
            <a:r>
              <a:rPr lang="en-US" sz="2100" strike="noStrike" u="none">
                <a:solidFill>
                  <a:srgbClr val="EFEFEF"/>
                </a:solidFill>
                <a:latin typeface="TT Hoves"/>
                <a:ea typeface="TT Hoves"/>
                <a:cs typeface="TT Hoves"/>
                <a:sym typeface="TT Hoves"/>
              </a:rPr>
              <a:t>a</a:t>
            </a:r>
            <a:r>
              <a:rPr lang="en-US" sz="2100" strike="noStrike" u="none">
                <a:solidFill>
                  <a:srgbClr val="EFEFEF"/>
                </a:solidFill>
                <a:latin typeface="TT Hoves"/>
                <a:ea typeface="TT Hoves"/>
                <a:cs typeface="TT Hoves"/>
                <a:sym typeface="TT Hoves"/>
              </a:rPr>
              <a:t> </a:t>
            </a:r>
            <a:r>
              <a:rPr lang="en-US" sz="2100" strike="noStrike" u="none">
                <a:solidFill>
                  <a:srgbClr val="EFEFEF"/>
                </a:solidFill>
                <a:latin typeface="TT Hoves"/>
                <a:ea typeface="TT Hoves"/>
                <a:cs typeface="TT Hoves"/>
                <a:sym typeface="TT Hoves"/>
              </a:rPr>
              <a:t>y</a:t>
            </a:r>
            <a:r>
              <a:rPr lang="en-US" sz="2100" strike="noStrike" u="none">
                <a:solidFill>
                  <a:srgbClr val="EFEFEF"/>
                </a:solidFill>
                <a:latin typeface="TT Hoves"/>
                <a:ea typeface="TT Hoves"/>
                <a:cs typeface="TT Hoves"/>
                <a:sym typeface="TT Hoves"/>
              </a:rPr>
              <a:t>an</a:t>
            </a:r>
            <a:r>
              <a:rPr lang="en-US" sz="2100" strike="noStrike" u="none">
                <a:solidFill>
                  <a:srgbClr val="EFEFEF"/>
                </a:solidFill>
                <a:latin typeface="TT Hoves"/>
                <a:ea typeface="TT Hoves"/>
                <a:cs typeface="TT Hoves"/>
                <a:sym typeface="TT Hoves"/>
              </a:rPr>
              <a:t>g</a:t>
            </a:r>
            <a:r>
              <a:rPr lang="en-US" sz="2100" strike="noStrike" u="none">
                <a:solidFill>
                  <a:srgbClr val="EFEFEF"/>
                </a:solidFill>
                <a:latin typeface="TT Hoves"/>
                <a:ea typeface="TT Hoves"/>
                <a:cs typeface="TT Hoves"/>
                <a:sym typeface="TT Hoves"/>
              </a:rPr>
              <a:t> </a:t>
            </a:r>
            <a:r>
              <a:rPr lang="en-US" sz="2100" strike="noStrike" u="none">
                <a:solidFill>
                  <a:srgbClr val="EFEFEF"/>
                </a:solidFill>
                <a:latin typeface="TT Hoves"/>
                <a:ea typeface="TT Hoves"/>
                <a:cs typeface="TT Hoves"/>
                <a:sym typeface="TT Hoves"/>
              </a:rPr>
              <a:t>p</a:t>
            </a:r>
            <a:r>
              <a:rPr lang="en-US" sz="2100" strike="noStrike" u="none">
                <a:solidFill>
                  <a:srgbClr val="EFEFEF"/>
                </a:solidFill>
                <a:latin typeface="TT Hoves"/>
                <a:ea typeface="TT Hoves"/>
                <a:cs typeface="TT Hoves"/>
                <a:sym typeface="TT Hoves"/>
              </a:rPr>
              <a:t>a</a:t>
            </a:r>
            <a:r>
              <a:rPr lang="en-US" sz="2100" strike="noStrike" u="none">
                <a:solidFill>
                  <a:srgbClr val="EFEFEF"/>
                </a:solidFill>
                <a:latin typeface="TT Hoves"/>
                <a:ea typeface="TT Hoves"/>
                <a:cs typeface="TT Hoves"/>
                <a:sym typeface="TT Hoves"/>
              </a:rPr>
              <a:t>l</a:t>
            </a:r>
            <a:r>
              <a:rPr lang="en-US" sz="2100" strike="noStrike" u="none">
                <a:solidFill>
                  <a:srgbClr val="EFEFEF"/>
                </a:solidFill>
                <a:latin typeface="TT Hoves"/>
                <a:ea typeface="TT Hoves"/>
                <a:cs typeface="TT Hoves"/>
                <a:sym typeface="TT Hoves"/>
              </a:rPr>
              <a:t>ing </a:t>
            </a:r>
            <a:r>
              <a:rPr lang="en-US" sz="2100" strike="noStrike" u="none">
                <a:solidFill>
                  <a:srgbClr val="EFEFEF"/>
                </a:solidFill>
                <a:latin typeface="TT Hoves"/>
                <a:ea typeface="TT Hoves"/>
                <a:cs typeface="TT Hoves"/>
                <a:sym typeface="TT Hoves"/>
              </a:rPr>
              <a:t>m</a:t>
            </a:r>
            <a:r>
              <a:rPr lang="en-US" sz="2100" strike="noStrike" u="none">
                <a:solidFill>
                  <a:srgbClr val="EFEFEF"/>
                </a:solidFill>
                <a:latin typeface="TT Hoves"/>
                <a:ea typeface="TT Hoves"/>
                <a:cs typeface="TT Hoves"/>
                <a:sym typeface="TT Hoves"/>
              </a:rPr>
              <a:t>un</a:t>
            </a:r>
            <a:r>
              <a:rPr lang="en-US" sz="2100" strike="noStrike" u="none">
                <a:solidFill>
                  <a:srgbClr val="EFEFEF"/>
                </a:solidFill>
                <a:latin typeface="TT Hoves"/>
                <a:ea typeface="TT Hoves"/>
                <a:cs typeface="TT Hoves"/>
                <a:sym typeface="TT Hoves"/>
              </a:rPr>
              <a:t>gk</a:t>
            </a:r>
            <a:r>
              <a:rPr lang="en-US" sz="2100" strike="noStrike" u="none">
                <a:solidFill>
                  <a:srgbClr val="EFEFEF"/>
                </a:solidFill>
                <a:latin typeface="TT Hoves"/>
                <a:ea typeface="TT Hoves"/>
                <a:cs typeface="TT Hoves"/>
                <a:sym typeface="TT Hoves"/>
              </a:rPr>
              <a:t>in </a:t>
            </a:r>
            <a:r>
              <a:rPr lang="en-US" sz="2100" strike="noStrike" u="none">
                <a:solidFill>
                  <a:srgbClr val="EFEFEF"/>
                </a:solidFill>
                <a:latin typeface="TT Hoves"/>
                <a:ea typeface="TT Hoves"/>
                <a:cs typeface="TT Hoves"/>
                <a:sym typeface="TT Hoves"/>
              </a:rPr>
              <a:t>m</a:t>
            </a:r>
            <a:r>
              <a:rPr lang="en-US" sz="2100" strike="noStrike" u="none">
                <a:solidFill>
                  <a:srgbClr val="EFEFEF"/>
                </a:solidFill>
                <a:latin typeface="TT Hoves"/>
                <a:ea typeface="TT Hoves"/>
                <a:cs typeface="TT Hoves"/>
                <a:sym typeface="TT Hoves"/>
              </a:rPr>
              <a:t>e</a:t>
            </a:r>
            <a:r>
              <a:rPr lang="en-US" sz="2100" strike="noStrike" u="none">
                <a:solidFill>
                  <a:srgbClr val="EFEFEF"/>
                </a:solidFill>
                <a:latin typeface="TT Hoves"/>
                <a:ea typeface="TT Hoves"/>
                <a:cs typeface="TT Hoves"/>
                <a:sym typeface="TT Hoves"/>
              </a:rPr>
              <a:t>m</a:t>
            </a:r>
            <a:r>
              <a:rPr lang="en-US" sz="2100" strike="noStrike" u="none">
                <a:solidFill>
                  <a:srgbClr val="EFEFEF"/>
                </a:solidFill>
                <a:latin typeface="TT Hoves"/>
                <a:ea typeface="TT Hoves"/>
                <a:cs typeface="TT Hoves"/>
                <a:sym typeface="TT Hoves"/>
              </a:rPr>
              <a:t>e</a:t>
            </a:r>
            <a:r>
              <a:rPr lang="en-US" sz="2100" strike="noStrike" u="none">
                <a:solidFill>
                  <a:srgbClr val="EFEFEF"/>
                </a:solidFill>
                <a:latin typeface="TT Hoves"/>
                <a:ea typeface="TT Hoves"/>
                <a:cs typeface="TT Hoves"/>
                <a:sym typeface="TT Hoves"/>
              </a:rPr>
              <a:t>n</a:t>
            </a:r>
            <a:r>
              <a:rPr lang="en-US" sz="2100" strike="noStrike" u="none">
                <a:solidFill>
                  <a:srgbClr val="EFEFEF"/>
                </a:solidFill>
                <a:latin typeface="TT Hoves"/>
                <a:ea typeface="TT Hoves"/>
                <a:cs typeface="TT Hoves"/>
                <a:sym typeface="TT Hoves"/>
              </a:rPr>
              <a:t>ga</a:t>
            </a:r>
            <a:r>
              <a:rPr lang="en-US" sz="2100" strike="noStrike" u="none">
                <a:solidFill>
                  <a:srgbClr val="EFEFEF"/>
                </a:solidFill>
                <a:latin typeface="TT Hoves"/>
                <a:ea typeface="TT Hoves"/>
                <a:cs typeface="TT Hoves"/>
                <a:sym typeface="TT Hoves"/>
              </a:rPr>
              <a:t>r</a:t>
            </a:r>
            <a:r>
              <a:rPr lang="en-US" sz="2100" strike="noStrike" u="none">
                <a:solidFill>
                  <a:srgbClr val="EFEFEF"/>
                </a:solidFill>
                <a:latin typeface="TT Hoves"/>
                <a:ea typeface="TT Hoves"/>
                <a:cs typeface="TT Hoves"/>
                <a:sym typeface="TT Hoves"/>
              </a:rPr>
              <a:t>u</a:t>
            </a:r>
            <a:r>
              <a:rPr lang="en-US" sz="2100" strike="noStrike" u="none">
                <a:solidFill>
                  <a:srgbClr val="EFEFEF"/>
                </a:solidFill>
                <a:latin typeface="TT Hoves"/>
                <a:ea typeface="TT Hoves"/>
                <a:cs typeface="TT Hoves"/>
                <a:sym typeface="TT Hoves"/>
              </a:rPr>
              <a:t>h</a:t>
            </a:r>
            <a:r>
              <a:rPr lang="en-US" sz="2100" strike="noStrike" u="none">
                <a:solidFill>
                  <a:srgbClr val="EFEFEF"/>
                </a:solidFill>
                <a:latin typeface="TT Hoves"/>
                <a:ea typeface="TT Hoves"/>
                <a:cs typeface="TT Hoves"/>
                <a:sym typeface="TT Hoves"/>
              </a:rPr>
              <a:t>i </a:t>
            </a:r>
            <a:r>
              <a:rPr lang="en-US" sz="2100" strike="noStrike" u="none">
                <a:solidFill>
                  <a:srgbClr val="EFEFEF"/>
                </a:solidFill>
                <a:latin typeface="TT Hoves"/>
                <a:ea typeface="TT Hoves"/>
                <a:cs typeface="TT Hoves"/>
                <a:sym typeface="TT Hoves"/>
              </a:rPr>
              <a:t>k</a:t>
            </a:r>
            <a:r>
              <a:rPr lang="en-US" sz="2100" strike="noStrike" u="none">
                <a:solidFill>
                  <a:srgbClr val="EFEFEF"/>
                </a:solidFill>
                <a:latin typeface="TT Hoves"/>
                <a:ea typeface="TT Hoves"/>
                <a:cs typeface="TT Hoves"/>
                <a:sym typeface="TT Hoves"/>
              </a:rPr>
              <a:t>emu</a:t>
            </a:r>
            <a:r>
              <a:rPr lang="en-US" sz="2100" strike="noStrike" u="none">
                <a:solidFill>
                  <a:srgbClr val="EFEFEF"/>
                </a:solidFill>
                <a:latin typeface="TT Hoves"/>
                <a:ea typeface="TT Hoves"/>
                <a:cs typeface="TT Hoves"/>
                <a:sym typeface="TT Hoves"/>
              </a:rPr>
              <a:t>ngk</a:t>
            </a:r>
            <a:r>
              <a:rPr lang="en-US" sz="2100" strike="noStrike" u="none">
                <a:solidFill>
                  <a:srgbClr val="EFEFEF"/>
                </a:solidFill>
                <a:latin typeface="TT Hoves"/>
                <a:ea typeface="TT Hoves"/>
                <a:cs typeface="TT Hoves"/>
                <a:sym typeface="TT Hoves"/>
              </a:rPr>
              <a:t>inan untuk c</a:t>
            </a:r>
            <a:r>
              <a:rPr lang="en-US" sz="2100" strike="noStrike" u="none">
                <a:solidFill>
                  <a:srgbClr val="EFEFEF"/>
                </a:solidFill>
                <a:latin typeface="TT Hoves"/>
                <a:ea typeface="TT Hoves"/>
                <a:cs typeface="TT Hoves"/>
                <a:sym typeface="TT Hoves"/>
              </a:rPr>
              <a:t>hu</a:t>
            </a:r>
            <a:r>
              <a:rPr lang="en-US" sz="2100" strike="noStrike" u="none">
                <a:solidFill>
                  <a:srgbClr val="EFEFEF"/>
                </a:solidFill>
                <a:latin typeface="TT Hoves"/>
                <a:ea typeface="TT Hoves"/>
                <a:cs typeface="TT Hoves"/>
                <a:sym typeface="TT Hoves"/>
              </a:rPr>
              <a:t>rn</a:t>
            </a:r>
            <a:r>
              <a:rPr lang="en-US" sz="2100" strike="noStrike" u="none">
                <a:solidFill>
                  <a:srgbClr val="EFEFEF"/>
                </a:solidFill>
                <a:latin typeface="TT Hoves"/>
                <a:ea typeface="TT Hoves"/>
                <a:cs typeface="TT Hoves"/>
                <a:sym typeface="TT Hoves"/>
              </a:rPr>
              <a:t>?</a:t>
            </a:r>
          </a:p>
        </p:txBody>
      </p:sp>
      <p:sp>
        <p:nvSpPr>
          <p:cNvPr name="TextBox 29" id="29"/>
          <p:cNvSpPr txBox="true"/>
          <p:nvPr/>
        </p:nvSpPr>
        <p:spPr>
          <a:xfrm rot="0">
            <a:off x="3458475" y="1480580"/>
            <a:ext cx="2816627" cy="1160907"/>
          </a:xfrm>
          <a:prstGeom prst="rect">
            <a:avLst/>
          </a:prstGeom>
        </p:spPr>
        <p:txBody>
          <a:bodyPr anchor="t" rtlCol="false" tIns="0" lIns="0" bIns="0" rIns="0">
            <a:spAutoFit/>
          </a:bodyPr>
          <a:lstStyle/>
          <a:p>
            <a:pPr algn="just" marL="0" indent="0" lvl="0">
              <a:lnSpc>
                <a:spcPts val="3129"/>
              </a:lnSpc>
            </a:pPr>
            <a:r>
              <a:rPr lang="en-US" sz="2100">
                <a:solidFill>
                  <a:srgbClr val="EFEFEF"/>
                </a:solidFill>
                <a:latin typeface="TT Hoves"/>
                <a:ea typeface="TT Hoves"/>
                <a:cs typeface="TT Hoves"/>
                <a:sym typeface="TT Hoves"/>
              </a:rPr>
              <a:t>Baga</a:t>
            </a:r>
            <a:r>
              <a:rPr lang="en-US" sz="2100" strike="noStrike" u="none">
                <a:solidFill>
                  <a:srgbClr val="EFEFEF"/>
                </a:solidFill>
                <a:latin typeface="TT Hoves"/>
                <a:ea typeface="TT Hoves"/>
                <a:cs typeface="TT Hoves"/>
                <a:sym typeface="TT Hoves"/>
              </a:rPr>
              <a:t>imana karakteristik umum dan perilaku dari user spotify?</a:t>
            </a:r>
          </a:p>
        </p:txBody>
      </p:sp>
      <p:sp>
        <p:nvSpPr>
          <p:cNvPr name="TextBox 30" id="30"/>
          <p:cNvSpPr txBox="true"/>
          <p:nvPr/>
        </p:nvSpPr>
        <p:spPr>
          <a:xfrm rot="0">
            <a:off x="3458475" y="4263919"/>
            <a:ext cx="2816627" cy="1551432"/>
          </a:xfrm>
          <a:prstGeom prst="rect">
            <a:avLst/>
          </a:prstGeom>
        </p:spPr>
        <p:txBody>
          <a:bodyPr anchor="t" rtlCol="false" tIns="0" lIns="0" bIns="0" rIns="0">
            <a:spAutoFit/>
          </a:bodyPr>
          <a:lstStyle/>
          <a:p>
            <a:pPr algn="just" marL="0" indent="0" lvl="0">
              <a:lnSpc>
                <a:spcPts val="3129"/>
              </a:lnSpc>
              <a:spcBef>
                <a:spcPct val="0"/>
              </a:spcBef>
            </a:pPr>
            <a:r>
              <a:rPr lang="en-US" sz="2100">
                <a:solidFill>
                  <a:srgbClr val="EFEFEF"/>
                </a:solidFill>
                <a:latin typeface="TT Hoves"/>
                <a:ea typeface="TT Hoves"/>
                <a:cs typeface="TT Hoves"/>
                <a:sym typeface="TT Hoves"/>
              </a:rPr>
              <a:t>Bagaimana </a:t>
            </a:r>
            <a:r>
              <a:rPr lang="en-US" sz="2100" strike="noStrike" u="none">
                <a:solidFill>
                  <a:srgbClr val="EFEFEF"/>
                </a:solidFill>
                <a:latin typeface="TT Hoves"/>
                <a:ea typeface="TT Hoves"/>
                <a:cs typeface="TT Hoves"/>
                <a:sym typeface="TT Hoves"/>
              </a:rPr>
              <a:t>perbandingan antara churn vs non-churn user?</a:t>
            </a:r>
          </a:p>
        </p:txBody>
      </p:sp>
      <p:sp>
        <p:nvSpPr>
          <p:cNvPr name="TextBox 31" id="31"/>
          <p:cNvSpPr txBox="true"/>
          <p:nvPr/>
        </p:nvSpPr>
        <p:spPr>
          <a:xfrm rot="0">
            <a:off x="3458475" y="6814926"/>
            <a:ext cx="2816627" cy="1551432"/>
          </a:xfrm>
          <a:prstGeom prst="rect">
            <a:avLst/>
          </a:prstGeom>
        </p:spPr>
        <p:txBody>
          <a:bodyPr anchor="t" rtlCol="false" tIns="0" lIns="0" bIns="0" rIns="0">
            <a:spAutoFit/>
          </a:bodyPr>
          <a:lstStyle/>
          <a:p>
            <a:pPr algn="just" marL="0" indent="0" lvl="0">
              <a:lnSpc>
                <a:spcPts val="3129"/>
              </a:lnSpc>
              <a:spcBef>
                <a:spcPct val="0"/>
              </a:spcBef>
            </a:pPr>
            <a:r>
              <a:rPr lang="en-US" sz="2100" strike="noStrike" u="none">
                <a:solidFill>
                  <a:srgbClr val="EFEFEF"/>
                </a:solidFill>
                <a:latin typeface="TT Hoves"/>
                <a:ea typeface="TT Hoves"/>
                <a:cs typeface="TT Hoves"/>
                <a:sym typeface="TT Hoves"/>
              </a:rPr>
              <a:t>Apakah terdapat indikasi pola tertentu antara perilaku user dengan tingkat churn?</a:t>
            </a:r>
          </a:p>
        </p:txBody>
      </p:sp>
      <p:sp>
        <p:nvSpPr>
          <p:cNvPr name="TextBox 32" id="32"/>
          <p:cNvSpPr txBox="true"/>
          <p:nvPr/>
        </p:nvSpPr>
        <p:spPr>
          <a:xfrm rot="0">
            <a:off x="6995244" y="3757797"/>
            <a:ext cx="4297511" cy="2251715"/>
          </a:xfrm>
          <a:prstGeom prst="rect">
            <a:avLst/>
          </a:prstGeom>
        </p:spPr>
        <p:txBody>
          <a:bodyPr anchor="t" rtlCol="false" tIns="0" lIns="0" bIns="0" rIns="0">
            <a:spAutoFit/>
          </a:bodyPr>
          <a:lstStyle/>
          <a:p>
            <a:pPr algn="ctr" marL="0" indent="0" lvl="1">
              <a:lnSpc>
                <a:spcPts val="5820"/>
              </a:lnSpc>
              <a:spcBef>
                <a:spcPct val="0"/>
              </a:spcBef>
            </a:pPr>
            <a:r>
              <a:rPr lang="en-US" b="true" sz="6000">
                <a:solidFill>
                  <a:srgbClr val="000000"/>
                </a:solidFill>
                <a:latin typeface="TT Hoves Bold"/>
                <a:ea typeface="TT Hoves Bold"/>
                <a:cs typeface="TT Hoves Bold"/>
                <a:sym typeface="TT Hoves Bold"/>
              </a:rPr>
              <a:t>Exploratory Data Analysis</a:t>
            </a:r>
          </a:p>
        </p:txBody>
      </p:sp>
      <p:sp>
        <p:nvSpPr>
          <p:cNvPr name="TextBox 33" id="33"/>
          <p:cNvSpPr txBox="true"/>
          <p:nvPr/>
        </p:nvSpPr>
        <p:spPr>
          <a:xfrm rot="0">
            <a:off x="1509697" y="1825939"/>
            <a:ext cx="1786853" cy="1368261"/>
          </a:xfrm>
          <a:prstGeom prst="rect">
            <a:avLst/>
          </a:prstGeom>
        </p:spPr>
        <p:txBody>
          <a:bodyPr anchor="t" rtlCol="false" tIns="0" lIns="0" bIns="0" rIns="0">
            <a:spAutoFit/>
          </a:bodyPr>
          <a:lstStyle/>
          <a:p>
            <a:pPr algn="l">
              <a:lnSpc>
                <a:spcPts val="10157"/>
              </a:lnSpc>
            </a:pPr>
            <a:r>
              <a:rPr lang="en-US" b="true" sz="10806" spc="-529">
                <a:solidFill>
                  <a:srgbClr val="EFEFEF"/>
                </a:solidFill>
                <a:latin typeface="TT Hoves Bold"/>
                <a:ea typeface="TT Hoves Bold"/>
                <a:cs typeface="TT Hoves Bold"/>
                <a:sym typeface="TT Hoves Bold"/>
              </a:rPr>
              <a:t>01</a:t>
            </a:r>
          </a:p>
        </p:txBody>
      </p:sp>
      <p:sp>
        <p:nvSpPr>
          <p:cNvPr name="TextBox 34" id="34"/>
          <p:cNvSpPr txBox="true"/>
          <p:nvPr/>
        </p:nvSpPr>
        <p:spPr>
          <a:xfrm rot="0">
            <a:off x="1509697" y="4551396"/>
            <a:ext cx="2628856" cy="1368261"/>
          </a:xfrm>
          <a:prstGeom prst="rect">
            <a:avLst/>
          </a:prstGeom>
        </p:spPr>
        <p:txBody>
          <a:bodyPr anchor="t" rtlCol="false" tIns="0" lIns="0" bIns="0" rIns="0">
            <a:spAutoFit/>
          </a:bodyPr>
          <a:lstStyle/>
          <a:p>
            <a:pPr algn="l">
              <a:lnSpc>
                <a:spcPts val="10157"/>
              </a:lnSpc>
            </a:pPr>
            <a:r>
              <a:rPr lang="en-US" b="true" sz="10806" spc="-529">
                <a:solidFill>
                  <a:srgbClr val="EFEFEF"/>
                </a:solidFill>
                <a:latin typeface="TT Hoves Bold"/>
                <a:ea typeface="TT Hoves Bold"/>
                <a:cs typeface="TT Hoves Bold"/>
                <a:sym typeface="TT Hoves Bold"/>
              </a:rPr>
              <a:t>02</a:t>
            </a:r>
          </a:p>
        </p:txBody>
      </p:sp>
      <p:sp>
        <p:nvSpPr>
          <p:cNvPr name="TextBox 35" id="35"/>
          <p:cNvSpPr txBox="true"/>
          <p:nvPr/>
        </p:nvSpPr>
        <p:spPr>
          <a:xfrm rot="0">
            <a:off x="1509697" y="7332211"/>
            <a:ext cx="2628856" cy="1368261"/>
          </a:xfrm>
          <a:prstGeom prst="rect">
            <a:avLst/>
          </a:prstGeom>
        </p:spPr>
        <p:txBody>
          <a:bodyPr anchor="t" rtlCol="false" tIns="0" lIns="0" bIns="0" rIns="0">
            <a:spAutoFit/>
          </a:bodyPr>
          <a:lstStyle/>
          <a:p>
            <a:pPr algn="l">
              <a:lnSpc>
                <a:spcPts val="10157"/>
              </a:lnSpc>
            </a:pPr>
            <a:r>
              <a:rPr lang="en-US" b="true" sz="10806" spc="-529">
                <a:solidFill>
                  <a:srgbClr val="EFEFEF"/>
                </a:solidFill>
                <a:latin typeface="TT Hoves Bold"/>
                <a:ea typeface="TT Hoves Bold"/>
                <a:cs typeface="TT Hoves Bold"/>
                <a:sym typeface="TT Hoves Bold"/>
              </a:rPr>
              <a:t>03</a:t>
            </a:r>
          </a:p>
        </p:txBody>
      </p:sp>
      <p:sp>
        <p:nvSpPr>
          <p:cNvPr name="TextBox 36" id="36"/>
          <p:cNvSpPr txBox="true"/>
          <p:nvPr/>
        </p:nvSpPr>
        <p:spPr>
          <a:xfrm rot="0">
            <a:off x="12102381" y="1798260"/>
            <a:ext cx="1999455" cy="1368261"/>
          </a:xfrm>
          <a:prstGeom prst="rect">
            <a:avLst/>
          </a:prstGeom>
        </p:spPr>
        <p:txBody>
          <a:bodyPr anchor="t" rtlCol="false" tIns="0" lIns="0" bIns="0" rIns="0">
            <a:spAutoFit/>
          </a:bodyPr>
          <a:lstStyle/>
          <a:p>
            <a:pPr algn="l">
              <a:lnSpc>
                <a:spcPts val="10157"/>
              </a:lnSpc>
            </a:pPr>
            <a:r>
              <a:rPr lang="en-US" b="true" sz="10806" spc="-529">
                <a:solidFill>
                  <a:srgbClr val="EFEFEF"/>
                </a:solidFill>
                <a:latin typeface="TT Hoves Bold"/>
                <a:ea typeface="TT Hoves Bold"/>
                <a:cs typeface="TT Hoves Bold"/>
                <a:sym typeface="TT Hoves Bold"/>
              </a:rPr>
              <a:t>04</a:t>
            </a:r>
          </a:p>
        </p:txBody>
      </p:sp>
      <p:sp>
        <p:nvSpPr>
          <p:cNvPr name="TextBox 37" id="37"/>
          <p:cNvSpPr txBox="true"/>
          <p:nvPr/>
        </p:nvSpPr>
        <p:spPr>
          <a:xfrm rot="0">
            <a:off x="12102381" y="4523717"/>
            <a:ext cx="2628856" cy="1368261"/>
          </a:xfrm>
          <a:prstGeom prst="rect">
            <a:avLst/>
          </a:prstGeom>
        </p:spPr>
        <p:txBody>
          <a:bodyPr anchor="t" rtlCol="false" tIns="0" lIns="0" bIns="0" rIns="0">
            <a:spAutoFit/>
          </a:bodyPr>
          <a:lstStyle/>
          <a:p>
            <a:pPr algn="l">
              <a:lnSpc>
                <a:spcPts val="10157"/>
              </a:lnSpc>
            </a:pPr>
            <a:r>
              <a:rPr lang="en-US" b="true" sz="10806" spc="-529">
                <a:solidFill>
                  <a:srgbClr val="EFEFEF"/>
                </a:solidFill>
                <a:latin typeface="TT Hoves Bold"/>
                <a:ea typeface="TT Hoves Bold"/>
                <a:cs typeface="TT Hoves Bold"/>
                <a:sym typeface="TT Hoves Bold"/>
              </a:rPr>
              <a:t>05</a:t>
            </a:r>
          </a:p>
        </p:txBody>
      </p:sp>
      <p:sp>
        <p:nvSpPr>
          <p:cNvPr name="TextBox 38" id="38"/>
          <p:cNvSpPr txBox="true"/>
          <p:nvPr/>
        </p:nvSpPr>
        <p:spPr>
          <a:xfrm rot="0">
            <a:off x="12102381" y="7304532"/>
            <a:ext cx="2628856" cy="1368261"/>
          </a:xfrm>
          <a:prstGeom prst="rect">
            <a:avLst/>
          </a:prstGeom>
        </p:spPr>
        <p:txBody>
          <a:bodyPr anchor="t" rtlCol="false" tIns="0" lIns="0" bIns="0" rIns="0">
            <a:spAutoFit/>
          </a:bodyPr>
          <a:lstStyle/>
          <a:p>
            <a:pPr algn="l">
              <a:lnSpc>
                <a:spcPts val="10157"/>
              </a:lnSpc>
            </a:pPr>
            <a:r>
              <a:rPr lang="en-US" b="true" sz="10806" spc="-529">
                <a:solidFill>
                  <a:srgbClr val="EFEFEF"/>
                </a:solidFill>
                <a:latin typeface="TT Hoves Bold"/>
                <a:ea typeface="TT Hoves Bold"/>
                <a:cs typeface="TT Hoves Bold"/>
                <a:sym typeface="TT Hoves Bold"/>
              </a:rPr>
              <a:t>06</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028700" y="977456"/>
            <a:ext cx="16522655" cy="851831"/>
          </a:xfrm>
          <a:prstGeom prst="rect">
            <a:avLst/>
          </a:prstGeom>
        </p:spPr>
        <p:txBody>
          <a:bodyPr anchor="t" rtlCol="false" tIns="0" lIns="0" bIns="0" rIns="0">
            <a:spAutoFit/>
          </a:bodyPr>
          <a:lstStyle/>
          <a:p>
            <a:pPr algn="ctr">
              <a:lnSpc>
                <a:spcPts val="3299"/>
              </a:lnSpc>
            </a:pPr>
            <a:r>
              <a:rPr lang="en-US" b="true" sz="3401" spc="-159">
                <a:solidFill>
                  <a:srgbClr val="000000"/>
                </a:solidFill>
                <a:latin typeface="TT Hoves Bold"/>
                <a:ea typeface="TT Hoves Bold"/>
                <a:cs typeface="TT Hoves Bold"/>
                <a:sym typeface="TT Hoves Bold"/>
              </a:rPr>
              <a:t>“Mayoritas pengguna Spotify adalah dewasa aktif dengan pola dengar bervariasi, dan perilaku seperti skip dan iklan berperan penting dalam memahami loyalitas mereka.”</a:t>
            </a:r>
          </a:p>
        </p:txBody>
      </p:sp>
      <p:sp>
        <p:nvSpPr>
          <p:cNvPr name="TextBox 3" id="3"/>
          <p:cNvSpPr txBox="true"/>
          <p:nvPr/>
        </p:nvSpPr>
        <p:spPr>
          <a:xfrm rot="0">
            <a:off x="1028700" y="7191471"/>
            <a:ext cx="9075417" cy="1714500"/>
          </a:xfrm>
          <a:prstGeom prst="rect">
            <a:avLst/>
          </a:prstGeom>
        </p:spPr>
        <p:txBody>
          <a:bodyPr anchor="t" rtlCol="false" tIns="0" lIns="0" bIns="0" rIns="0">
            <a:spAutoFit/>
          </a:bodyPr>
          <a:lstStyle/>
          <a:p>
            <a:pPr algn="just">
              <a:lnSpc>
                <a:spcPts val="2700"/>
              </a:lnSpc>
              <a:spcBef>
                <a:spcPct val="0"/>
              </a:spcBef>
            </a:pPr>
            <a:r>
              <a:rPr lang="en-US" sz="2000" spc="120">
                <a:solidFill>
                  <a:srgbClr val="000000"/>
                </a:solidFill>
                <a:latin typeface="TT Hoves"/>
                <a:ea typeface="TT Hoves"/>
                <a:cs typeface="TT Hoves"/>
                <a:sym typeface="TT Hoves"/>
              </a:rPr>
              <a:t>S</a:t>
            </a:r>
            <a:r>
              <a:rPr lang="en-US" sz="2000" spc="120">
                <a:solidFill>
                  <a:srgbClr val="000000"/>
                </a:solidFill>
                <a:latin typeface="TT Hoves"/>
                <a:ea typeface="TT Hoves"/>
                <a:cs typeface="TT Hoves"/>
                <a:sym typeface="TT Hoves"/>
              </a:rPr>
              <a:t>ec</a:t>
            </a:r>
            <a:r>
              <a:rPr lang="en-US" sz="2000" spc="120" u="none">
                <a:solidFill>
                  <a:srgbClr val="000000"/>
                </a:solidFill>
                <a:latin typeface="TT Hoves"/>
                <a:ea typeface="TT Hoves"/>
                <a:cs typeface="TT Hoves"/>
                <a:sym typeface="TT Hoves"/>
              </a:rPr>
              <a:t>a</a:t>
            </a:r>
            <a:r>
              <a:rPr lang="en-US" sz="2000" spc="120">
                <a:solidFill>
                  <a:srgbClr val="000000"/>
                </a:solidFill>
                <a:latin typeface="TT Hoves"/>
                <a:ea typeface="TT Hoves"/>
                <a:cs typeface="TT Hoves"/>
                <a:sym typeface="TT Hoves"/>
              </a:rPr>
              <a:t>r</a:t>
            </a:r>
            <a:r>
              <a:rPr lang="en-US" sz="2000" spc="120" u="none">
                <a:solidFill>
                  <a:srgbClr val="000000"/>
                </a:solidFill>
                <a:latin typeface="TT Hoves"/>
                <a:ea typeface="TT Hoves"/>
                <a:cs typeface="TT Hoves"/>
                <a:sym typeface="TT Hoves"/>
              </a:rPr>
              <a:t>a</a:t>
            </a:r>
            <a:r>
              <a:rPr lang="en-US" sz="2000" spc="120">
                <a:solidFill>
                  <a:srgbClr val="000000"/>
                </a:solidFill>
                <a:latin typeface="TT Hoves"/>
                <a:ea typeface="TT Hoves"/>
                <a:cs typeface="TT Hoves"/>
                <a:sym typeface="TT Hoves"/>
              </a:rPr>
              <a:t> ke</a:t>
            </a:r>
            <a:r>
              <a:rPr lang="en-US" sz="2000" spc="120" u="none">
                <a:solidFill>
                  <a:srgbClr val="000000"/>
                </a:solidFill>
                <a:latin typeface="TT Hoves"/>
                <a:ea typeface="TT Hoves"/>
                <a:cs typeface="TT Hoves"/>
                <a:sym typeface="TT Hoves"/>
              </a:rPr>
              <a:t>seluru</a:t>
            </a:r>
            <a:r>
              <a:rPr lang="en-US" sz="2000" spc="120">
                <a:solidFill>
                  <a:srgbClr val="000000"/>
                </a:solidFill>
                <a:latin typeface="TT Hoves"/>
                <a:ea typeface="TT Hoves"/>
                <a:cs typeface="TT Hoves"/>
                <a:sym typeface="TT Hoves"/>
              </a:rPr>
              <a:t>ha</a:t>
            </a:r>
            <a:r>
              <a:rPr lang="en-US" sz="2000" spc="120" u="none">
                <a:solidFill>
                  <a:srgbClr val="000000"/>
                </a:solidFill>
                <a:latin typeface="TT Hoves"/>
                <a:ea typeface="TT Hoves"/>
                <a:cs typeface="TT Hoves"/>
                <a:sym typeface="TT Hoves"/>
              </a:rPr>
              <a:t>n,</a:t>
            </a:r>
            <a:r>
              <a:rPr lang="en-US" sz="2000" spc="120">
                <a:solidFill>
                  <a:srgbClr val="000000"/>
                </a:solidFill>
                <a:latin typeface="TT Hoves"/>
                <a:ea typeface="TT Hoves"/>
                <a:cs typeface="TT Hoves"/>
                <a:sym typeface="TT Hoves"/>
              </a:rPr>
              <a:t> </a:t>
            </a:r>
            <a:r>
              <a:rPr lang="en-US" sz="2000" spc="120" u="none">
                <a:solidFill>
                  <a:srgbClr val="000000"/>
                </a:solidFill>
                <a:latin typeface="TT Hoves"/>
                <a:ea typeface="TT Hoves"/>
                <a:cs typeface="TT Hoves"/>
                <a:sym typeface="TT Hoves"/>
              </a:rPr>
              <a:t>user  spotify did</a:t>
            </a:r>
            <a:r>
              <a:rPr lang="en-US" sz="2000" spc="120">
                <a:solidFill>
                  <a:srgbClr val="000000"/>
                </a:solidFill>
                <a:latin typeface="TT Hoves"/>
                <a:ea typeface="TT Hoves"/>
                <a:cs typeface="TT Hoves"/>
                <a:sym typeface="TT Hoves"/>
              </a:rPr>
              <a:t>o</a:t>
            </a:r>
            <a:r>
              <a:rPr lang="en-US" sz="2000" spc="120" u="none">
                <a:solidFill>
                  <a:srgbClr val="000000"/>
                </a:solidFill>
                <a:latin typeface="TT Hoves"/>
                <a:ea typeface="TT Hoves"/>
                <a:cs typeface="TT Hoves"/>
                <a:sym typeface="TT Hoves"/>
              </a:rPr>
              <a:t>min</a:t>
            </a:r>
            <a:r>
              <a:rPr lang="en-US" sz="2000" spc="120">
                <a:solidFill>
                  <a:srgbClr val="000000"/>
                </a:solidFill>
                <a:latin typeface="TT Hoves"/>
                <a:ea typeface="TT Hoves"/>
                <a:cs typeface="TT Hoves"/>
                <a:sym typeface="TT Hoves"/>
              </a:rPr>
              <a:t>a</a:t>
            </a:r>
            <a:r>
              <a:rPr lang="en-US" sz="2000" spc="120" u="none">
                <a:solidFill>
                  <a:srgbClr val="000000"/>
                </a:solidFill>
                <a:latin typeface="TT Hoves"/>
                <a:ea typeface="TT Hoves"/>
                <a:cs typeface="TT Hoves"/>
                <a:sym typeface="TT Hoves"/>
              </a:rPr>
              <a:t>si</a:t>
            </a:r>
            <a:r>
              <a:rPr lang="en-US" sz="2000" spc="120">
                <a:solidFill>
                  <a:srgbClr val="000000"/>
                </a:solidFill>
                <a:latin typeface="TT Hoves"/>
                <a:ea typeface="TT Hoves"/>
                <a:cs typeface="TT Hoves"/>
                <a:sym typeface="TT Hoves"/>
              </a:rPr>
              <a:t> oleh</a:t>
            </a:r>
            <a:r>
              <a:rPr lang="en-US" sz="2000" spc="120" u="none">
                <a:solidFill>
                  <a:srgbClr val="000000"/>
                </a:solidFill>
                <a:latin typeface="TT Hoves"/>
                <a:ea typeface="TT Hoves"/>
                <a:cs typeface="TT Hoves"/>
                <a:sym typeface="TT Hoves"/>
              </a:rPr>
              <a:t> l</a:t>
            </a:r>
            <a:r>
              <a:rPr lang="en-US" sz="2000" spc="120">
                <a:solidFill>
                  <a:srgbClr val="000000"/>
                </a:solidFill>
                <a:latin typeface="TT Hoves"/>
                <a:ea typeface="TT Hoves"/>
                <a:cs typeface="TT Hoves"/>
                <a:sym typeface="TT Hoves"/>
              </a:rPr>
              <a:t>aki-l</a:t>
            </a:r>
            <a:r>
              <a:rPr lang="en-US" sz="2000" spc="120" u="none">
                <a:solidFill>
                  <a:srgbClr val="000000"/>
                </a:solidFill>
                <a:latin typeface="TT Hoves"/>
                <a:ea typeface="TT Hoves"/>
                <a:cs typeface="TT Hoves"/>
                <a:sym typeface="TT Hoves"/>
              </a:rPr>
              <a:t>aki, berlangganan</a:t>
            </a:r>
            <a:r>
              <a:rPr lang="en-US" sz="2000" spc="120">
                <a:solidFill>
                  <a:srgbClr val="000000"/>
                </a:solidFill>
                <a:latin typeface="TT Hoves"/>
                <a:ea typeface="TT Hoves"/>
                <a:cs typeface="TT Hoves"/>
                <a:sym typeface="TT Hoves"/>
              </a:rPr>
              <a:t> Premium (dil</a:t>
            </a:r>
            <a:r>
              <a:rPr lang="en-US" sz="2000" spc="120" u="none">
                <a:solidFill>
                  <a:srgbClr val="000000"/>
                </a:solidFill>
                <a:latin typeface="TT Hoves"/>
                <a:ea typeface="TT Hoves"/>
                <a:cs typeface="TT Hoves"/>
                <a:sym typeface="TT Hoves"/>
              </a:rPr>
              <a:t>ihat d</a:t>
            </a:r>
            <a:r>
              <a:rPr lang="en-US" sz="2000" spc="120">
                <a:solidFill>
                  <a:srgbClr val="000000"/>
                </a:solidFill>
                <a:latin typeface="TT Hoves"/>
                <a:ea typeface="TT Hoves"/>
                <a:cs typeface="TT Hoves"/>
                <a:sym typeface="TT Hoves"/>
              </a:rPr>
              <a:t>ari r</a:t>
            </a:r>
            <a:r>
              <a:rPr lang="en-US" sz="2000" spc="120" u="none">
                <a:solidFill>
                  <a:srgbClr val="000000"/>
                </a:solidFill>
                <a:latin typeface="TT Hoves"/>
                <a:ea typeface="TT Hoves"/>
                <a:cs typeface="TT Hoves"/>
                <a:sym typeface="TT Hoves"/>
              </a:rPr>
              <a:t>endahnya</a:t>
            </a:r>
            <a:r>
              <a:rPr lang="en-US" sz="2000" spc="120">
                <a:solidFill>
                  <a:srgbClr val="000000"/>
                </a:solidFill>
                <a:latin typeface="TT Hoves"/>
                <a:ea typeface="TT Hoves"/>
                <a:cs typeface="TT Hoves"/>
                <a:sym typeface="TT Hoves"/>
              </a:rPr>
              <a:t> papa</a:t>
            </a:r>
            <a:r>
              <a:rPr lang="en-US" sz="2000" spc="120" u="none">
                <a:solidFill>
                  <a:srgbClr val="000000"/>
                </a:solidFill>
                <a:latin typeface="TT Hoves"/>
                <a:ea typeface="TT Hoves"/>
                <a:cs typeface="TT Hoves"/>
                <a:sym typeface="TT Hoves"/>
              </a:rPr>
              <a:t>r</a:t>
            </a:r>
            <a:r>
              <a:rPr lang="en-US" sz="2000" spc="120">
                <a:solidFill>
                  <a:srgbClr val="000000"/>
                </a:solidFill>
                <a:latin typeface="TT Hoves"/>
                <a:ea typeface="TT Hoves"/>
                <a:cs typeface="TT Hoves"/>
                <a:sym typeface="TT Hoves"/>
              </a:rPr>
              <a:t>an iklan s</a:t>
            </a:r>
            <a:r>
              <a:rPr lang="en-US" sz="2000" spc="120" u="none">
                <a:solidFill>
                  <a:srgbClr val="000000"/>
                </a:solidFill>
                <a:latin typeface="TT Hoves"/>
                <a:ea typeface="TT Hoves"/>
                <a:cs typeface="TT Hoves"/>
                <a:sym typeface="TT Hoves"/>
              </a:rPr>
              <a:t>ecar</a:t>
            </a:r>
            <a:r>
              <a:rPr lang="en-US" sz="2000" spc="120">
                <a:solidFill>
                  <a:srgbClr val="000000"/>
                </a:solidFill>
                <a:latin typeface="TT Hoves"/>
                <a:ea typeface="TT Hoves"/>
                <a:cs typeface="TT Hoves"/>
                <a:sym typeface="TT Hoves"/>
              </a:rPr>
              <a:t>a </a:t>
            </a:r>
            <a:r>
              <a:rPr lang="en-US" sz="2000" spc="120" u="none">
                <a:solidFill>
                  <a:srgbClr val="000000"/>
                </a:solidFill>
                <a:latin typeface="TT Hoves"/>
                <a:ea typeface="TT Hoves"/>
                <a:cs typeface="TT Hoves"/>
                <a:sym typeface="TT Hoves"/>
              </a:rPr>
              <a:t>keseluruha</a:t>
            </a:r>
            <a:r>
              <a:rPr lang="en-US" sz="2000" spc="120">
                <a:solidFill>
                  <a:srgbClr val="000000"/>
                </a:solidFill>
                <a:latin typeface="TT Hoves"/>
                <a:ea typeface="TT Hoves"/>
                <a:cs typeface="TT Hoves"/>
                <a:sym typeface="TT Hoves"/>
              </a:rPr>
              <a:t>n), lebih banyak mendengarkan dari desktop dan berasal dari Australia. Rata-r</a:t>
            </a:r>
            <a:r>
              <a:rPr lang="en-US" sz="2000" spc="120" u="none">
                <a:solidFill>
                  <a:srgbClr val="000000"/>
                </a:solidFill>
                <a:latin typeface="TT Hoves"/>
                <a:ea typeface="TT Hoves"/>
                <a:cs typeface="TT Hoves"/>
                <a:sym typeface="TT Hoves"/>
              </a:rPr>
              <a:t>ata us</a:t>
            </a:r>
            <a:r>
              <a:rPr lang="en-US" sz="2000" spc="120">
                <a:solidFill>
                  <a:srgbClr val="000000"/>
                </a:solidFill>
                <a:latin typeface="TT Hoves"/>
                <a:ea typeface="TT Hoves"/>
                <a:cs typeface="TT Hoves"/>
                <a:sym typeface="TT Hoves"/>
              </a:rPr>
              <a:t>er </a:t>
            </a:r>
            <a:r>
              <a:rPr lang="en-US" sz="2000" spc="120" u="none">
                <a:solidFill>
                  <a:srgbClr val="000000"/>
                </a:solidFill>
                <a:latin typeface="TT Hoves"/>
                <a:ea typeface="TT Hoves"/>
                <a:cs typeface="TT Hoves"/>
                <a:sym typeface="TT Hoves"/>
              </a:rPr>
              <a:t>berus</a:t>
            </a:r>
            <a:r>
              <a:rPr lang="en-US" sz="2000" spc="120">
                <a:solidFill>
                  <a:srgbClr val="000000"/>
                </a:solidFill>
                <a:latin typeface="TT Hoves"/>
                <a:ea typeface="TT Hoves"/>
                <a:cs typeface="TT Hoves"/>
                <a:sym typeface="TT Hoves"/>
              </a:rPr>
              <a:t>i</a:t>
            </a:r>
            <a:r>
              <a:rPr lang="en-US" sz="2000" spc="120" u="none">
                <a:solidFill>
                  <a:srgbClr val="000000"/>
                </a:solidFill>
                <a:latin typeface="TT Hoves"/>
                <a:ea typeface="TT Hoves"/>
                <a:cs typeface="TT Hoves"/>
                <a:sym typeface="TT Hoves"/>
              </a:rPr>
              <a:t>a 38 tahu</a:t>
            </a:r>
            <a:r>
              <a:rPr lang="en-US" sz="2000" spc="120">
                <a:solidFill>
                  <a:srgbClr val="000000"/>
                </a:solidFill>
                <a:latin typeface="TT Hoves"/>
                <a:ea typeface="TT Hoves"/>
                <a:cs typeface="TT Hoves"/>
                <a:sym typeface="TT Hoves"/>
              </a:rPr>
              <a:t>n,</a:t>
            </a:r>
            <a:r>
              <a:rPr lang="en-US" sz="2000" spc="120" u="none">
                <a:solidFill>
                  <a:srgbClr val="000000"/>
                </a:solidFill>
                <a:latin typeface="TT Hoves"/>
                <a:ea typeface="TT Hoves"/>
                <a:cs typeface="TT Hoves"/>
                <a:sym typeface="TT Hoves"/>
              </a:rPr>
              <a:t> </a:t>
            </a:r>
            <a:r>
              <a:rPr lang="en-US" sz="2000" spc="120">
                <a:solidFill>
                  <a:srgbClr val="000000"/>
                </a:solidFill>
                <a:latin typeface="TT Hoves"/>
                <a:ea typeface="TT Hoves"/>
                <a:cs typeface="TT Hoves"/>
                <a:sym typeface="TT Hoves"/>
              </a:rPr>
              <a:t>m</a:t>
            </a:r>
            <a:r>
              <a:rPr lang="en-US" sz="2000" spc="120" u="none">
                <a:solidFill>
                  <a:srgbClr val="000000"/>
                </a:solidFill>
                <a:latin typeface="TT Hoves"/>
                <a:ea typeface="TT Hoves"/>
                <a:cs typeface="TT Hoves"/>
                <a:sym typeface="TT Hoves"/>
              </a:rPr>
              <a:t>end</a:t>
            </a:r>
            <a:r>
              <a:rPr lang="en-US" sz="2000" spc="120">
                <a:solidFill>
                  <a:srgbClr val="000000"/>
                </a:solidFill>
                <a:latin typeface="TT Hoves"/>
                <a:ea typeface="TT Hoves"/>
                <a:cs typeface="TT Hoves"/>
                <a:sym typeface="TT Hoves"/>
              </a:rPr>
              <a:t>e</a:t>
            </a:r>
            <a:r>
              <a:rPr lang="en-US" sz="2000" spc="120" u="none">
                <a:solidFill>
                  <a:srgbClr val="000000"/>
                </a:solidFill>
                <a:latin typeface="TT Hoves"/>
                <a:ea typeface="TT Hoves"/>
                <a:cs typeface="TT Hoves"/>
                <a:sym typeface="TT Hoves"/>
              </a:rPr>
              <a:t>nga</a:t>
            </a:r>
            <a:r>
              <a:rPr lang="en-US" sz="2000" spc="120">
                <a:solidFill>
                  <a:srgbClr val="000000"/>
                </a:solidFill>
                <a:latin typeface="TT Hoves"/>
                <a:ea typeface="TT Hoves"/>
                <a:cs typeface="TT Hoves"/>
                <a:sym typeface="TT Hoves"/>
              </a:rPr>
              <a:t>r</a:t>
            </a:r>
            <a:r>
              <a:rPr lang="en-US" sz="2000" spc="120" u="none">
                <a:solidFill>
                  <a:srgbClr val="000000"/>
                </a:solidFill>
                <a:latin typeface="TT Hoves"/>
                <a:ea typeface="TT Hoves"/>
                <a:cs typeface="TT Hoves"/>
                <a:sym typeface="TT Hoves"/>
              </a:rPr>
              <a:t>kan</a:t>
            </a:r>
            <a:r>
              <a:rPr lang="en-US" sz="2000" spc="120">
                <a:solidFill>
                  <a:srgbClr val="000000"/>
                </a:solidFill>
                <a:latin typeface="TT Hoves"/>
                <a:ea typeface="TT Hoves"/>
                <a:cs typeface="TT Hoves"/>
                <a:sym typeface="TT Hoves"/>
              </a:rPr>
              <a:t> seki</a:t>
            </a:r>
            <a:r>
              <a:rPr lang="en-US" sz="2000" spc="120" u="none">
                <a:solidFill>
                  <a:srgbClr val="000000"/>
                </a:solidFill>
                <a:latin typeface="TT Hoves"/>
                <a:ea typeface="TT Hoves"/>
                <a:cs typeface="TT Hoves"/>
                <a:sym typeface="TT Hoves"/>
              </a:rPr>
              <a:t>tar</a:t>
            </a:r>
            <a:r>
              <a:rPr lang="en-US" sz="2000" spc="120">
                <a:solidFill>
                  <a:srgbClr val="000000"/>
                </a:solidFill>
                <a:latin typeface="TT Hoves"/>
                <a:ea typeface="TT Hoves"/>
                <a:cs typeface="TT Hoves"/>
                <a:sym typeface="TT Hoves"/>
              </a:rPr>
              <a:t> 2,5 jam atau 50 </a:t>
            </a:r>
            <a:r>
              <a:rPr lang="en-US" sz="2000" spc="120" u="none">
                <a:solidFill>
                  <a:srgbClr val="000000"/>
                </a:solidFill>
                <a:latin typeface="TT Hoves"/>
                <a:ea typeface="TT Hoves"/>
                <a:cs typeface="TT Hoves"/>
                <a:sym typeface="TT Hoves"/>
              </a:rPr>
              <a:t>l</a:t>
            </a:r>
            <a:r>
              <a:rPr lang="en-US" sz="2000" spc="120">
                <a:solidFill>
                  <a:srgbClr val="000000"/>
                </a:solidFill>
                <a:latin typeface="TT Hoves"/>
                <a:ea typeface="TT Hoves"/>
                <a:cs typeface="TT Hoves"/>
                <a:sym typeface="TT Hoves"/>
              </a:rPr>
              <a:t>a</a:t>
            </a:r>
            <a:r>
              <a:rPr lang="en-US" sz="2000" spc="120" u="none">
                <a:solidFill>
                  <a:srgbClr val="000000"/>
                </a:solidFill>
                <a:latin typeface="TT Hoves"/>
                <a:ea typeface="TT Hoves"/>
                <a:cs typeface="TT Hoves"/>
                <a:sym typeface="TT Hoves"/>
              </a:rPr>
              <a:t>gu</a:t>
            </a:r>
            <a:r>
              <a:rPr lang="en-US" sz="2000" spc="120">
                <a:solidFill>
                  <a:srgbClr val="000000"/>
                </a:solidFill>
                <a:latin typeface="TT Hoves"/>
                <a:ea typeface="TT Hoves"/>
                <a:cs typeface="TT Hoves"/>
                <a:sym typeface="TT Hoves"/>
              </a:rPr>
              <a:t> </a:t>
            </a:r>
            <a:r>
              <a:rPr lang="en-US" sz="2000" spc="120" u="none">
                <a:solidFill>
                  <a:srgbClr val="000000"/>
                </a:solidFill>
                <a:latin typeface="TT Hoves"/>
                <a:ea typeface="TT Hoves"/>
                <a:cs typeface="TT Hoves"/>
                <a:sym typeface="TT Hoves"/>
              </a:rPr>
              <a:t>p</a:t>
            </a:r>
            <a:r>
              <a:rPr lang="en-US" sz="2000" spc="120">
                <a:solidFill>
                  <a:srgbClr val="000000"/>
                </a:solidFill>
                <a:latin typeface="TT Hoves"/>
                <a:ea typeface="TT Hoves"/>
                <a:cs typeface="TT Hoves"/>
                <a:sym typeface="TT Hoves"/>
              </a:rPr>
              <a:t>er</a:t>
            </a:r>
            <a:r>
              <a:rPr lang="en-US" sz="2000" spc="120" u="none">
                <a:solidFill>
                  <a:srgbClr val="000000"/>
                </a:solidFill>
                <a:latin typeface="TT Hoves"/>
                <a:ea typeface="TT Hoves"/>
                <a:cs typeface="TT Hoves"/>
                <a:sym typeface="TT Hoves"/>
              </a:rPr>
              <a:t> h</a:t>
            </a:r>
            <a:r>
              <a:rPr lang="en-US" sz="2000" spc="120">
                <a:solidFill>
                  <a:srgbClr val="000000"/>
                </a:solidFill>
                <a:latin typeface="TT Hoves"/>
                <a:ea typeface="TT Hoves"/>
                <a:cs typeface="TT Hoves"/>
                <a:sym typeface="TT Hoves"/>
              </a:rPr>
              <a:t>a</a:t>
            </a:r>
            <a:r>
              <a:rPr lang="en-US" sz="2000" spc="120" u="none">
                <a:solidFill>
                  <a:srgbClr val="000000"/>
                </a:solidFill>
                <a:latin typeface="TT Hoves"/>
                <a:ea typeface="TT Hoves"/>
                <a:cs typeface="TT Hoves"/>
                <a:sym typeface="TT Hoves"/>
              </a:rPr>
              <a:t>ri, dan tingkat melewati lagu sekitar </a:t>
            </a:r>
            <a:r>
              <a:rPr lang="en-US" sz="2000" spc="120">
                <a:solidFill>
                  <a:srgbClr val="000000"/>
                </a:solidFill>
                <a:latin typeface="TT Hoves"/>
                <a:ea typeface="TT Hoves"/>
                <a:cs typeface="TT Hoves"/>
                <a:sym typeface="TT Hoves"/>
              </a:rPr>
              <a:t>30%</a:t>
            </a:r>
            <a:r>
              <a:rPr lang="en-US" sz="2000" spc="120" u="none">
                <a:solidFill>
                  <a:srgbClr val="000000"/>
                </a:solidFill>
                <a:latin typeface="TT Hoves"/>
                <a:ea typeface="TT Hoves"/>
                <a:cs typeface="TT Hoves"/>
                <a:sym typeface="TT Hoves"/>
              </a:rPr>
              <a:t>.</a:t>
            </a:r>
          </a:p>
        </p:txBody>
      </p:sp>
      <p:sp>
        <p:nvSpPr>
          <p:cNvPr name="Freeform 4" id="4"/>
          <p:cNvSpPr/>
          <p:nvPr/>
        </p:nvSpPr>
        <p:spPr>
          <a:xfrm flipH="false" flipV="false" rot="0">
            <a:off x="8480781" y="-7939543"/>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2229094" y="6702518"/>
            <a:ext cx="6755164" cy="3671716"/>
            <a:chOff x="0" y="0"/>
            <a:chExt cx="1779138" cy="967036"/>
          </a:xfrm>
        </p:grpSpPr>
        <p:sp>
          <p:nvSpPr>
            <p:cNvPr name="Freeform 6" id="6"/>
            <p:cNvSpPr/>
            <p:nvPr/>
          </p:nvSpPr>
          <p:spPr>
            <a:xfrm flipH="false" flipV="false" rot="0">
              <a:off x="0" y="0"/>
              <a:ext cx="1779138" cy="967036"/>
            </a:xfrm>
            <a:custGeom>
              <a:avLst/>
              <a:gdLst/>
              <a:ahLst/>
              <a:cxnLst/>
              <a:rect r="r" b="b" t="t" l="l"/>
              <a:pathLst>
                <a:path h="967036" w="1779138">
                  <a:moveTo>
                    <a:pt x="0" y="0"/>
                  </a:moveTo>
                  <a:lnTo>
                    <a:pt x="1779138" y="0"/>
                  </a:lnTo>
                  <a:lnTo>
                    <a:pt x="1779138" y="967036"/>
                  </a:lnTo>
                  <a:lnTo>
                    <a:pt x="0" y="967036"/>
                  </a:lnTo>
                  <a:close/>
                </a:path>
              </a:pathLst>
            </a:custGeom>
            <a:solidFill>
              <a:srgbClr val="0003FF"/>
            </a:solidFill>
          </p:spPr>
        </p:sp>
        <p:sp>
          <p:nvSpPr>
            <p:cNvPr name="TextBox 7" id="7"/>
            <p:cNvSpPr txBox="true"/>
            <p:nvPr/>
          </p:nvSpPr>
          <p:spPr>
            <a:xfrm>
              <a:off x="0" y="-57150"/>
              <a:ext cx="1779138" cy="1024186"/>
            </a:xfrm>
            <a:prstGeom prst="rect">
              <a:avLst/>
            </a:prstGeom>
          </p:spPr>
          <p:txBody>
            <a:bodyPr anchor="ctr" rtlCol="false" tIns="50800" lIns="50800" bIns="50800" rIns="50800"/>
            <a:lstStyle/>
            <a:p>
              <a:pPr algn="ctr">
                <a:lnSpc>
                  <a:spcPts val="3639"/>
                </a:lnSpc>
              </a:pPr>
            </a:p>
          </p:txBody>
        </p:sp>
      </p:grpSp>
      <p:sp>
        <p:nvSpPr>
          <p:cNvPr name="Freeform 8" id="8"/>
          <p:cNvSpPr/>
          <p:nvPr/>
        </p:nvSpPr>
        <p:spPr>
          <a:xfrm flipH="false" flipV="false" rot="0">
            <a:off x="761022" y="3389503"/>
            <a:ext cx="10407738" cy="2966205"/>
          </a:xfrm>
          <a:custGeom>
            <a:avLst/>
            <a:gdLst/>
            <a:ahLst/>
            <a:cxnLst/>
            <a:rect r="r" b="b" t="t" l="l"/>
            <a:pathLst>
              <a:path h="2966205" w="10407738">
                <a:moveTo>
                  <a:pt x="0" y="0"/>
                </a:moveTo>
                <a:lnTo>
                  <a:pt x="10407738" y="0"/>
                </a:lnTo>
                <a:lnTo>
                  <a:pt x="10407738" y="2966205"/>
                </a:lnTo>
                <a:lnTo>
                  <a:pt x="0" y="2966205"/>
                </a:lnTo>
                <a:lnTo>
                  <a:pt x="0" y="0"/>
                </a:lnTo>
                <a:close/>
              </a:path>
            </a:pathLst>
          </a:custGeom>
          <a:blipFill>
            <a:blip r:embed="rId4"/>
            <a:stretch>
              <a:fillRect l="0" t="0" r="0" b="0"/>
            </a:stretch>
          </a:blipFill>
        </p:spPr>
      </p:sp>
      <p:sp>
        <p:nvSpPr>
          <p:cNvPr name="Freeform 9" id="9"/>
          <p:cNvSpPr/>
          <p:nvPr/>
        </p:nvSpPr>
        <p:spPr>
          <a:xfrm flipH="false" flipV="false" rot="0">
            <a:off x="11449602" y="3703448"/>
            <a:ext cx="6101754" cy="2338314"/>
          </a:xfrm>
          <a:custGeom>
            <a:avLst/>
            <a:gdLst/>
            <a:ahLst/>
            <a:cxnLst/>
            <a:rect r="r" b="b" t="t" l="l"/>
            <a:pathLst>
              <a:path h="2338314" w="6101754">
                <a:moveTo>
                  <a:pt x="0" y="0"/>
                </a:moveTo>
                <a:lnTo>
                  <a:pt x="6101753" y="0"/>
                </a:lnTo>
                <a:lnTo>
                  <a:pt x="6101753" y="2338314"/>
                </a:lnTo>
                <a:lnTo>
                  <a:pt x="0" y="2338314"/>
                </a:lnTo>
                <a:lnTo>
                  <a:pt x="0" y="0"/>
                </a:lnTo>
                <a:close/>
              </a:path>
            </a:pathLst>
          </a:custGeom>
          <a:blipFill>
            <a:blip r:embed="rId5"/>
            <a:stretch>
              <a:fillRect l="0" t="0" r="0" b="0"/>
            </a:stretch>
          </a:blipFill>
        </p:spPr>
      </p:sp>
      <p:sp>
        <p:nvSpPr>
          <p:cNvPr name="TextBox 10" id="10"/>
          <p:cNvSpPr txBox="true"/>
          <p:nvPr/>
        </p:nvSpPr>
        <p:spPr>
          <a:xfrm rot="0">
            <a:off x="12719168" y="6975212"/>
            <a:ext cx="6265091" cy="4832876"/>
          </a:xfrm>
          <a:prstGeom prst="rect">
            <a:avLst/>
          </a:prstGeom>
        </p:spPr>
        <p:txBody>
          <a:bodyPr anchor="t" rtlCol="false" tIns="0" lIns="0" bIns="0" rIns="0">
            <a:spAutoFit/>
          </a:bodyPr>
          <a:lstStyle/>
          <a:p>
            <a:pPr algn="ctr">
              <a:lnSpc>
                <a:spcPts val="35614"/>
              </a:lnSpc>
            </a:pPr>
            <a:r>
              <a:rPr lang="en-US" b="true" sz="37888" spc="-1856">
                <a:solidFill>
                  <a:srgbClr val="EFEFEF"/>
                </a:solidFill>
                <a:latin typeface="TT Hoves Bold"/>
                <a:ea typeface="TT Hoves Bold"/>
                <a:cs typeface="TT Hoves Bold"/>
                <a:sym typeface="TT Hoves Bold"/>
              </a:rPr>
              <a:t>11</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9560011" y="-2564899"/>
            <a:ext cx="16075318" cy="16075318"/>
          </a:xfrm>
          <a:custGeom>
            <a:avLst/>
            <a:gdLst/>
            <a:ahLst/>
            <a:cxnLst/>
            <a:rect r="r" b="b" t="t" l="l"/>
            <a:pathLst>
              <a:path h="16075318" w="16075318">
                <a:moveTo>
                  <a:pt x="0" y="0"/>
                </a:moveTo>
                <a:lnTo>
                  <a:pt x="16075318" y="0"/>
                </a:lnTo>
                <a:lnTo>
                  <a:pt x="16075318" y="16075318"/>
                </a:lnTo>
                <a:lnTo>
                  <a:pt x="0" y="16075318"/>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258" y="-976142"/>
            <a:ext cx="2222590" cy="11878896"/>
            <a:chOff x="0" y="0"/>
            <a:chExt cx="585373" cy="3128598"/>
          </a:xfrm>
        </p:grpSpPr>
        <p:sp>
          <p:nvSpPr>
            <p:cNvPr name="Freeform 4" id="4"/>
            <p:cNvSpPr/>
            <p:nvPr/>
          </p:nvSpPr>
          <p:spPr>
            <a:xfrm flipH="false" flipV="false" rot="0">
              <a:off x="0" y="0"/>
              <a:ext cx="585373" cy="3128598"/>
            </a:xfrm>
            <a:custGeom>
              <a:avLst/>
              <a:gdLst/>
              <a:ahLst/>
              <a:cxnLst/>
              <a:rect r="r" b="b" t="t" l="l"/>
              <a:pathLst>
                <a:path h="3128598" w="585373">
                  <a:moveTo>
                    <a:pt x="0" y="0"/>
                  </a:moveTo>
                  <a:lnTo>
                    <a:pt x="585373" y="0"/>
                  </a:lnTo>
                  <a:lnTo>
                    <a:pt x="585373" y="3128598"/>
                  </a:lnTo>
                  <a:lnTo>
                    <a:pt x="0" y="3128598"/>
                  </a:lnTo>
                  <a:close/>
                </a:path>
              </a:pathLst>
            </a:custGeom>
            <a:solidFill>
              <a:srgbClr val="0003FF"/>
            </a:solidFill>
          </p:spPr>
        </p:sp>
        <p:sp>
          <p:nvSpPr>
            <p:cNvPr name="TextBox 5" id="5"/>
            <p:cNvSpPr txBox="true"/>
            <p:nvPr/>
          </p:nvSpPr>
          <p:spPr>
            <a:xfrm>
              <a:off x="0" y="-57150"/>
              <a:ext cx="585373" cy="318574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6474024" y="1793736"/>
            <a:ext cx="5225653" cy="4976296"/>
          </a:xfrm>
          <a:custGeom>
            <a:avLst/>
            <a:gdLst/>
            <a:ahLst/>
            <a:cxnLst/>
            <a:rect r="r" b="b" t="t" l="l"/>
            <a:pathLst>
              <a:path h="4976296" w="5225653">
                <a:moveTo>
                  <a:pt x="0" y="0"/>
                </a:moveTo>
                <a:lnTo>
                  <a:pt x="5225652" y="0"/>
                </a:lnTo>
                <a:lnTo>
                  <a:pt x="5225652" y="4976296"/>
                </a:lnTo>
                <a:lnTo>
                  <a:pt x="0" y="4976296"/>
                </a:lnTo>
                <a:lnTo>
                  <a:pt x="0" y="0"/>
                </a:lnTo>
                <a:close/>
              </a:path>
            </a:pathLst>
          </a:custGeom>
          <a:blipFill>
            <a:blip r:embed="rId4"/>
            <a:stretch>
              <a:fillRect l="0" t="0" r="0" b="0"/>
            </a:stretch>
          </a:blipFill>
        </p:spPr>
      </p:sp>
      <p:sp>
        <p:nvSpPr>
          <p:cNvPr name="TextBox 7" id="7"/>
          <p:cNvSpPr txBox="true"/>
          <p:nvPr/>
        </p:nvSpPr>
        <p:spPr>
          <a:xfrm rot="0">
            <a:off x="1722198" y="6970057"/>
            <a:ext cx="11920987" cy="2990850"/>
          </a:xfrm>
          <a:prstGeom prst="rect">
            <a:avLst/>
          </a:prstGeom>
        </p:spPr>
        <p:txBody>
          <a:bodyPr anchor="t" rtlCol="false" tIns="0" lIns="0" bIns="0" rIns="0">
            <a:spAutoFit/>
          </a:bodyPr>
          <a:lstStyle/>
          <a:p>
            <a:pPr algn="just">
              <a:lnSpc>
                <a:spcPts val="2699"/>
              </a:lnSpc>
              <a:spcBef>
                <a:spcPct val="0"/>
              </a:spcBef>
            </a:pPr>
            <a:r>
              <a:rPr lang="en-US" sz="1999" spc="119">
                <a:solidFill>
                  <a:srgbClr val="343434"/>
                </a:solidFill>
                <a:latin typeface="TT Hoves"/>
                <a:ea typeface="TT Hoves"/>
                <a:cs typeface="TT Hoves"/>
                <a:sym typeface="TT Hoves"/>
              </a:rPr>
              <a:t>Diagram lingkaran </a:t>
            </a:r>
            <a:r>
              <a:rPr lang="en-US" sz="1999" spc="119" u="none">
                <a:solidFill>
                  <a:srgbClr val="343434"/>
                </a:solidFill>
                <a:latin typeface="TT Hoves"/>
                <a:ea typeface="TT Hoves"/>
                <a:cs typeface="TT Hoves"/>
                <a:sym typeface="TT Hoves"/>
              </a:rPr>
              <a:t>menunjukkan proporsi antara pengguna aktif dan pengguna yang churn di Spotify.</a:t>
            </a:r>
          </a:p>
          <a:p>
            <a:pPr algn="just" marL="431799" indent="-215899" lvl="1">
              <a:lnSpc>
                <a:spcPts val="2699"/>
              </a:lnSpc>
              <a:spcBef>
                <a:spcPct val="0"/>
              </a:spcBef>
              <a:buFont typeface="Arial"/>
              <a:buChar char="•"/>
            </a:pPr>
            <a:r>
              <a:rPr lang="en-US" sz="1999" spc="119" u="none">
                <a:solidFill>
                  <a:srgbClr val="343434"/>
                </a:solidFill>
                <a:latin typeface="TT Hoves"/>
                <a:ea typeface="TT Hoves"/>
                <a:cs typeface="TT Hoves"/>
                <a:sym typeface="TT Hoves"/>
              </a:rPr>
              <a:t>P</a:t>
            </a:r>
            <a:r>
              <a:rPr lang="en-US" sz="1999" spc="119" u="none">
                <a:solidFill>
                  <a:srgbClr val="343434"/>
                </a:solidFill>
                <a:latin typeface="TT Hoves"/>
                <a:ea typeface="TT Hoves"/>
                <a:cs typeface="TT Hoves"/>
                <a:sym typeface="TT Hoves"/>
              </a:rPr>
              <a:t>engguna aktif: 5.929 data (sekitar 74,11%)</a:t>
            </a:r>
          </a:p>
          <a:p>
            <a:pPr algn="just" marL="431799" indent="-215899" lvl="1">
              <a:lnSpc>
                <a:spcPts val="2699"/>
              </a:lnSpc>
              <a:spcBef>
                <a:spcPct val="0"/>
              </a:spcBef>
              <a:buFont typeface="Arial"/>
              <a:buChar char="•"/>
            </a:pPr>
            <a:r>
              <a:rPr lang="en-US" sz="1999" spc="119" u="none">
                <a:solidFill>
                  <a:srgbClr val="343434"/>
                </a:solidFill>
                <a:latin typeface="TT Hoves"/>
                <a:ea typeface="TT Hoves"/>
                <a:cs typeface="TT Hoves"/>
                <a:sym typeface="TT Hoves"/>
              </a:rPr>
              <a:t>Pengg</a:t>
            </a:r>
            <a:r>
              <a:rPr lang="en-US" sz="1999" spc="119" u="none">
                <a:solidFill>
                  <a:srgbClr val="343434"/>
                </a:solidFill>
                <a:latin typeface="TT Hoves"/>
                <a:ea typeface="TT Hoves"/>
                <a:cs typeface="TT Hoves"/>
                <a:sym typeface="TT Hoves"/>
              </a:rPr>
              <a:t>una churn: 2.071 data (sekitar 25,89%)</a:t>
            </a:r>
          </a:p>
          <a:p>
            <a:pPr algn="just">
              <a:lnSpc>
                <a:spcPts val="2699"/>
              </a:lnSpc>
              <a:spcBef>
                <a:spcPct val="0"/>
              </a:spcBef>
            </a:pPr>
          </a:p>
          <a:p>
            <a:pPr algn="just" marL="0" indent="0" lvl="0">
              <a:lnSpc>
                <a:spcPts val="2699"/>
              </a:lnSpc>
              <a:spcBef>
                <a:spcPct val="0"/>
              </a:spcBef>
            </a:pPr>
            <a:r>
              <a:rPr lang="en-US" sz="1999" spc="119" u="none">
                <a:solidFill>
                  <a:srgbClr val="343434"/>
                </a:solidFill>
                <a:latin typeface="TT Hoves"/>
                <a:ea typeface="TT Hoves"/>
                <a:cs typeface="TT Hoves"/>
                <a:sym typeface="TT Hoves"/>
              </a:rPr>
              <a:t>D</a:t>
            </a:r>
            <a:r>
              <a:rPr lang="en-US" sz="1999" spc="119" u="none">
                <a:solidFill>
                  <a:srgbClr val="343434"/>
                </a:solidFill>
                <a:latin typeface="TT Hoves"/>
                <a:ea typeface="TT Hoves"/>
                <a:cs typeface="TT Hoves"/>
                <a:sym typeface="TT Hoves"/>
              </a:rPr>
              <a:t>ataset ini tergolong sedikit tidak seimbang, karena mayoritas merupakan user yang masih aktif, sedangkan sebagian kecil berhenti atau tidak lagi menggunakan layanan.</a:t>
            </a:r>
          </a:p>
          <a:p>
            <a:pPr algn="just" marL="0" indent="0" lvl="0">
              <a:lnSpc>
                <a:spcPts val="2699"/>
              </a:lnSpc>
              <a:spcBef>
                <a:spcPct val="0"/>
              </a:spcBef>
            </a:pPr>
            <a:r>
              <a:rPr lang="en-US" sz="1999" spc="119" u="none">
                <a:solidFill>
                  <a:srgbClr val="343434"/>
                </a:solidFill>
                <a:latin typeface="TT Hoves"/>
                <a:ea typeface="TT Hoves"/>
                <a:cs typeface="TT Hoves"/>
                <a:sym typeface="TT Hoves"/>
              </a:rPr>
              <a:t>Kondisi ini mencerminkan situasi nyata di dunia bisnis, di mana sebagian besar pelanggan tetap bertahan, dan hanya sebagian kecil yang memutuskan berhenti.</a:t>
            </a:r>
          </a:p>
        </p:txBody>
      </p:sp>
      <p:sp>
        <p:nvSpPr>
          <p:cNvPr name="TextBox 8" id="8"/>
          <p:cNvSpPr txBox="true"/>
          <p:nvPr/>
        </p:nvSpPr>
        <p:spPr>
          <a:xfrm rot="0">
            <a:off x="1370962" y="575310"/>
            <a:ext cx="15279376" cy="963930"/>
          </a:xfrm>
          <a:prstGeom prst="rect">
            <a:avLst/>
          </a:prstGeom>
        </p:spPr>
        <p:txBody>
          <a:bodyPr anchor="t" rtlCol="false" tIns="0" lIns="0" bIns="0" rIns="0">
            <a:spAutoFit/>
          </a:bodyPr>
          <a:lstStyle/>
          <a:p>
            <a:pPr algn="ctr">
              <a:lnSpc>
                <a:spcPts val="3780"/>
              </a:lnSpc>
            </a:pPr>
            <a:r>
              <a:rPr lang="en-US" b="true" sz="3600" spc="-176">
                <a:solidFill>
                  <a:srgbClr val="343434"/>
                </a:solidFill>
                <a:latin typeface="TT Hoves Bold"/>
                <a:ea typeface="TT Hoves Bold"/>
                <a:cs typeface="TT Hoves Bold"/>
                <a:sym typeface="TT Hoves Bold"/>
              </a:rPr>
              <a:t>“Mayoritas pengguna masih setia — namun satu dari empat telah meninggalkan platform.”</a:t>
            </a:r>
          </a:p>
        </p:txBody>
      </p:sp>
      <p:sp>
        <p:nvSpPr>
          <p:cNvPr name="TextBox 9" id="9"/>
          <p:cNvSpPr txBox="true"/>
          <p:nvPr/>
        </p:nvSpPr>
        <p:spPr>
          <a:xfrm rot="0">
            <a:off x="12718835" y="6845457"/>
            <a:ext cx="7498697" cy="4832876"/>
          </a:xfrm>
          <a:prstGeom prst="rect">
            <a:avLst/>
          </a:prstGeom>
        </p:spPr>
        <p:txBody>
          <a:bodyPr anchor="t" rtlCol="false" tIns="0" lIns="0" bIns="0" rIns="0">
            <a:spAutoFit/>
          </a:bodyPr>
          <a:lstStyle/>
          <a:p>
            <a:pPr algn="ctr">
              <a:lnSpc>
                <a:spcPts val="35614"/>
              </a:lnSpc>
            </a:pPr>
            <a:r>
              <a:rPr lang="en-US" b="true" sz="37888" spc="-1856">
                <a:solidFill>
                  <a:srgbClr val="343434"/>
                </a:solidFill>
                <a:latin typeface="TT Hoves Bold"/>
                <a:ea typeface="TT Hoves Bold"/>
                <a:cs typeface="TT Hoves Bold"/>
                <a:sym typeface="TT Hoves Bold"/>
              </a:rPr>
              <a:t>12</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9560011" y="-2564899"/>
            <a:ext cx="16075318" cy="16075318"/>
          </a:xfrm>
          <a:custGeom>
            <a:avLst/>
            <a:gdLst/>
            <a:ahLst/>
            <a:cxnLst/>
            <a:rect r="r" b="b" t="t" l="l"/>
            <a:pathLst>
              <a:path h="16075318" w="16075318">
                <a:moveTo>
                  <a:pt x="0" y="0"/>
                </a:moveTo>
                <a:lnTo>
                  <a:pt x="16075318" y="0"/>
                </a:lnTo>
                <a:lnTo>
                  <a:pt x="16075318" y="16075318"/>
                </a:lnTo>
                <a:lnTo>
                  <a:pt x="0" y="16075318"/>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258" y="-976142"/>
            <a:ext cx="2222590" cy="11878896"/>
            <a:chOff x="0" y="0"/>
            <a:chExt cx="585373" cy="3128598"/>
          </a:xfrm>
        </p:grpSpPr>
        <p:sp>
          <p:nvSpPr>
            <p:cNvPr name="Freeform 4" id="4"/>
            <p:cNvSpPr/>
            <p:nvPr/>
          </p:nvSpPr>
          <p:spPr>
            <a:xfrm flipH="false" flipV="false" rot="0">
              <a:off x="0" y="0"/>
              <a:ext cx="585373" cy="3128598"/>
            </a:xfrm>
            <a:custGeom>
              <a:avLst/>
              <a:gdLst/>
              <a:ahLst/>
              <a:cxnLst/>
              <a:rect r="r" b="b" t="t" l="l"/>
              <a:pathLst>
                <a:path h="3128598" w="585373">
                  <a:moveTo>
                    <a:pt x="0" y="0"/>
                  </a:moveTo>
                  <a:lnTo>
                    <a:pt x="585373" y="0"/>
                  </a:lnTo>
                  <a:lnTo>
                    <a:pt x="585373" y="3128598"/>
                  </a:lnTo>
                  <a:lnTo>
                    <a:pt x="0" y="3128598"/>
                  </a:lnTo>
                  <a:close/>
                </a:path>
              </a:pathLst>
            </a:custGeom>
            <a:solidFill>
              <a:srgbClr val="0003FF"/>
            </a:solidFill>
          </p:spPr>
        </p:sp>
        <p:sp>
          <p:nvSpPr>
            <p:cNvPr name="TextBox 5" id="5"/>
            <p:cNvSpPr txBox="true"/>
            <p:nvPr/>
          </p:nvSpPr>
          <p:spPr>
            <a:xfrm>
              <a:off x="0" y="-57150"/>
              <a:ext cx="585373" cy="318574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4687240" y="1539240"/>
            <a:ext cx="8255726" cy="5913164"/>
          </a:xfrm>
          <a:custGeom>
            <a:avLst/>
            <a:gdLst/>
            <a:ahLst/>
            <a:cxnLst/>
            <a:rect r="r" b="b" t="t" l="l"/>
            <a:pathLst>
              <a:path h="5913164" w="8255726">
                <a:moveTo>
                  <a:pt x="0" y="0"/>
                </a:moveTo>
                <a:lnTo>
                  <a:pt x="8255726" y="0"/>
                </a:lnTo>
                <a:lnTo>
                  <a:pt x="8255726" y="5913164"/>
                </a:lnTo>
                <a:lnTo>
                  <a:pt x="0" y="5913164"/>
                </a:lnTo>
                <a:lnTo>
                  <a:pt x="0" y="0"/>
                </a:lnTo>
                <a:close/>
              </a:path>
            </a:pathLst>
          </a:custGeom>
          <a:blipFill>
            <a:blip r:embed="rId4"/>
            <a:stretch>
              <a:fillRect l="0" t="0" r="0" b="0"/>
            </a:stretch>
          </a:blipFill>
        </p:spPr>
      </p:sp>
      <p:sp>
        <p:nvSpPr>
          <p:cNvPr name="TextBox 7" id="7"/>
          <p:cNvSpPr txBox="true"/>
          <p:nvPr/>
        </p:nvSpPr>
        <p:spPr>
          <a:xfrm rot="0">
            <a:off x="1732508" y="355916"/>
            <a:ext cx="16027564" cy="963930"/>
          </a:xfrm>
          <a:prstGeom prst="rect">
            <a:avLst/>
          </a:prstGeom>
        </p:spPr>
        <p:txBody>
          <a:bodyPr anchor="t" rtlCol="false" tIns="0" lIns="0" bIns="0" rIns="0">
            <a:spAutoFit/>
          </a:bodyPr>
          <a:lstStyle/>
          <a:p>
            <a:pPr algn="ctr" marL="0" indent="0" lvl="1">
              <a:lnSpc>
                <a:spcPts val="3780"/>
              </a:lnSpc>
              <a:spcBef>
                <a:spcPct val="0"/>
              </a:spcBef>
            </a:pPr>
            <a:r>
              <a:rPr lang="en-US" b="true" sz="3600" spc="-176" strike="noStrike" u="none">
                <a:solidFill>
                  <a:srgbClr val="343434"/>
                </a:solidFill>
                <a:latin typeface="TT Hoves Bold"/>
                <a:ea typeface="TT Hoves Bold"/>
                <a:cs typeface="TT Hoves Bold"/>
                <a:sym typeface="TT Hoves Bold"/>
              </a:rPr>
              <a:t>“Pengguna yang churn cenderung memiliki waktu dengar lebih rendah dan skip rate lebih tinggi, menandakan penurunan kepuasan terhadap platform.”</a:t>
            </a:r>
          </a:p>
        </p:txBody>
      </p:sp>
      <p:sp>
        <p:nvSpPr>
          <p:cNvPr name="TextBox 8" id="8"/>
          <p:cNvSpPr txBox="true"/>
          <p:nvPr/>
        </p:nvSpPr>
        <p:spPr>
          <a:xfrm rot="0">
            <a:off x="12601687" y="6540872"/>
            <a:ext cx="7498697" cy="4832876"/>
          </a:xfrm>
          <a:prstGeom prst="rect">
            <a:avLst/>
          </a:prstGeom>
        </p:spPr>
        <p:txBody>
          <a:bodyPr anchor="t" rtlCol="false" tIns="0" lIns="0" bIns="0" rIns="0">
            <a:spAutoFit/>
          </a:bodyPr>
          <a:lstStyle/>
          <a:p>
            <a:pPr algn="ctr">
              <a:lnSpc>
                <a:spcPts val="35614"/>
              </a:lnSpc>
            </a:pPr>
            <a:r>
              <a:rPr lang="en-US" b="true" sz="37888" spc="-1856">
                <a:solidFill>
                  <a:srgbClr val="343434"/>
                </a:solidFill>
                <a:latin typeface="TT Hoves Bold"/>
                <a:ea typeface="TT Hoves Bold"/>
                <a:cs typeface="TT Hoves Bold"/>
                <a:sym typeface="TT Hoves Bold"/>
              </a:rPr>
              <a:t>13</a:t>
            </a:r>
          </a:p>
        </p:txBody>
      </p:sp>
      <p:sp>
        <p:nvSpPr>
          <p:cNvPr name="TextBox 9" id="9"/>
          <p:cNvSpPr txBox="true"/>
          <p:nvPr/>
        </p:nvSpPr>
        <p:spPr>
          <a:xfrm rot="0">
            <a:off x="1976278" y="7623854"/>
            <a:ext cx="10966688" cy="2463800"/>
          </a:xfrm>
          <a:prstGeom prst="rect">
            <a:avLst/>
          </a:prstGeom>
        </p:spPr>
        <p:txBody>
          <a:bodyPr anchor="t" rtlCol="false" tIns="0" lIns="0" bIns="0" rIns="0">
            <a:spAutoFit/>
          </a:bodyPr>
          <a:lstStyle/>
          <a:p>
            <a:pPr algn="just">
              <a:lnSpc>
                <a:spcPts val="2800"/>
              </a:lnSpc>
              <a:spcBef>
                <a:spcPct val="0"/>
              </a:spcBef>
            </a:pPr>
            <a:r>
              <a:rPr lang="en-US" sz="2000">
                <a:solidFill>
                  <a:srgbClr val="343434"/>
                </a:solidFill>
                <a:latin typeface="TT Hoves"/>
                <a:ea typeface="TT Hoves"/>
                <a:cs typeface="TT Hoves"/>
                <a:sym typeface="TT Hoves"/>
              </a:rPr>
              <a:t>Terdapat pola halus antara perilaku pengguna dan tingkat churn.</a:t>
            </a:r>
          </a:p>
          <a:p>
            <a:pPr algn="just">
              <a:lnSpc>
                <a:spcPts val="2800"/>
              </a:lnSpc>
              <a:spcBef>
                <a:spcPct val="0"/>
              </a:spcBef>
            </a:pPr>
            <a:r>
              <a:rPr lang="en-US" sz="2000">
                <a:solidFill>
                  <a:srgbClr val="343434"/>
                </a:solidFill>
                <a:latin typeface="TT Hoves"/>
                <a:ea typeface="TT Hoves"/>
                <a:cs typeface="TT Hoves"/>
                <a:sym typeface="TT Hoves"/>
              </a:rPr>
              <a:t> Pengguna yang churn memiliki listening time sedikit lebih rendah dan skip rate lebih tinggi, menandakan penurunan kepuasan dan keterlibatan terhadap platform.</a:t>
            </a:r>
          </a:p>
          <a:p>
            <a:pPr algn="just">
              <a:lnSpc>
                <a:spcPts val="2800"/>
              </a:lnSpc>
              <a:spcBef>
                <a:spcPct val="0"/>
              </a:spcBef>
            </a:pPr>
            <a:r>
              <a:rPr lang="en-US" sz="2000">
                <a:solidFill>
                  <a:srgbClr val="343434"/>
                </a:solidFill>
                <a:latin typeface="TT Hoves"/>
                <a:ea typeface="TT Hoves"/>
                <a:cs typeface="TT Hoves"/>
                <a:sym typeface="TT Hoves"/>
              </a:rPr>
              <a:t> Aktivitas mendengarkan dan paparan iklan relatif sama, sehingga kualitas pengalaman mendengarkan tampaknya menjadi faktor yang lebih berpengaruh terhadap churn.</a:t>
            </a:r>
          </a:p>
          <a:p>
            <a:pPr algn="just">
              <a:lnSpc>
                <a:spcPts val="2800"/>
              </a:lnSpc>
              <a:spcBef>
                <a:spcPct val="0"/>
              </a:spcBef>
            </a:pPr>
            <a:r>
              <a:rPr lang="en-US" sz="2000">
                <a:solidFill>
                  <a:srgbClr val="343434"/>
                </a:solidFill>
                <a:latin typeface="TT Hoves"/>
                <a:ea typeface="TT Hoves"/>
                <a:cs typeface="TT Hoves"/>
                <a:sym typeface="TT Hoves"/>
              </a:rPr>
              <a:t> Hal ini menunjukkan bahwa mempertahankan kepuasan pengguna lebih penting daripada sekadar meningkatkan frekuensi penggunaan.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9560011" y="-2564899"/>
            <a:ext cx="16075318" cy="16075318"/>
          </a:xfrm>
          <a:custGeom>
            <a:avLst/>
            <a:gdLst/>
            <a:ahLst/>
            <a:cxnLst/>
            <a:rect r="r" b="b" t="t" l="l"/>
            <a:pathLst>
              <a:path h="16075318" w="16075318">
                <a:moveTo>
                  <a:pt x="0" y="0"/>
                </a:moveTo>
                <a:lnTo>
                  <a:pt x="16075318" y="0"/>
                </a:lnTo>
                <a:lnTo>
                  <a:pt x="16075318" y="16075318"/>
                </a:lnTo>
                <a:lnTo>
                  <a:pt x="0" y="16075318"/>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258" y="-976142"/>
            <a:ext cx="2222590" cy="11878896"/>
            <a:chOff x="0" y="0"/>
            <a:chExt cx="585373" cy="3128598"/>
          </a:xfrm>
        </p:grpSpPr>
        <p:sp>
          <p:nvSpPr>
            <p:cNvPr name="Freeform 4" id="4"/>
            <p:cNvSpPr/>
            <p:nvPr/>
          </p:nvSpPr>
          <p:spPr>
            <a:xfrm flipH="false" flipV="false" rot="0">
              <a:off x="0" y="0"/>
              <a:ext cx="585373" cy="3128598"/>
            </a:xfrm>
            <a:custGeom>
              <a:avLst/>
              <a:gdLst/>
              <a:ahLst/>
              <a:cxnLst/>
              <a:rect r="r" b="b" t="t" l="l"/>
              <a:pathLst>
                <a:path h="3128598" w="585373">
                  <a:moveTo>
                    <a:pt x="0" y="0"/>
                  </a:moveTo>
                  <a:lnTo>
                    <a:pt x="585373" y="0"/>
                  </a:lnTo>
                  <a:lnTo>
                    <a:pt x="585373" y="3128598"/>
                  </a:lnTo>
                  <a:lnTo>
                    <a:pt x="0" y="3128598"/>
                  </a:lnTo>
                  <a:close/>
                </a:path>
              </a:pathLst>
            </a:custGeom>
            <a:solidFill>
              <a:srgbClr val="0003FF"/>
            </a:solidFill>
          </p:spPr>
        </p:sp>
        <p:sp>
          <p:nvSpPr>
            <p:cNvPr name="TextBox 5" id="5"/>
            <p:cNvSpPr txBox="true"/>
            <p:nvPr/>
          </p:nvSpPr>
          <p:spPr>
            <a:xfrm>
              <a:off x="0" y="-47625"/>
              <a:ext cx="585373" cy="3176223"/>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2161348" y="2854866"/>
            <a:ext cx="8176834" cy="5928205"/>
          </a:xfrm>
          <a:custGeom>
            <a:avLst/>
            <a:gdLst/>
            <a:ahLst/>
            <a:cxnLst/>
            <a:rect r="r" b="b" t="t" l="l"/>
            <a:pathLst>
              <a:path h="5928205" w="8176834">
                <a:moveTo>
                  <a:pt x="0" y="0"/>
                </a:moveTo>
                <a:lnTo>
                  <a:pt x="8176834" y="0"/>
                </a:lnTo>
                <a:lnTo>
                  <a:pt x="8176834" y="5928204"/>
                </a:lnTo>
                <a:lnTo>
                  <a:pt x="0" y="5928204"/>
                </a:lnTo>
                <a:lnTo>
                  <a:pt x="0" y="0"/>
                </a:lnTo>
                <a:close/>
              </a:path>
            </a:pathLst>
          </a:custGeom>
          <a:blipFill>
            <a:blip r:embed="rId4"/>
            <a:stretch>
              <a:fillRect l="0" t="0" r="0" b="0"/>
            </a:stretch>
          </a:blipFill>
        </p:spPr>
      </p:sp>
      <p:sp>
        <p:nvSpPr>
          <p:cNvPr name="TextBox 7" id="7"/>
          <p:cNvSpPr txBox="true"/>
          <p:nvPr/>
        </p:nvSpPr>
        <p:spPr>
          <a:xfrm rot="0">
            <a:off x="1628623" y="876869"/>
            <a:ext cx="15969047" cy="963930"/>
          </a:xfrm>
          <a:prstGeom prst="rect">
            <a:avLst/>
          </a:prstGeom>
        </p:spPr>
        <p:txBody>
          <a:bodyPr anchor="t" rtlCol="false" tIns="0" lIns="0" bIns="0" rIns="0">
            <a:spAutoFit/>
          </a:bodyPr>
          <a:lstStyle/>
          <a:p>
            <a:pPr algn="ctr" marL="0" indent="0" lvl="1">
              <a:lnSpc>
                <a:spcPts val="3780"/>
              </a:lnSpc>
              <a:spcBef>
                <a:spcPct val="0"/>
              </a:spcBef>
            </a:pPr>
            <a:r>
              <a:rPr lang="en-US" b="true" sz="3600" spc="-176">
                <a:solidFill>
                  <a:srgbClr val="343434"/>
                </a:solidFill>
                <a:latin typeface="TT Hoves Bold"/>
                <a:ea typeface="TT Hoves Bold"/>
                <a:cs typeface="TT Hoves Bold"/>
                <a:sym typeface="TT Hoves Bold"/>
              </a:rPr>
              <a:t>“</a:t>
            </a:r>
            <a:r>
              <a:rPr lang="en-US" b="true" sz="3600" spc="-176" strike="noStrike" u="none">
                <a:solidFill>
                  <a:srgbClr val="343434"/>
                </a:solidFill>
                <a:latin typeface="TT Hoves Bold"/>
                <a:ea typeface="TT Hoves Bold"/>
                <a:cs typeface="TT Hoves Bold"/>
                <a:sym typeface="TT Hoves Bold"/>
              </a:rPr>
              <a:t>Pengguna premium lebih aktif dan puas berkat pengalaman tanpa iklan dan fitur offline.</a:t>
            </a:r>
            <a:r>
              <a:rPr lang="en-US" b="true" sz="3600" spc="-176" strike="noStrike" u="none">
                <a:solidFill>
                  <a:srgbClr val="343434"/>
                </a:solidFill>
                <a:latin typeface="TT Hoves Bold"/>
                <a:ea typeface="TT Hoves Bold"/>
                <a:cs typeface="TT Hoves Bold"/>
                <a:sym typeface="TT Hoves Bold"/>
              </a:rPr>
              <a:t>”</a:t>
            </a:r>
          </a:p>
        </p:txBody>
      </p:sp>
      <p:sp>
        <p:nvSpPr>
          <p:cNvPr name="TextBox 8" id="8"/>
          <p:cNvSpPr txBox="true"/>
          <p:nvPr/>
        </p:nvSpPr>
        <p:spPr>
          <a:xfrm rot="0">
            <a:off x="12236752" y="7131574"/>
            <a:ext cx="7498697" cy="4832471"/>
          </a:xfrm>
          <a:prstGeom prst="rect">
            <a:avLst/>
          </a:prstGeom>
        </p:spPr>
        <p:txBody>
          <a:bodyPr anchor="t" rtlCol="false" tIns="0" lIns="0" bIns="0" rIns="0">
            <a:spAutoFit/>
          </a:bodyPr>
          <a:lstStyle/>
          <a:p>
            <a:pPr algn="ctr" marL="0" indent="0" lvl="1">
              <a:lnSpc>
                <a:spcPts val="35614"/>
              </a:lnSpc>
              <a:spcBef>
                <a:spcPct val="0"/>
              </a:spcBef>
            </a:pPr>
            <a:r>
              <a:rPr lang="en-US" b="true" sz="37888" spc="-1856">
                <a:solidFill>
                  <a:srgbClr val="343434"/>
                </a:solidFill>
                <a:latin typeface="TT Hoves Bold"/>
                <a:ea typeface="TT Hoves Bold"/>
                <a:cs typeface="TT Hoves Bold"/>
                <a:sym typeface="TT Hoves Bold"/>
              </a:rPr>
              <a:t>14</a:t>
            </a:r>
          </a:p>
        </p:txBody>
      </p:sp>
      <p:sp>
        <p:nvSpPr>
          <p:cNvPr name="TextBox 9" id="9"/>
          <p:cNvSpPr txBox="true"/>
          <p:nvPr/>
        </p:nvSpPr>
        <p:spPr>
          <a:xfrm rot="0">
            <a:off x="10973199" y="4915681"/>
            <a:ext cx="6006895" cy="1758950"/>
          </a:xfrm>
          <a:prstGeom prst="rect">
            <a:avLst/>
          </a:prstGeom>
        </p:spPr>
        <p:txBody>
          <a:bodyPr anchor="t" rtlCol="false" tIns="0" lIns="0" bIns="0" rIns="0">
            <a:spAutoFit/>
          </a:bodyPr>
          <a:lstStyle/>
          <a:p>
            <a:pPr algn="just">
              <a:lnSpc>
                <a:spcPts val="2800"/>
              </a:lnSpc>
              <a:spcBef>
                <a:spcPct val="0"/>
              </a:spcBef>
            </a:pPr>
            <a:r>
              <a:rPr lang="en-US" sz="2000">
                <a:solidFill>
                  <a:srgbClr val="343434"/>
                </a:solidFill>
                <a:latin typeface="TT Hoves"/>
                <a:ea typeface="TT Hoves"/>
                <a:cs typeface="TT Hoves"/>
                <a:sym typeface="TT Hoves"/>
              </a:rPr>
              <a:t>P</a:t>
            </a:r>
            <a:r>
              <a:rPr lang="en-US" sz="2000">
                <a:solidFill>
                  <a:srgbClr val="343434"/>
                </a:solidFill>
                <a:latin typeface="TT Hoves"/>
                <a:ea typeface="TT Hoves"/>
                <a:cs typeface="TT Hoves"/>
                <a:sym typeface="TT Hoves"/>
              </a:rPr>
              <a:t>engguna premium lebih puas dan terlibat, dengan waktu dengar lebih lama, skip rate lebih rendah, tanpa iklan, dan memanfaatkan fitur offline — sedangkan pengguna free lebih rentan churn akibat pengalaman mendengarkan yang terbatas.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9560011" y="-2564899"/>
            <a:ext cx="16075318" cy="16075318"/>
          </a:xfrm>
          <a:custGeom>
            <a:avLst/>
            <a:gdLst/>
            <a:ahLst/>
            <a:cxnLst/>
            <a:rect r="r" b="b" t="t" l="l"/>
            <a:pathLst>
              <a:path h="16075318" w="16075318">
                <a:moveTo>
                  <a:pt x="0" y="0"/>
                </a:moveTo>
                <a:lnTo>
                  <a:pt x="16075318" y="0"/>
                </a:lnTo>
                <a:lnTo>
                  <a:pt x="16075318" y="16075318"/>
                </a:lnTo>
                <a:lnTo>
                  <a:pt x="0" y="16075318"/>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258" y="-976142"/>
            <a:ext cx="2222590" cy="11878896"/>
            <a:chOff x="0" y="0"/>
            <a:chExt cx="585373" cy="3128598"/>
          </a:xfrm>
        </p:grpSpPr>
        <p:sp>
          <p:nvSpPr>
            <p:cNvPr name="Freeform 4" id="4"/>
            <p:cNvSpPr/>
            <p:nvPr/>
          </p:nvSpPr>
          <p:spPr>
            <a:xfrm flipH="false" flipV="false" rot="0">
              <a:off x="0" y="0"/>
              <a:ext cx="585373" cy="3128598"/>
            </a:xfrm>
            <a:custGeom>
              <a:avLst/>
              <a:gdLst/>
              <a:ahLst/>
              <a:cxnLst/>
              <a:rect r="r" b="b" t="t" l="l"/>
              <a:pathLst>
                <a:path h="3128598" w="585373">
                  <a:moveTo>
                    <a:pt x="0" y="0"/>
                  </a:moveTo>
                  <a:lnTo>
                    <a:pt x="585373" y="0"/>
                  </a:lnTo>
                  <a:lnTo>
                    <a:pt x="585373" y="3128598"/>
                  </a:lnTo>
                  <a:lnTo>
                    <a:pt x="0" y="3128598"/>
                  </a:lnTo>
                  <a:close/>
                </a:path>
              </a:pathLst>
            </a:custGeom>
            <a:solidFill>
              <a:srgbClr val="0003FF"/>
            </a:solidFill>
          </p:spPr>
        </p:sp>
        <p:sp>
          <p:nvSpPr>
            <p:cNvPr name="TextBox 5" id="5"/>
            <p:cNvSpPr txBox="true"/>
            <p:nvPr/>
          </p:nvSpPr>
          <p:spPr>
            <a:xfrm>
              <a:off x="0" y="-57150"/>
              <a:ext cx="585373" cy="318574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4396906" y="1433895"/>
            <a:ext cx="9786713" cy="5664060"/>
          </a:xfrm>
          <a:custGeom>
            <a:avLst/>
            <a:gdLst/>
            <a:ahLst/>
            <a:cxnLst/>
            <a:rect r="r" b="b" t="t" l="l"/>
            <a:pathLst>
              <a:path h="5664060" w="9786713">
                <a:moveTo>
                  <a:pt x="0" y="0"/>
                </a:moveTo>
                <a:lnTo>
                  <a:pt x="9786713" y="0"/>
                </a:lnTo>
                <a:lnTo>
                  <a:pt x="9786713" y="5664060"/>
                </a:lnTo>
                <a:lnTo>
                  <a:pt x="0" y="5664060"/>
                </a:lnTo>
                <a:lnTo>
                  <a:pt x="0" y="0"/>
                </a:lnTo>
                <a:close/>
              </a:path>
            </a:pathLst>
          </a:custGeom>
          <a:blipFill>
            <a:blip r:embed="rId4"/>
            <a:stretch>
              <a:fillRect l="0" t="0" r="0" b="0"/>
            </a:stretch>
          </a:blipFill>
        </p:spPr>
      </p:sp>
      <p:sp>
        <p:nvSpPr>
          <p:cNvPr name="TextBox 7" id="7"/>
          <p:cNvSpPr txBox="true"/>
          <p:nvPr/>
        </p:nvSpPr>
        <p:spPr>
          <a:xfrm rot="0">
            <a:off x="12367146" y="7009953"/>
            <a:ext cx="7498697" cy="4832876"/>
          </a:xfrm>
          <a:prstGeom prst="rect">
            <a:avLst/>
          </a:prstGeom>
        </p:spPr>
        <p:txBody>
          <a:bodyPr anchor="t" rtlCol="false" tIns="0" lIns="0" bIns="0" rIns="0">
            <a:spAutoFit/>
          </a:bodyPr>
          <a:lstStyle/>
          <a:p>
            <a:pPr algn="ctr">
              <a:lnSpc>
                <a:spcPts val="35614"/>
              </a:lnSpc>
            </a:pPr>
            <a:r>
              <a:rPr lang="en-US" b="true" sz="37888" spc="-1856">
                <a:solidFill>
                  <a:srgbClr val="343434"/>
                </a:solidFill>
                <a:latin typeface="TT Hoves Bold"/>
                <a:ea typeface="TT Hoves Bold"/>
                <a:cs typeface="TT Hoves Bold"/>
                <a:sym typeface="TT Hoves Bold"/>
              </a:rPr>
              <a:t>15</a:t>
            </a:r>
          </a:p>
        </p:txBody>
      </p:sp>
      <p:sp>
        <p:nvSpPr>
          <p:cNvPr name="TextBox 8" id="8"/>
          <p:cNvSpPr txBox="true"/>
          <p:nvPr/>
        </p:nvSpPr>
        <p:spPr>
          <a:xfrm rot="0">
            <a:off x="2121681" y="541020"/>
            <a:ext cx="15287869" cy="487680"/>
          </a:xfrm>
          <a:prstGeom prst="rect">
            <a:avLst/>
          </a:prstGeom>
        </p:spPr>
        <p:txBody>
          <a:bodyPr anchor="t" rtlCol="false" tIns="0" lIns="0" bIns="0" rIns="0">
            <a:spAutoFit/>
          </a:bodyPr>
          <a:lstStyle/>
          <a:p>
            <a:pPr algn="ctr" marL="0" indent="0" lvl="1">
              <a:lnSpc>
                <a:spcPts val="3780"/>
              </a:lnSpc>
              <a:spcBef>
                <a:spcPct val="0"/>
              </a:spcBef>
            </a:pPr>
            <a:r>
              <a:rPr lang="en-US" b="true" sz="3600" spc="-176">
                <a:solidFill>
                  <a:srgbClr val="343434"/>
                </a:solidFill>
                <a:latin typeface="TT Hoves Bold"/>
                <a:ea typeface="TT Hoves Bold"/>
                <a:cs typeface="TT Hoves Bold"/>
                <a:sym typeface="TT Hoves Bold"/>
              </a:rPr>
              <a:t>“Kelompok usia muda merupakan pengguna paling aktif di platform Spotify.”</a:t>
            </a:r>
          </a:p>
        </p:txBody>
      </p:sp>
      <p:sp>
        <p:nvSpPr>
          <p:cNvPr name="TextBox 9" id="9"/>
          <p:cNvSpPr txBox="true"/>
          <p:nvPr/>
        </p:nvSpPr>
        <p:spPr>
          <a:xfrm rot="0">
            <a:off x="4656025" y="7627288"/>
            <a:ext cx="8269015" cy="2111375"/>
          </a:xfrm>
          <a:prstGeom prst="rect">
            <a:avLst/>
          </a:prstGeom>
        </p:spPr>
        <p:txBody>
          <a:bodyPr anchor="t" rtlCol="false" tIns="0" lIns="0" bIns="0" rIns="0">
            <a:spAutoFit/>
          </a:bodyPr>
          <a:lstStyle/>
          <a:p>
            <a:pPr algn="just">
              <a:lnSpc>
                <a:spcPts val="2800"/>
              </a:lnSpc>
              <a:spcBef>
                <a:spcPct val="0"/>
              </a:spcBef>
            </a:pPr>
            <a:r>
              <a:rPr lang="en-US" sz="2000">
                <a:solidFill>
                  <a:srgbClr val="343434"/>
                </a:solidFill>
                <a:latin typeface="TT Hoves"/>
                <a:ea typeface="TT Hoves"/>
                <a:cs typeface="TT Hoves"/>
                <a:sym typeface="TT Hoves"/>
              </a:rPr>
              <a:t>Berdasarkan hasil analisis, kelompok usia 16–25 tahun memiliki rata-rata jumlah lagu yang didengarkan per hari paling tinggi dibanding kelompok usia lainnya.</a:t>
            </a:r>
          </a:p>
          <a:p>
            <a:pPr algn="just">
              <a:lnSpc>
                <a:spcPts val="2800"/>
              </a:lnSpc>
              <a:spcBef>
                <a:spcPct val="0"/>
              </a:spcBef>
            </a:pPr>
            <a:r>
              <a:rPr lang="en-US" sz="2000">
                <a:solidFill>
                  <a:srgbClr val="343434"/>
                </a:solidFill>
                <a:latin typeface="TT Hoves"/>
                <a:ea typeface="TT Hoves"/>
                <a:cs typeface="TT Hoves"/>
                <a:sym typeface="TT Hoves"/>
              </a:rPr>
              <a:t>Hal ini menunjukkan bahwa pengguna usia muda-dewasa merupakan segmen paling aktif dan berpotensi besar sebagai target utama untuk promosi, rekomendasi playlist, atau penawaran premium.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126789" y="-2986203"/>
            <a:ext cx="7624730" cy="7624730"/>
          </a:xfrm>
          <a:custGeom>
            <a:avLst/>
            <a:gdLst/>
            <a:ahLst/>
            <a:cxnLst/>
            <a:rect r="r" b="b" t="t" l="l"/>
            <a:pathLst>
              <a:path h="7624730" w="7624730">
                <a:moveTo>
                  <a:pt x="0" y="0"/>
                </a:moveTo>
                <a:lnTo>
                  <a:pt x="7624731" y="0"/>
                </a:lnTo>
                <a:lnTo>
                  <a:pt x="7624731" y="7624731"/>
                </a:lnTo>
                <a:lnTo>
                  <a:pt x="0" y="7624731"/>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109612" y="-666477"/>
            <a:ext cx="7178388" cy="11878896"/>
            <a:chOff x="0" y="0"/>
            <a:chExt cx="1890604" cy="3128598"/>
          </a:xfrm>
        </p:grpSpPr>
        <p:sp>
          <p:nvSpPr>
            <p:cNvPr name="Freeform 4" id="4"/>
            <p:cNvSpPr/>
            <p:nvPr/>
          </p:nvSpPr>
          <p:spPr>
            <a:xfrm flipH="false" flipV="false" rot="0">
              <a:off x="0" y="0"/>
              <a:ext cx="1890604" cy="3128598"/>
            </a:xfrm>
            <a:custGeom>
              <a:avLst/>
              <a:gdLst/>
              <a:ahLst/>
              <a:cxnLst/>
              <a:rect r="r" b="b" t="t" l="l"/>
              <a:pathLst>
                <a:path h="3128598" w="1890604">
                  <a:moveTo>
                    <a:pt x="0" y="0"/>
                  </a:moveTo>
                  <a:lnTo>
                    <a:pt x="1890604" y="0"/>
                  </a:lnTo>
                  <a:lnTo>
                    <a:pt x="1890604" y="3128598"/>
                  </a:lnTo>
                  <a:lnTo>
                    <a:pt x="0" y="3128598"/>
                  </a:lnTo>
                  <a:close/>
                </a:path>
              </a:pathLst>
            </a:custGeom>
            <a:solidFill>
              <a:srgbClr val="0003FF"/>
            </a:solidFill>
          </p:spPr>
        </p:sp>
        <p:sp>
          <p:nvSpPr>
            <p:cNvPr name="TextBox 5" id="5"/>
            <p:cNvSpPr txBox="true"/>
            <p:nvPr/>
          </p:nvSpPr>
          <p:spPr>
            <a:xfrm>
              <a:off x="0" y="-57150"/>
              <a:ext cx="1890604" cy="318574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1406578" y="2343465"/>
            <a:ext cx="7962563" cy="6579147"/>
          </a:xfrm>
          <a:custGeom>
            <a:avLst/>
            <a:gdLst/>
            <a:ahLst/>
            <a:cxnLst/>
            <a:rect r="r" b="b" t="t" l="l"/>
            <a:pathLst>
              <a:path h="6579147" w="7962563">
                <a:moveTo>
                  <a:pt x="0" y="0"/>
                </a:moveTo>
                <a:lnTo>
                  <a:pt x="7962563" y="0"/>
                </a:lnTo>
                <a:lnTo>
                  <a:pt x="7962563" y="6579146"/>
                </a:lnTo>
                <a:lnTo>
                  <a:pt x="0" y="6579146"/>
                </a:lnTo>
                <a:lnTo>
                  <a:pt x="0" y="0"/>
                </a:lnTo>
                <a:close/>
              </a:path>
            </a:pathLst>
          </a:custGeom>
          <a:blipFill>
            <a:blip r:embed="rId4"/>
            <a:stretch>
              <a:fillRect l="0" t="0" r="0" b="0"/>
            </a:stretch>
          </a:blipFill>
        </p:spPr>
      </p:sp>
      <p:sp>
        <p:nvSpPr>
          <p:cNvPr name="TextBox 7" id="7"/>
          <p:cNvSpPr txBox="true"/>
          <p:nvPr/>
        </p:nvSpPr>
        <p:spPr>
          <a:xfrm rot="0">
            <a:off x="70873" y="337185"/>
            <a:ext cx="11038739" cy="1440180"/>
          </a:xfrm>
          <a:prstGeom prst="rect">
            <a:avLst/>
          </a:prstGeom>
        </p:spPr>
        <p:txBody>
          <a:bodyPr anchor="t" rtlCol="false" tIns="0" lIns="0" bIns="0" rIns="0">
            <a:spAutoFit/>
          </a:bodyPr>
          <a:lstStyle/>
          <a:p>
            <a:pPr algn="ctr" marL="0" indent="0" lvl="1">
              <a:lnSpc>
                <a:spcPts val="3780"/>
              </a:lnSpc>
              <a:spcBef>
                <a:spcPct val="0"/>
              </a:spcBef>
            </a:pPr>
            <a:r>
              <a:rPr lang="en-US" b="true" sz="3600" spc="-176" strike="noStrike" u="none">
                <a:solidFill>
                  <a:srgbClr val="343434"/>
                </a:solidFill>
                <a:latin typeface="TT Hoves Bold"/>
                <a:ea typeface="TT Hoves Bold"/>
                <a:cs typeface="TT Hoves Bold"/>
                <a:sym typeface="TT Hoves Bold"/>
              </a:rPr>
              <a:t>“Skip rate dan penggunaan offline listening sedikit berpengaruh terhadap kemungkinan churn pengguna.”</a:t>
            </a:r>
          </a:p>
        </p:txBody>
      </p:sp>
      <p:sp>
        <p:nvSpPr>
          <p:cNvPr name="TextBox 8" id="8"/>
          <p:cNvSpPr txBox="true"/>
          <p:nvPr/>
        </p:nvSpPr>
        <p:spPr>
          <a:xfrm rot="0">
            <a:off x="11470883" y="3462190"/>
            <a:ext cx="6455846" cy="2324100"/>
          </a:xfrm>
          <a:prstGeom prst="rect">
            <a:avLst/>
          </a:prstGeom>
        </p:spPr>
        <p:txBody>
          <a:bodyPr anchor="t" rtlCol="false" tIns="0" lIns="0" bIns="0" rIns="0">
            <a:spAutoFit/>
          </a:bodyPr>
          <a:lstStyle/>
          <a:p>
            <a:pPr algn="just" marL="0" indent="0" lvl="0">
              <a:lnSpc>
                <a:spcPts val="2699"/>
              </a:lnSpc>
              <a:spcBef>
                <a:spcPct val="0"/>
              </a:spcBef>
            </a:pPr>
            <a:r>
              <a:rPr lang="en-US" sz="1999" spc="119">
                <a:solidFill>
                  <a:srgbClr val="FFFFFF"/>
                </a:solidFill>
                <a:latin typeface="TT Hoves"/>
                <a:ea typeface="TT Hoves"/>
                <a:cs typeface="TT Hoves"/>
                <a:sym typeface="TT Hoves"/>
              </a:rPr>
              <a:t>Berdas</a:t>
            </a:r>
            <a:r>
              <a:rPr lang="en-US" sz="1999" spc="119" u="none">
                <a:solidFill>
                  <a:srgbClr val="FFFFFF"/>
                </a:solidFill>
                <a:latin typeface="TT Hoves"/>
                <a:ea typeface="TT Hoves"/>
                <a:cs typeface="TT Hoves"/>
                <a:sym typeface="TT Hoves"/>
              </a:rPr>
              <a:t>arkan korelasi,</a:t>
            </a:r>
            <a:r>
              <a:rPr lang="en-US" sz="1999" spc="119">
                <a:solidFill>
                  <a:srgbClr val="FFFFFF"/>
                </a:solidFill>
                <a:latin typeface="TT Hoves"/>
                <a:ea typeface="TT Hoves"/>
                <a:cs typeface="TT Hoves"/>
                <a:sym typeface="TT Hoves"/>
              </a:rPr>
              <a:t> t</a:t>
            </a:r>
            <a:r>
              <a:rPr lang="en-US" sz="1999" spc="119" u="none">
                <a:solidFill>
                  <a:srgbClr val="FFFFFF"/>
                </a:solidFill>
                <a:latin typeface="TT Hoves"/>
                <a:ea typeface="TT Hoves"/>
                <a:cs typeface="TT Hoves"/>
                <a:sym typeface="TT Hoves"/>
              </a:rPr>
              <a:t>idak</a:t>
            </a:r>
            <a:r>
              <a:rPr lang="en-US" sz="1999" spc="119">
                <a:solidFill>
                  <a:srgbClr val="FFFFFF"/>
                </a:solidFill>
                <a:latin typeface="TT Hoves"/>
                <a:ea typeface="TT Hoves"/>
                <a:cs typeface="TT Hoves"/>
                <a:sym typeface="TT Hoves"/>
              </a:rPr>
              <a:t> ada variabe</a:t>
            </a:r>
            <a:r>
              <a:rPr lang="en-US" sz="1999" spc="119" u="none">
                <a:solidFill>
                  <a:srgbClr val="FFFFFF"/>
                </a:solidFill>
                <a:latin typeface="TT Hoves"/>
                <a:ea typeface="TT Hoves"/>
                <a:cs typeface="TT Hoves"/>
                <a:sym typeface="TT Hoves"/>
              </a:rPr>
              <a:t>l</a:t>
            </a:r>
            <a:r>
              <a:rPr lang="en-US" sz="1999" spc="119">
                <a:solidFill>
                  <a:srgbClr val="FFFFFF"/>
                </a:solidFill>
                <a:latin typeface="TT Hoves"/>
                <a:ea typeface="TT Hoves"/>
                <a:cs typeface="TT Hoves"/>
                <a:sym typeface="TT Hoves"/>
              </a:rPr>
              <a:t> </a:t>
            </a:r>
            <a:r>
              <a:rPr lang="en-US" sz="1999" spc="119" u="none">
                <a:solidFill>
                  <a:srgbClr val="FFFFFF"/>
                </a:solidFill>
                <a:latin typeface="TT Hoves"/>
                <a:ea typeface="TT Hoves"/>
                <a:cs typeface="TT Hoves"/>
                <a:sym typeface="TT Hoves"/>
              </a:rPr>
              <a:t>num</a:t>
            </a:r>
            <a:r>
              <a:rPr lang="en-US" sz="1999" spc="119">
                <a:solidFill>
                  <a:srgbClr val="FFFFFF"/>
                </a:solidFill>
                <a:latin typeface="TT Hoves"/>
                <a:ea typeface="TT Hoves"/>
                <a:cs typeface="TT Hoves"/>
                <a:sym typeface="TT Hoves"/>
              </a:rPr>
              <a:t>e</a:t>
            </a:r>
            <a:r>
              <a:rPr lang="en-US" sz="1999" spc="119" u="none">
                <a:solidFill>
                  <a:srgbClr val="FFFFFF"/>
                </a:solidFill>
                <a:latin typeface="TT Hoves"/>
                <a:ea typeface="TT Hoves"/>
                <a:cs typeface="TT Hoves"/>
                <a:sym typeface="TT Hoves"/>
              </a:rPr>
              <a:t>rik yang</a:t>
            </a:r>
            <a:r>
              <a:rPr lang="en-US" sz="1999" spc="119">
                <a:solidFill>
                  <a:srgbClr val="FFFFFF"/>
                </a:solidFill>
                <a:latin typeface="TT Hoves"/>
                <a:ea typeface="TT Hoves"/>
                <a:cs typeface="TT Hoves"/>
                <a:sym typeface="TT Hoves"/>
              </a:rPr>
              <a:t> </a:t>
            </a:r>
            <a:r>
              <a:rPr lang="en-US" sz="1999" spc="119" u="none">
                <a:solidFill>
                  <a:srgbClr val="FFFFFF"/>
                </a:solidFill>
                <a:latin typeface="TT Hoves"/>
                <a:ea typeface="TT Hoves"/>
                <a:cs typeface="TT Hoves"/>
                <a:sym typeface="TT Hoves"/>
              </a:rPr>
              <a:t>m</a:t>
            </a:r>
            <a:r>
              <a:rPr lang="en-US" sz="1999" spc="119">
                <a:solidFill>
                  <a:srgbClr val="FFFFFF"/>
                </a:solidFill>
                <a:latin typeface="TT Hoves"/>
                <a:ea typeface="TT Hoves"/>
                <a:cs typeface="TT Hoves"/>
                <a:sym typeface="TT Hoves"/>
              </a:rPr>
              <a:t>e</a:t>
            </a:r>
            <a:r>
              <a:rPr lang="en-US" sz="1999" spc="119" u="none">
                <a:solidFill>
                  <a:srgbClr val="FFFFFF"/>
                </a:solidFill>
                <a:latin typeface="TT Hoves"/>
                <a:ea typeface="TT Hoves"/>
                <a:cs typeface="TT Hoves"/>
                <a:sym typeface="TT Hoves"/>
              </a:rPr>
              <a:t>mi</a:t>
            </a:r>
            <a:r>
              <a:rPr lang="en-US" sz="1999" spc="119">
                <a:solidFill>
                  <a:srgbClr val="FFFFFF"/>
                </a:solidFill>
                <a:latin typeface="TT Hoves"/>
                <a:ea typeface="TT Hoves"/>
                <a:cs typeface="TT Hoves"/>
                <a:sym typeface="TT Hoves"/>
              </a:rPr>
              <a:t>l</a:t>
            </a:r>
            <a:r>
              <a:rPr lang="en-US" sz="1999" spc="119" u="none">
                <a:solidFill>
                  <a:srgbClr val="FFFFFF"/>
                </a:solidFill>
                <a:latin typeface="TT Hoves"/>
                <a:ea typeface="TT Hoves"/>
                <a:cs typeface="TT Hoves"/>
                <a:sym typeface="TT Hoves"/>
              </a:rPr>
              <a:t>iki</a:t>
            </a:r>
            <a:r>
              <a:rPr lang="en-US" sz="1999" spc="119">
                <a:solidFill>
                  <a:srgbClr val="FFFFFF"/>
                </a:solidFill>
                <a:latin typeface="TT Hoves"/>
                <a:ea typeface="TT Hoves"/>
                <a:cs typeface="TT Hoves"/>
                <a:sym typeface="TT Hoves"/>
              </a:rPr>
              <a:t> </a:t>
            </a:r>
            <a:r>
              <a:rPr lang="en-US" sz="1999" spc="119" u="none">
                <a:solidFill>
                  <a:srgbClr val="FFFFFF"/>
                </a:solidFill>
                <a:latin typeface="TT Hoves"/>
                <a:ea typeface="TT Hoves"/>
                <a:cs typeface="TT Hoves"/>
                <a:sym typeface="TT Hoves"/>
              </a:rPr>
              <a:t>hubu</a:t>
            </a:r>
            <a:r>
              <a:rPr lang="en-US" sz="1999" spc="119">
                <a:solidFill>
                  <a:srgbClr val="FFFFFF"/>
                </a:solidFill>
                <a:latin typeface="TT Hoves"/>
                <a:ea typeface="TT Hoves"/>
                <a:cs typeface="TT Hoves"/>
                <a:sym typeface="TT Hoves"/>
              </a:rPr>
              <a:t>n</a:t>
            </a:r>
            <a:r>
              <a:rPr lang="en-US" sz="1999" spc="119" u="none">
                <a:solidFill>
                  <a:srgbClr val="FFFFFF"/>
                </a:solidFill>
                <a:latin typeface="TT Hoves"/>
                <a:ea typeface="TT Hoves"/>
                <a:cs typeface="TT Hoves"/>
                <a:sym typeface="TT Hoves"/>
              </a:rPr>
              <a:t>ga</a:t>
            </a:r>
            <a:r>
              <a:rPr lang="en-US" sz="1999" spc="119">
                <a:solidFill>
                  <a:srgbClr val="FFFFFF"/>
                </a:solidFill>
                <a:latin typeface="TT Hoves"/>
                <a:ea typeface="TT Hoves"/>
                <a:cs typeface="TT Hoves"/>
                <a:sym typeface="TT Hoves"/>
              </a:rPr>
              <a:t>n </a:t>
            </a:r>
            <a:r>
              <a:rPr lang="en-US" sz="1999" spc="119" u="none">
                <a:solidFill>
                  <a:srgbClr val="FFFFFF"/>
                </a:solidFill>
                <a:latin typeface="TT Hoves"/>
                <a:ea typeface="TT Hoves"/>
                <a:cs typeface="TT Hoves"/>
                <a:sym typeface="TT Hoves"/>
              </a:rPr>
              <a:t>kuat</a:t>
            </a:r>
            <a:r>
              <a:rPr lang="en-US" sz="1999" spc="119">
                <a:solidFill>
                  <a:srgbClr val="FFFFFF"/>
                </a:solidFill>
                <a:latin typeface="TT Hoves"/>
                <a:ea typeface="TT Hoves"/>
                <a:cs typeface="TT Hoves"/>
                <a:sym typeface="TT Hoves"/>
              </a:rPr>
              <a:t> te</a:t>
            </a:r>
            <a:r>
              <a:rPr lang="en-US" sz="1999" spc="119" u="none">
                <a:solidFill>
                  <a:srgbClr val="FFFFFF"/>
                </a:solidFill>
                <a:latin typeface="TT Hoves"/>
                <a:ea typeface="TT Hoves"/>
                <a:cs typeface="TT Hoves"/>
                <a:sym typeface="TT Hoves"/>
              </a:rPr>
              <a:t>rhadap churn, namun faktor de</a:t>
            </a:r>
            <a:r>
              <a:rPr lang="en-US" sz="1999" spc="119">
                <a:solidFill>
                  <a:srgbClr val="FFFFFF"/>
                </a:solidFill>
                <a:latin typeface="TT Hoves"/>
                <a:ea typeface="TT Hoves"/>
                <a:cs typeface="TT Hoves"/>
                <a:sym typeface="TT Hoves"/>
              </a:rPr>
              <a:t>ng</a:t>
            </a:r>
            <a:r>
              <a:rPr lang="en-US" sz="1999" spc="119" u="none">
                <a:solidFill>
                  <a:srgbClr val="FFFFFF"/>
                </a:solidFill>
                <a:latin typeface="TT Hoves"/>
                <a:ea typeface="TT Hoves"/>
                <a:cs typeface="TT Hoves"/>
                <a:sym typeface="TT Hoves"/>
              </a:rPr>
              <a:t>an</a:t>
            </a:r>
            <a:r>
              <a:rPr lang="en-US" sz="1999" spc="119">
                <a:solidFill>
                  <a:srgbClr val="FFFFFF"/>
                </a:solidFill>
                <a:latin typeface="TT Hoves"/>
                <a:ea typeface="TT Hoves"/>
                <a:cs typeface="TT Hoves"/>
                <a:sym typeface="TT Hoves"/>
              </a:rPr>
              <a:t> </a:t>
            </a:r>
            <a:r>
              <a:rPr lang="en-US" sz="1999" spc="119" u="none">
                <a:solidFill>
                  <a:srgbClr val="FFFFFF"/>
                </a:solidFill>
                <a:latin typeface="TT Hoves"/>
                <a:ea typeface="TT Hoves"/>
                <a:cs typeface="TT Hoves"/>
                <a:sym typeface="TT Hoves"/>
              </a:rPr>
              <a:t>k</a:t>
            </a:r>
            <a:r>
              <a:rPr lang="en-US" sz="1999" spc="119">
                <a:solidFill>
                  <a:srgbClr val="FFFFFF"/>
                </a:solidFill>
                <a:latin typeface="TT Hoves"/>
                <a:ea typeface="TT Hoves"/>
                <a:cs typeface="TT Hoves"/>
                <a:sym typeface="TT Hoves"/>
              </a:rPr>
              <a:t>orela</a:t>
            </a:r>
            <a:r>
              <a:rPr lang="en-US" sz="1999" spc="119" u="none">
                <a:solidFill>
                  <a:srgbClr val="FFFFFF"/>
                </a:solidFill>
                <a:latin typeface="TT Hoves"/>
                <a:ea typeface="TT Hoves"/>
                <a:cs typeface="TT Hoves"/>
                <a:sym typeface="TT Hoves"/>
              </a:rPr>
              <a:t>s</a:t>
            </a:r>
            <a:r>
              <a:rPr lang="en-US" sz="1999" spc="119">
                <a:solidFill>
                  <a:srgbClr val="FFFFFF"/>
                </a:solidFill>
                <a:latin typeface="TT Hoves"/>
                <a:ea typeface="TT Hoves"/>
                <a:cs typeface="TT Hoves"/>
                <a:sym typeface="TT Hoves"/>
              </a:rPr>
              <a:t>i posi</a:t>
            </a:r>
            <a:r>
              <a:rPr lang="en-US" sz="1999" spc="119" u="none">
                <a:solidFill>
                  <a:srgbClr val="FFFFFF"/>
                </a:solidFill>
                <a:latin typeface="TT Hoves"/>
                <a:ea typeface="TT Hoves"/>
                <a:cs typeface="TT Hoves"/>
                <a:sym typeface="TT Hoves"/>
              </a:rPr>
              <a:t>t</a:t>
            </a:r>
            <a:r>
              <a:rPr lang="en-US" sz="1999" spc="119">
                <a:solidFill>
                  <a:srgbClr val="FFFFFF"/>
                </a:solidFill>
                <a:latin typeface="TT Hoves"/>
                <a:ea typeface="TT Hoves"/>
                <a:cs typeface="TT Hoves"/>
                <a:sym typeface="TT Hoves"/>
              </a:rPr>
              <a:t>i</a:t>
            </a:r>
            <a:r>
              <a:rPr lang="en-US" sz="1999" spc="119" u="none">
                <a:solidFill>
                  <a:srgbClr val="FFFFFF"/>
                </a:solidFill>
                <a:latin typeface="TT Hoves"/>
                <a:ea typeface="TT Hoves"/>
                <a:cs typeface="TT Hoves"/>
                <a:sym typeface="TT Hoves"/>
              </a:rPr>
              <a:t>f</a:t>
            </a:r>
            <a:r>
              <a:rPr lang="en-US" sz="1999" spc="119">
                <a:solidFill>
                  <a:srgbClr val="FFFFFF"/>
                </a:solidFill>
                <a:latin typeface="TT Hoves"/>
                <a:ea typeface="TT Hoves"/>
                <a:cs typeface="TT Hoves"/>
                <a:sym typeface="TT Hoves"/>
              </a:rPr>
              <a:t> terti</a:t>
            </a:r>
            <a:r>
              <a:rPr lang="en-US" sz="1999" spc="119" u="none">
                <a:solidFill>
                  <a:srgbClr val="FFFFFF"/>
                </a:solidFill>
                <a:latin typeface="TT Hoves"/>
                <a:ea typeface="TT Hoves"/>
                <a:cs typeface="TT Hoves"/>
                <a:sym typeface="TT Hoves"/>
              </a:rPr>
              <a:t>nggi</a:t>
            </a:r>
            <a:r>
              <a:rPr lang="en-US" sz="1999" spc="119">
                <a:solidFill>
                  <a:srgbClr val="FFFFFF"/>
                </a:solidFill>
                <a:latin typeface="TT Hoves"/>
                <a:ea typeface="TT Hoves"/>
                <a:cs typeface="TT Hoves"/>
                <a:sym typeface="TT Hoves"/>
              </a:rPr>
              <a:t> adalah s</a:t>
            </a:r>
            <a:r>
              <a:rPr lang="en-US" sz="1999" spc="119" u="none">
                <a:solidFill>
                  <a:srgbClr val="FFFFFF"/>
                </a:solidFill>
                <a:latin typeface="TT Hoves"/>
                <a:ea typeface="TT Hoves"/>
                <a:cs typeface="TT Hoves"/>
                <a:sym typeface="TT Hoves"/>
              </a:rPr>
              <a:t>kip_ra</a:t>
            </a:r>
            <a:r>
              <a:rPr lang="en-US" sz="1999" spc="119">
                <a:solidFill>
                  <a:srgbClr val="FFFFFF"/>
                </a:solidFill>
                <a:latin typeface="TT Hoves"/>
                <a:ea typeface="TT Hoves"/>
                <a:cs typeface="TT Hoves"/>
                <a:sym typeface="TT Hoves"/>
              </a:rPr>
              <a:t>te</a:t>
            </a:r>
            <a:r>
              <a:rPr lang="en-US" sz="1999" spc="119" u="none">
                <a:solidFill>
                  <a:srgbClr val="FFFFFF"/>
                </a:solidFill>
                <a:latin typeface="TT Hoves"/>
                <a:ea typeface="TT Hoves"/>
                <a:cs typeface="TT Hoves"/>
                <a:sym typeface="TT Hoves"/>
              </a:rPr>
              <a:t> da</a:t>
            </a:r>
            <a:r>
              <a:rPr lang="en-US" sz="1999" spc="119">
                <a:solidFill>
                  <a:srgbClr val="FFFFFF"/>
                </a:solidFill>
                <a:latin typeface="TT Hoves"/>
                <a:ea typeface="TT Hoves"/>
                <a:cs typeface="TT Hoves"/>
                <a:sym typeface="TT Hoves"/>
              </a:rPr>
              <a:t>n offline_listening, </a:t>
            </a:r>
            <a:r>
              <a:rPr lang="en-US" sz="1999" spc="119" u="none">
                <a:solidFill>
                  <a:srgbClr val="FFFFFF"/>
                </a:solidFill>
                <a:latin typeface="TT Hoves"/>
                <a:ea typeface="TT Hoves"/>
                <a:cs typeface="TT Hoves"/>
                <a:sym typeface="TT Hoves"/>
              </a:rPr>
              <a:t>me</a:t>
            </a:r>
            <a:r>
              <a:rPr lang="en-US" sz="1999" spc="119">
                <a:solidFill>
                  <a:srgbClr val="FFFFFF"/>
                </a:solidFill>
                <a:latin typeface="TT Hoves"/>
                <a:ea typeface="TT Hoves"/>
                <a:cs typeface="TT Hoves"/>
                <a:sym typeface="TT Hoves"/>
              </a:rPr>
              <a:t>n</a:t>
            </a:r>
            <a:r>
              <a:rPr lang="en-US" sz="1999" spc="119" u="none">
                <a:solidFill>
                  <a:srgbClr val="FFFFFF"/>
                </a:solidFill>
                <a:latin typeface="TT Hoves"/>
                <a:ea typeface="TT Hoves"/>
                <a:cs typeface="TT Hoves"/>
                <a:sym typeface="TT Hoves"/>
              </a:rPr>
              <a:t>andak</a:t>
            </a:r>
            <a:r>
              <a:rPr lang="en-US" sz="1999" spc="119">
                <a:solidFill>
                  <a:srgbClr val="FFFFFF"/>
                </a:solidFill>
                <a:latin typeface="TT Hoves"/>
                <a:ea typeface="TT Hoves"/>
                <a:cs typeface="TT Hoves"/>
                <a:sym typeface="TT Hoves"/>
              </a:rPr>
              <a:t>a</a:t>
            </a:r>
            <a:r>
              <a:rPr lang="en-US" sz="1999" spc="119" u="none">
                <a:solidFill>
                  <a:srgbClr val="FFFFFF"/>
                </a:solidFill>
                <a:latin typeface="TT Hoves"/>
                <a:ea typeface="TT Hoves"/>
                <a:cs typeface="TT Hoves"/>
                <a:sym typeface="TT Hoves"/>
              </a:rPr>
              <a:t>n</a:t>
            </a:r>
            <a:r>
              <a:rPr lang="en-US" sz="1999" spc="119">
                <a:solidFill>
                  <a:srgbClr val="FFFFFF"/>
                </a:solidFill>
                <a:latin typeface="TT Hoves"/>
                <a:ea typeface="TT Hoves"/>
                <a:cs typeface="TT Hoves"/>
                <a:sym typeface="TT Hoves"/>
              </a:rPr>
              <a:t> bahwa </a:t>
            </a:r>
            <a:r>
              <a:rPr lang="en-US" sz="1999" spc="119" u="none">
                <a:solidFill>
                  <a:srgbClr val="FFFFFF"/>
                </a:solidFill>
                <a:latin typeface="TT Hoves"/>
                <a:ea typeface="TT Hoves"/>
                <a:cs typeface="TT Hoves"/>
                <a:sym typeface="TT Hoves"/>
              </a:rPr>
              <a:t>p</a:t>
            </a:r>
            <a:r>
              <a:rPr lang="en-US" sz="1999" spc="119">
                <a:solidFill>
                  <a:srgbClr val="FFFFFF"/>
                </a:solidFill>
                <a:latin typeface="TT Hoves"/>
                <a:ea typeface="TT Hoves"/>
                <a:cs typeface="TT Hoves"/>
                <a:sym typeface="TT Hoves"/>
              </a:rPr>
              <a:t>e</a:t>
            </a:r>
            <a:r>
              <a:rPr lang="en-US" sz="1999" spc="119" u="none">
                <a:solidFill>
                  <a:srgbClr val="FFFFFF"/>
                </a:solidFill>
                <a:latin typeface="TT Hoves"/>
                <a:ea typeface="TT Hoves"/>
                <a:cs typeface="TT Hoves"/>
                <a:sym typeface="TT Hoves"/>
              </a:rPr>
              <a:t>ngguna</a:t>
            </a:r>
            <a:r>
              <a:rPr lang="en-US" sz="1999" spc="119">
                <a:solidFill>
                  <a:srgbClr val="FFFFFF"/>
                </a:solidFill>
                <a:latin typeface="TT Hoves"/>
                <a:ea typeface="TT Hoves"/>
                <a:cs typeface="TT Hoves"/>
                <a:sym typeface="TT Hoves"/>
              </a:rPr>
              <a:t> y</a:t>
            </a:r>
            <a:r>
              <a:rPr lang="en-US" sz="1999" spc="119" u="none">
                <a:solidFill>
                  <a:srgbClr val="FFFFFF"/>
                </a:solidFill>
                <a:latin typeface="TT Hoves"/>
                <a:ea typeface="TT Hoves"/>
                <a:cs typeface="TT Hoves"/>
                <a:sym typeface="TT Hoves"/>
              </a:rPr>
              <a:t>ang</a:t>
            </a:r>
            <a:r>
              <a:rPr lang="en-US" sz="1999" spc="119">
                <a:solidFill>
                  <a:srgbClr val="FFFFFF"/>
                </a:solidFill>
                <a:latin typeface="TT Hoves"/>
                <a:ea typeface="TT Hoves"/>
                <a:cs typeface="TT Hoves"/>
                <a:sym typeface="TT Hoves"/>
              </a:rPr>
              <a:t> lebih</a:t>
            </a:r>
            <a:r>
              <a:rPr lang="en-US" sz="1999" spc="119" u="none">
                <a:solidFill>
                  <a:srgbClr val="FFFFFF"/>
                </a:solidFill>
                <a:latin typeface="TT Hoves"/>
                <a:ea typeface="TT Hoves"/>
                <a:cs typeface="TT Hoves"/>
                <a:sym typeface="TT Hoves"/>
              </a:rPr>
              <a:t> </a:t>
            </a:r>
            <a:r>
              <a:rPr lang="en-US" sz="1999" spc="119">
                <a:solidFill>
                  <a:srgbClr val="FFFFFF"/>
                </a:solidFill>
                <a:latin typeface="TT Hoves"/>
                <a:ea typeface="TT Hoves"/>
                <a:cs typeface="TT Hoves"/>
                <a:sym typeface="TT Hoves"/>
              </a:rPr>
              <a:t>se</a:t>
            </a:r>
            <a:r>
              <a:rPr lang="en-US" sz="1999" spc="119" u="none">
                <a:solidFill>
                  <a:srgbClr val="FFFFFF"/>
                </a:solidFill>
                <a:latin typeface="TT Hoves"/>
                <a:ea typeface="TT Hoves"/>
                <a:cs typeface="TT Hoves"/>
                <a:sym typeface="TT Hoves"/>
              </a:rPr>
              <a:t>r</a:t>
            </a:r>
            <a:r>
              <a:rPr lang="en-US" sz="1999" spc="119">
                <a:solidFill>
                  <a:srgbClr val="FFFFFF"/>
                </a:solidFill>
                <a:latin typeface="TT Hoves"/>
                <a:ea typeface="TT Hoves"/>
                <a:cs typeface="TT Hoves"/>
                <a:sym typeface="TT Hoves"/>
              </a:rPr>
              <a:t>ing </a:t>
            </a:r>
            <a:r>
              <a:rPr lang="en-US" sz="1999" spc="119" u="none">
                <a:solidFill>
                  <a:srgbClr val="FFFFFF"/>
                </a:solidFill>
                <a:latin typeface="TT Hoves"/>
                <a:ea typeface="TT Hoves"/>
                <a:cs typeface="TT Hoves"/>
                <a:sym typeface="TT Hoves"/>
              </a:rPr>
              <a:t>melewati</a:t>
            </a:r>
            <a:r>
              <a:rPr lang="en-US" sz="1999" spc="119">
                <a:solidFill>
                  <a:srgbClr val="FFFFFF"/>
                </a:solidFill>
                <a:latin typeface="TT Hoves"/>
                <a:ea typeface="TT Hoves"/>
                <a:cs typeface="TT Hoves"/>
                <a:sym typeface="TT Hoves"/>
              </a:rPr>
              <a:t> lagu a</a:t>
            </a:r>
            <a:r>
              <a:rPr lang="en-US" sz="1999" spc="119" u="none">
                <a:solidFill>
                  <a:srgbClr val="FFFFFF"/>
                </a:solidFill>
                <a:latin typeface="TT Hoves"/>
                <a:ea typeface="TT Hoves"/>
                <a:cs typeface="TT Hoves"/>
                <a:sym typeface="TT Hoves"/>
              </a:rPr>
              <a:t>t</a:t>
            </a:r>
            <a:r>
              <a:rPr lang="en-US" sz="1999" spc="119">
                <a:solidFill>
                  <a:srgbClr val="FFFFFF"/>
                </a:solidFill>
                <a:latin typeface="TT Hoves"/>
                <a:ea typeface="TT Hoves"/>
                <a:cs typeface="TT Hoves"/>
                <a:sym typeface="TT Hoves"/>
              </a:rPr>
              <a:t>au kura</a:t>
            </a:r>
            <a:r>
              <a:rPr lang="en-US" sz="1999" spc="119" u="none">
                <a:solidFill>
                  <a:srgbClr val="FFFFFF"/>
                </a:solidFill>
                <a:latin typeface="TT Hoves"/>
                <a:ea typeface="TT Hoves"/>
                <a:cs typeface="TT Hoves"/>
                <a:sym typeface="TT Hoves"/>
              </a:rPr>
              <a:t>ng memanfa</a:t>
            </a:r>
            <a:r>
              <a:rPr lang="en-US" sz="1999" spc="119">
                <a:solidFill>
                  <a:srgbClr val="FFFFFF"/>
                </a:solidFill>
                <a:latin typeface="TT Hoves"/>
                <a:ea typeface="TT Hoves"/>
                <a:cs typeface="TT Hoves"/>
                <a:sym typeface="TT Hoves"/>
              </a:rPr>
              <a:t>at</a:t>
            </a:r>
            <a:r>
              <a:rPr lang="en-US" sz="1999" spc="119" u="none">
                <a:solidFill>
                  <a:srgbClr val="FFFFFF"/>
                </a:solidFill>
                <a:latin typeface="TT Hoves"/>
                <a:ea typeface="TT Hoves"/>
                <a:cs typeface="TT Hoves"/>
                <a:sym typeface="TT Hoves"/>
              </a:rPr>
              <a:t>k</a:t>
            </a:r>
            <a:r>
              <a:rPr lang="en-US" sz="1999" spc="119">
                <a:solidFill>
                  <a:srgbClr val="FFFFFF"/>
                </a:solidFill>
                <a:latin typeface="TT Hoves"/>
                <a:ea typeface="TT Hoves"/>
                <a:cs typeface="TT Hoves"/>
                <a:sym typeface="TT Hoves"/>
              </a:rPr>
              <a:t>an fitur offl</a:t>
            </a:r>
            <a:r>
              <a:rPr lang="en-US" sz="1999" spc="119" u="none">
                <a:solidFill>
                  <a:srgbClr val="FFFFFF"/>
                </a:solidFill>
                <a:latin typeface="TT Hoves"/>
                <a:ea typeface="TT Hoves"/>
                <a:cs typeface="TT Hoves"/>
                <a:sym typeface="TT Hoves"/>
              </a:rPr>
              <a:t>ine</a:t>
            </a:r>
            <a:r>
              <a:rPr lang="en-US" sz="1999" spc="119">
                <a:solidFill>
                  <a:srgbClr val="FFFFFF"/>
                </a:solidFill>
                <a:latin typeface="TT Hoves"/>
                <a:ea typeface="TT Hoves"/>
                <a:cs typeface="TT Hoves"/>
                <a:sym typeface="TT Hoves"/>
              </a:rPr>
              <a:t> cenderung se</a:t>
            </a:r>
            <a:r>
              <a:rPr lang="en-US" sz="1999" spc="119" u="none">
                <a:solidFill>
                  <a:srgbClr val="FFFFFF"/>
                </a:solidFill>
                <a:latin typeface="TT Hoves"/>
                <a:ea typeface="TT Hoves"/>
                <a:cs typeface="TT Hoves"/>
                <a:sym typeface="TT Hoves"/>
              </a:rPr>
              <a:t>dik</a:t>
            </a:r>
            <a:r>
              <a:rPr lang="en-US" sz="1999" spc="119">
                <a:solidFill>
                  <a:srgbClr val="FFFFFF"/>
                </a:solidFill>
                <a:latin typeface="TT Hoves"/>
                <a:ea typeface="TT Hoves"/>
                <a:cs typeface="TT Hoves"/>
                <a:sym typeface="TT Hoves"/>
              </a:rPr>
              <a:t>it leb</a:t>
            </a:r>
            <a:r>
              <a:rPr lang="en-US" sz="1999" spc="119" u="none">
                <a:solidFill>
                  <a:srgbClr val="FFFFFF"/>
                </a:solidFill>
                <a:latin typeface="TT Hoves"/>
                <a:ea typeface="TT Hoves"/>
                <a:cs typeface="TT Hoves"/>
                <a:sym typeface="TT Hoves"/>
              </a:rPr>
              <a:t>i</a:t>
            </a:r>
            <a:r>
              <a:rPr lang="en-US" sz="1999" spc="119">
                <a:solidFill>
                  <a:srgbClr val="FFFFFF"/>
                </a:solidFill>
                <a:latin typeface="TT Hoves"/>
                <a:ea typeface="TT Hoves"/>
                <a:cs typeface="TT Hoves"/>
                <a:sym typeface="TT Hoves"/>
              </a:rPr>
              <a:t>h ber</a:t>
            </a:r>
            <a:r>
              <a:rPr lang="en-US" sz="1999" spc="119" u="none">
                <a:solidFill>
                  <a:srgbClr val="FFFFFF"/>
                </a:solidFill>
                <a:latin typeface="TT Hoves"/>
                <a:ea typeface="TT Hoves"/>
                <a:cs typeface="TT Hoves"/>
                <a:sym typeface="TT Hoves"/>
              </a:rPr>
              <a:t>pot</a:t>
            </a:r>
            <a:r>
              <a:rPr lang="en-US" sz="1999" spc="119">
                <a:solidFill>
                  <a:srgbClr val="FFFFFF"/>
                </a:solidFill>
                <a:latin typeface="TT Hoves"/>
                <a:ea typeface="TT Hoves"/>
                <a:cs typeface="TT Hoves"/>
                <a:sym typeface="TT Hoves"/>
              </a:rPr>
              <a:t>e</a:t>
            </a:r>
            <a:r>
              <a:rPr lang="en-US" sz="1999" spc="119" u="none">
                <a:solidFill>
                  <a:srgbClr val="FFFFFF"/>
                </a:solidFill>
                <a:latin typeface="TT Hoves"/>
                <a:ea typeface="TT Hoves"/>
                <a:cs typeface="TT Hoves"/>
                <a:sym typeface="TT Hoves"/>
              </a:rPr>
              <a:t>nsi</a:t>
            </a:r>
            <a:r>
              <a:rPr lang="en-US" sz="1999" spc="119">
                <a:solidFill>
                  <a:srgbClr val="FFFFFF"/>
                </a:solidFill>
                <a:latin typeface="TT Hoves"/>
                <a:ea typeface="TT Hoves"/>
                <a:cs typeface="TT Hoves"/>
                <a:sym typeface="TT Hoves"/>
              </a:rPr>
              <a:t> churn.</a:t>
            </a:r>
          </a:p>
        </p:txBody>
      </p:sp>
      <p:sp>
        <p:nvSpPr>
          <p:cNvPr name="TextBox 9" id="9"/>
          <p:cNvSpPr txBox="true"/>
          <p:nvPr/>
        </p:nvSpPr>
        <p:spPr>
          <a:xfrm rot="0">
            <a:off x="12834747" y="6972898"/>
            <a:ext cx="6265091" cy="4832876"/>
          </a:xfrm>
          <a:prstGeom prst="rect">
            <a:avLst/>
          </a:prstGeom>
        </p:spPr>
        <p:txBody>
          <a:bodyPr anchor="t" rtlCol="false" tIns="0" lIns="0" bIns="0" rIns="0">
            <a:spAutoFit/>
          </a:bodyPr>
          <a:lstStyle/>
          <a:p>
            <a:pPr algn="ctr">
              <a:lnSpc>
                <a:spcPts val="35614"/>
              </a:lnSpc>
            </a:pPr>
            <a:r>
              <a:rPr lang="en-US" b="true" sz="37888" spc="-1856">
                <a:solidFill>
                  <a:srgbClr val="EFEFEF"/>
                </a:solidFill>
                <a:latin typeface="TT Hoves Bold"/>
                <a:ea typeface="TT Hoves Bold"/>
                <a:cs typeface="TT Hoves Bold"/>
                <a:sym typeface="TT Hoves Bold"/>
              </a:rPr>
              <a:t>16</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126789" y="-2986203"/>
            <a:ext cx="7624730" cy="7624730"/>
          </a:xfrm>
          <a:custGeom>
            <a:avLst/>
            <a:gdLst/>
            <a:ahLst/>
            <a:cxnLst/>
            <a:rect r="r" b="b" t="t" l="l"/>
            <a:pathLst>
              <a:path h="7624730" w="7624730">
                <a:moveTo>
                  <a:pt x="0" y="0"/>
                </a:moveTo>
                <a:lnTo>
                  <a:pt x="7624731" y="0"/>
                </a:lnTo>
                <a:lnTo>
                  <a:pt x="7624731" y="7624731"/>
                </a:lnTo>
                <a:lnTo>
                  <a:pt x="0" y="7624731"/>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119137" y="-666477"/>
            <a:ext cx="7178388" cy="11878896"/>
            <a:chOff x="0" y="0"/>
            <a:chExt cx="1890604" cy="3128598"/>
          </a:xfrm>
        </p:grpSpPr>
        <p:sp>
          <p:nvSpPr>
            <p:cNvPr name="Freeform 4" id="4"/>
            <p:cNvSpPr/>
            <p:nvPr/>
          </p:nvSpPr>
          <p:spPr>
            <a:xfrm flipH="false" flipV="false" rot="0">
              <a:off x="0" y="0"/>
              <a:ext cx="1890604" cy="3128598"/>
            </a:xfrm>
            <a:custGeom>
              <a:avLst/>
              <a:gdLst/>
              <a:ahLst/>
              <a:cxnLst/>
              <a:rect r="r" b="b" t="t" l="l"/>
              <a:pathLst>
                <a:path h="3128598" w="1890604">
                  <a:moveTo>
                    <a:pt x="0" y="0"/>
                  </a:moveTo>
                  <a:lnTo>
                    <a:pt x="1890604" y="0"/>
                  </a:lnTo>
                  <a:lnTo>
                    <a:pt x="1890604" y="3128598"/>
                  </a:lnTo>
                  <a:lnTo>
                    <a:pt x="0" y="3128598"/>
                  </a:lnTo>
                  <a:close/>
                </a:path>
              </a:pathLst>
            </a:custGeom>
            <a:solidFill>
              <a:srgbClr val="0003FF"/>
            </a:solidFill>
          </p:spPr>
        </p:sp>
        <p:sp>
          <p:nvSpPr>
            <p:cNvPr name="TextBox 5" id="5"/>
            <p:cNvSpPr txBox="true"/>
            <p:nvPr/>
          </p:nvSpPr>
          <p:spPr>
            <a:xfrm>
              <a:off x="0" y="-57150"/>
              <a:ext cx="1890604" cy="318574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1786083" y="1639590"/>
            <a:ext cx="7357917" cy="5997876"/>
          </a:xfrm>
          <a:custGeom>
            <a:avLst/>
            <a:gdLst/>
            <a:ahLst/>
            <a:cxnLst/>
            <a:rect r="r" b="b" t="t" l="l"/>
            <a:pathLst>
              <a:path h="5997876" w="7357917">
                <a:moveTo>
                  <a:pt x="0" y="0"/>
                </a:moveTo>
                <a:lnTo>
                  <a:pt x="7357917" y="0"/>
                </a:lnTo>
                <a:lnTo>
                  <a:pt x="7357917" y="5997876"/>
                </a:lnTo>
                <a:lnTo>
                  <a:pt x="0" y="5997876"/>
                </a:lnTo>
                <a:lnTo>
                  <a:pt x="0" y="0"/>
                </a:lnTo>
                <a:close/>
              </a:path>
            </a:pathLst>
          </a:custGeom>
          <a:blipFill>
            <a:blip r:embed="rId4"/>
            <a:stretch>
              <a:fillRect l="0" t="0" r="0" b="0"/>
            </a:stretch>
          </a:blipFill>
        </p:spPr>
      </p:sp>
      <p:sp>
        <p:nvSpPr>
          <p:cNvPr name="Freeform 7" id="7"/>
          <p:cNvSpPr/>
          <p:nvPr/>
        </p:nvSpPr>
        <p:spPr>
          <a:xfrm flipH="false" flipV="false" rot="0">
            <a:off x="353630" y="8127847"/>
            <a:ext cx="10523771" cy="1589528"/>
          </a:xfrm>
          <a:custGeom>
            <a:avLst/>
            <a:gdLst/>
            <a:ahLst/>
            <a:cxnLst/>
            <a:rect r="r" b="b" t="t" l="l"/>
            <a:pathLst>
              <a:path h="1589528" w="10523771">
                <a:moveTo>
                  <a:pt x="0" y="0"/>
                </a:moveTo>
                <a:lnTo>
                  <a:pt x="10523771" y="0"/>
                </a:lnTo>
                <a:lnTo>
                  <a:pt x="10523771" y="1589528"/>
                </a:lnTo>
                <a:lnTo>
                  <a:pt x="0" y="1589528"/>
                </a:lnTo>
                <a:lnTo>
                  <a:pt x="0" y="0"/>
                </a:lnTo>
                <a:close/>
              </a:path>
            </a:pathLst>
          </a:custGeom>
          <a:blipFill>
            <a:blip r:embed="rId5"/>
            <a:stretch>
              <a:fillRect l="0" t="0" r="0" b="0"/>
            </a:stretch>
          </a:blipFill>
        </p:spPr>
      </p:sp>
      <p:sp>
        <p:nvSpPr>
          <p:cNvPr name="TextBox 8" id="8"/>
          <p:cNvSpPr txBox="true"/>
          <p:nvPr/>
        </p:nvSpPr>
        <p:spPr>
          <a:xfrm rot="0">
            <a:off x="1668554" y="265140"/>
            <a:ext cx="7893924" cy="653415"/>
          </a:xfrm>
          <a:prstGeom prst="rect">
            <a:avLst/>
          </a:prstGeom>
        </p:spPr>
        <p:txBody>
          <a:bodyPr anchor="t" rtlCol="false" tIns="0" lIns="0" bIns="0" rIns="0">
            <a:spAutoFit/>
          </a:bodyPr>
          <a:lstStyle/>
          <a:p>
            <a:pPr algn="ctr" marL="0" indent="0" lvl="1">
              <a:lnSpc>
                <a:spcPts val="5040"/>
              </a:lnSpc>
              <a:spcBef>
                <a:spcPct val="0"/>
              </a:spcBef>
            </a:pPr>
            <a:r>
              <a:rPr lang="en-US" b="true" sz="4800" spc="-235" strike="noStrike" u="none">
                <a:solidFill>
                  <a:srgbClr val="343434"/>
                </a:solidFill>
                <a:latin typeface="TT Hoves Bold"/>
                <a:ea typeface="TT Hoves Bold"/>
                <a:cs typeface="TT Hoves Bold"/>
                <a:sym typeface="TT Hoves Bold"/>
              </a:rPr>
              <a:t>K-Prototype Clustering</a:t>
            </a:r>
          </a:p>
        </p:txBody>
      </p:sp>
      <p:sp>
        <p:nvSpPr>
          <p:cNvPr name="TextBox 9" id="9"/>
          <p:cNvSpPr txBox="true"/>
          <p:nvPr/>
        </p:nvSpPr>
        <p:spPr>
          <a:xfrm rot="0">
            <a:off x="11851250" y="3615621"/>
            <a:ext cx="5695112" cy="1657350"/>
          </a:xfrm>
          <a:prstGeom prst="rect">
            <a:avLst/>
          </a:prstGeom>
        </p:spPr>
        <p:txBody>
          <a:bodyPr anchor="t" rtlCol="false" tIns="0" lIns="0" bIns="0" rIns="0">
            <a:spAutoFit/>
          </a:bodyPr>
          <a:lstStyle/>
          <a:p>
            <a:pPr algn="just">
              <a:lnSpc>
                <a:spcPts val="2699"/>
              </a:lnSpc>
            </a:pPr>
            <a:r>
              <a:rPr lang="en-US" sz="1999" spc="119">
                <a:solidFill>
                  <a:srgbClr val="FFFFFF"/>
                </a:solidFill>
                <a:latin typeface="TT Hoves"/>
                <a:ea typeface="TT Hoves"/>
                <a:cs typeface="TT Hoves"/>
                <a:sym typeface="TT Hoves"/>
              </a:rPr>
              <a:t>Best Parameters untuk K-Prototype Clustering:</a:t>
            </a:r>
          </a:p>
          <a:p>
            <a:pPr algn="just" marL="431799" indent="-215899" lvl="1">
              <a:lnSpc>
                <a:spcPts val="2699"/>
              </a:lnSpc>
              <a:buFont typeface="Arial"/>
              <a:buChar char="•"/>
            </a:pPr>
            <a:r>
              <a:rPr lang="en-US" sz="1999" spc="119">
                <a:solidFill>
                  <a:srgbClr val="FFFFFF"/>
                </a:solidFill>
                <a:latin typeface="TT Hoves"/>
                <a:ea typeface="TT Hoves"/>
                <a:cs typeface="TT Hoves"/>
                <a:sym typeface="TT Hoves"/>
              </a:rPr>
              <a:t>Jumlah kluster : 7</a:t>
            </a:r>
          </a:p>
          <a:p>
            <a:pPr algn="just" marL="431799" indent="-215899" lvl="1">
              <a:lnSpc>
                <a:spcPts val="2699"/>
              </a:lnSpc>
              <a:buFont typeface="Arial"/>
              <a:buChar char="•"/>
            </a:pPr>
            <a:r>
              <a:rPr lang="en-US" sz="1999" spc="119">
                <a:solidFill>
                  <a:srgbClr val="FFFFFF"/>
                </a:solidFill>
                <a:latin typeface="TT Hoves"/>
                <a:ea typeface="TT Hoves"/>
                <a:cs typeface="TT Hoves"/>
                <a:sym typeface="TT Hoves"/>
              </a:rPr>
              <a:t>Gamma : 0.1</a:t>
            </a:r>
          </a:p>
          <a:p>
            <a:pPr algn="just" marL="431799" indent="-215899" lvl="1">
              <a:lnSpc>
                <a:spcPts val="2699"/>
              </a:lnSpc>
              <a:spcBef>
                <a:spcPct val="0"/>
              </a:spcBef>
              <a:buFont typeface="Arial"/>
              <a:buChar char="•"/>
            </a:pPr>
            <a:r>
              <a:rPr lang="en-US" sz="1999" spc="119">
                <a:solidFill>
                  <a:srgbClr val="FFFFFF"/>
                </a:solidFill>
                <a:latin typeface="TT Hoves"/>
                <a:ea typeface="TT Hoves"/>
                <a:cs typeface="TT Hoves"/>
                <a:sym typeface="TT Hoves"/>
              </a:rPr>
              <a:t>Nilai Cost terendah (18615)</a:t>
            </a:r>
          </a:p>
        </p:txBody>
      </p:sp>
      <p:sp>
        <p:nvSpPr>
          <p:cNvPr name="TextBox 10" id="10"/>
          <p:cNvSpPr txBox="true"/>
          <p:nvPr/>
        </p:nvSpPr>
        <p:spPr>
          <a:xfrm rot="0">
            <a:off x="12834747" y="6972898"/>
            <a:ext cx="6265091" cy="4832876"/>
          </a:xfrm>
          <a:prstGeom prst="rect">
            <a:avLst/>
          </a:prstGeom>
        </p:spPr>
        <p:txBody>
          <a:bodyPr anchor="t" rtlCol="false" tIns="0" lIns="0" bIns="0" rIns="0">
            <a:spAutoFit/>
          </a:bodyPr>
          <a:lstStyle/>
          <a:p>
            <a:pPr algn="ctr">
              <a:lnSpc>
                <a:spcPts val="35614"/>
              </a:lnSpc>
            </a:pPr>
            <a:r>
              <a:rPr lang="en-US" b="true" sz="37888" spc="-1856">
                <a:solidFill>
                  <a:srgbClr val="EFEFEF"/>
                </a:solidFill>
                <a:latin typeface="TT Hoves Bold"/>
                <a:ea typeface="TT Hoves Bold"/>
                <a:cs typeface="TT Hoves Bold"/>
                <a:sym typeface="TT Hoves Bold"/>
              </a:rPr>
              <a:t>17</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126789" y="-2986203"/>
            <a:ext cx="7624730" cy="7624730"/>
          </a:xfrm>
          <a:custGeom>
            <a:avLst/>
            <a:gdLst/>
            <a:ahLst/>
            <a:cxnLst/>
            <a:rect r="r" b="b" t="t" l="l"/>
            <a:pathLst>
              <a:path h="7624730" w="7624730">
                <a:moveTo>
                  <a:pt x="0" y="0"/>
                </a:moveTo>
                <a:lnTo>
                  <a:pt x="7624731" y="0"/>
                </a:lnTo>
                <a:lnTo>
                  <a:pt x="7624731" y="7624731"/>
                </a:lnTo>
                <a:lnTo>
                  <a:pt x="0" y="7624731"/>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109612" y="-666477"/>
            <a:ext cx="7178388" cy="11878896"/>
            <a:chOff x="0" y="0"/>
            <a:chExt cx="1890604" cy="3128598"/>
          </a:xfrm>
        </p:grpSpPr>
        <p:sp>
          <p:nvSpPr>
            <p:cNvPr name="Freeform 4" id="4"/>
            <p:cNvSpPr/>
            <p:nvPr/>
          </p:nvSpPr>
          <p:spPr>
            <a:xfrm flipH="false" flipV="false" rot="0">
              <a:off x="0" y="0"/>
              <a:ext cx="1890604" cy="3128598"/>
            </a:xfrm>
            <a:custGeom>
              <a:avLst/>
              <a:gdLst/>
              <a:ahLst/>
              <a:cxnLst/>
              <a:rect r="r" b="b" t="t" l="l"/>
              <a:pathLst>
                <a:path h="3128598" w="1890604">
                  <a:moveTo>
                    <a:pt x="0" y="0"/>
                  </a:moveTo>
                  <a:lnTo>
                    <a:pt x="1890604" y="0"/>
                  </a:lnTo>
                  <a:lnTo>
                    <a:pt x="1890604" y="3128598"/>
                  </a:lnTo>
                  <a:lnTo>
                    <a:pt x="0" y="3128598"/>
                  </a:lnTo>
                  <a:close/>
                </a:path>
              </a:pathLst>
            </a:custGeom>
            <a:solidFill>
              <a:srgbClr val="0003FF"/>
            </a:solidFill>
          </p:spPr>
        </p:sp>
        <p:sp>
          <p:nvSpPr>
            <p:cNvPr name="TextBox 5" id="5"/>
            <p:cNvSpPr txBox="true"/>
            <p:nvPr/>
          </p:nvSpPr>
          <p:spPr>
            <a:xfrm>
              <a:off x="0" y="-57150"/>
              <a:ext cx="1890604" cy="318574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1028700" y="3171780"/>
            <a:ext cx="8870622" cy="5233667"/>
          </a:xfrm>
          <a:custGeom>
            <a:avLst/>
            <a:gdLst/>
            <a:ahLst/>
            <a:cxnLst/>
            <a:rect r="r" b="b" t="t" l="l"/>
            <a:pathLst>
              <a:path h="5233667" w="8870622">
                <a:moveTo>
                  <a:pt x="0" y="0"/>
                </a:moveTo>
                <a:lnTo>
                  <a:pt x="8870622" y="0"/>
                </a:lnTo>
                <a:lnTo>
                  <a:pt x="8870622" y="5233667"/>
                </a:lnTo>
                <a:lnTo>
                  <a:pt x="0" y="5233667"/>
                </a:lnTo>
                <a:lnTo>
                  <a:pt x="0" y="0"/>
                </a:lnTo>
                <a:close/>
              </a:path>
            </a:pathLst>
          </a:custGeom>
          <a:blipFill>
            <a:blip r:embed="rId4"/>
            <a:stretch>
              <a:fillRect l="0" t="0" r="0" b="0"/>
            </a:stretch>
          </a:blipFill>
        </p:spPr>
      </p:sp>
      <p:sp>
        <p:nvSpPr>
          <p:cNvPr name="TextBox 7" id="7"/>
          <p:cNvSpPr txBox="true"/>
          <p:nvPr/>
        </p:nvSpPr>
        <p:spPr>
          <a:xfrm rot="0">
            <a:off x="11729972" y="797588"/>
            <a:ext cx="6230192" cy="6657975"/>
          </a:xfrm>
          <a:prstGeom prst="rect">
            <a:avLst/>
          </a:prstGeom>
        </p:spPr>
        <p:txBody>
          <a:bodyPr anchor="t" rtlCol="false" tIns="0" lIns="0" bIns="0" rIns="0">
            <a:spAutoFit/>
          </a:bodyPr>
          <a:lstStyle/>
          <a:p>
            <a:pPr algn="just" marL="0" indent="0" lvl="0">
              <a:lnSpc>
                <a:spcPts val="2699"/>
              </a:lnSpc>
              <a:spcBef>
                <a:spcPct val="0"/>
              </a:spcBef>
            </a:pPr>
            <a:r>
              <a:rPr lang="en-US" sz="1999" spc="119">
                <a:solidFill>
                  <a:srgbClr val="FFFFFF"/>
                </a:solidFill>
                <a:latin typeface="TT Hoves"/>
                <a:ea typeface="TT Hoves"/>
                <a:cs typeface="TT Hoves"/>
                <a:sym typeface="TT Hoves"/>
              </a:rPr>
              <a:t>Model K-Prototypes berhasil membagi data dengan proporsional — tidak ada cluster yang “</a:t>
            </a:r>
            <a:r>
              <a:rPr lang="en-US" sz="1999" spc="119" strike="noStrike" u="none">
                <a:solidFill>
                  <a:srgbClr val="FFFFFF"/>
                </a:solidFill>
                <a:latin typeface="TT Hoves"/>
                <a:ea typeface="TT Hoves"/>
                <a:cs typeface="TT Hoves"/>
                <a:sym typeface="TT Hoves"/>
              </a:rPr>
              <a:t>menyedot” seba</a:t>
            </a:r>
            <a:r>
              <a:rPr lang="en-US" sz="1999" spc="119" strike="noStrike" u="none">
                <a:solidFill>
                  <a:srgbClr val="FFFFFF"/>
                </a:solidFill>
                <a:latin typeface="TT Hoves"/>
                <a:ea typeface="TT Hoves"/>
                <a:cs typeface="TT Hoves"/>
                <a:sym typeface="TT Hoves"/>
              </a:rPr>
              <a:t>gi</a:t>
            </a:r>
            <a:r>
              <a:rPr lang="en-US" sz="1999" spc="119" strike="noStrike" u="none">
                <a:solidFill>
                  <a:srgbClr val="FFFFFF"/>
                </a:solidFill>
                <a:latin typeface="TT Hoves"/>
                <a:ea typeface="TT Hoves"/>
                <a:cs typeface="TT Hoves"/>
                <a:sym typeface="TT Hoves"/>
              </a:rPr>
              <a:t>a</a:t>
            </a:r>
            <a:r>
              <a:rPr lang="en-US" sz="1999" spc="119" strike="noStrike" u="none">
                <a:solidFill>
                  <a:srgbClr val="FFFFFF"/>
                </a:solidFill>
                <a:latin typeface="TT Hoves"/>
                <a:ea typeface="TT Hoves"/>
                <a:cs typeface="TT Hoves"/>
                <a:sym typeface="TT Hoves"/>
              </a:rPr>
              <a:t>n</a:t>
            </a:r>
            <a:r>
              <a:rPr lang="en-US" sz="1999" spc="119" strike="noStrike" u="none">
                <a:solidFill>
                  <a:srgbClr val="FFFFFF"/>
                </a:solidFill>
                <a:latin typeface="TT Hoves"/>
                <a:ea typeface="TT Hoves"/>
                <a:cs typeface="TT Hoves"/>
                <a:sym typeface="TT Hoves"/>
              </a:rPr>
              <a:t> bes</a:t>
            </a:r>
            <a:r>
              <a:rPr lang="en-US" sz="1999" spc="119" strike="noStrike" u="none">
                <a:solidFill>
                  <a:srgbClr val="FFFFFF"/>
                </a:solidFill>
                <a:latin typeface="TT Hoves"/>
                <a:ea typeface="TT Hoves"/>
                <a:cs typeface="TT Hoves"/>
                <a:sym typeface="TT Hoves"/>
              </a:rPr>
              <a:t>ar</a:t>
            </a:r>
            <a:r>
              <a:rPr lang="en-US" sz="1999" spc="119" strike="noStrike" u="none">
                <a:solidFill>
                  <a:srgbClr val="FFFFFF"/>
                </a:solidFill>
                <a:latin typeface="TT Hoves"/>
                <a:ea typeface="TT Hoves"/>
                <a:cs typeface="TT Hoves"/>
                <a:sym typeface="TT Hoves"/>
              </a:rPr>
              <a:t> data. Seg</a:t>
            </a:r>
            <a:r>
              <a:rPr lang="en-US" sz="1999" spc="119" strike="noStrike" u="none">
                <a:solidFill>
                  <a:srgbClr val="FFFFFF"/>
                </a:solidFill>
                <a:latin typeface="TT Hoves"/>
                <a:ea typeface="TT Hoves"/>
                <a:cs typeface="TT Hoves"/>
                <a:sym typeface="TT Hoves"/>
              </a:rPr>
              <a:t>m</a:t>
            </a:r>
            <a:r>
              <a:rPr lang="en-US" sz="1999" spc="119" strike="noStrike" u="none">
                <a:solidFill>
                  <a:srgbClr val="FFFFFF"/>
                </a:solidFill>
                <a:latin typeface="TT Hoves"/>
                <a:ea typeface="TT Hoves"/>
                <a:cs typeface="TT Hoves"/>
                <a:sym typeface="TT Hoves"/>
              </a:rPr>
              <a:t>entasi </a:t>
            </a:r>
            <a:r>
              <a:rPr lang="en-US" sz="1999" spc="119" strike="noStrike" u="none">
                <a:solidFill>
                  <a:srgbClr val="FFFFFF"/>
                </a:solidFill>
                <a:latin typeface="TT Hoves"/>
                <a:ea typeface="TT Hoves"/>
                <a:cs typeface="TT Hoves"/>
                <a:sym typeface="TT Hoves"/>
              </a:rPr>
              <a:t>y</a:t>
            </a:r>
            <a:r>
              <a:rPr lang="en-US" sz="1999" spc="119" strike="noStrike" u="none">
                <a:solidFill>
                  <a:srgbClr val="FFFFFF"/>
                </a:solidFill>
                <a:latin typeface="TT Hoves"/>
                <a:ea typeface="TT Hoves"/>
                <a:cs typeface="TT Hoves"/>
                <a:sym typeface="TT Hoves"/>
              </a:rPr>
              <a:t>an</a:t>
            </a:r>
            <a:r>
              <a:rPr lang="en-US" sz="1999" spc="119" strike="noStrike" u="none">
                <a:solidFill>
                  <a:srgbClr val="FFFFFF"/>
                </a:solidFill>
                <a:latin typeface="TT Hoves"/>
                <a:ea typeface="TT Hoves"/>
                <a:cs typeface="TT Hoves"/>
                <a:sym typeface="TT Hoves"/>
              </a:rPr>
              <a:t>g dibu</a:t>
            </a:r>
            <a:r>
              <a:rPr lang="en-US" sz="1999" spc="119" strike="noStrike" u="none">
                <a:solidFill>
                  <a:srgbClr val="FFFFFF"/>
                </a:solidFill>
                <a:latin typeface="TT Hoves"/>
                <a:ea typeface="TT Hoves"/>
                <a:cs typeface="TT Hoves"/>
                <a:sym typeface="TT Hoves"/>
              </a:rPr>
              <a:t>a</a:t>
            </a:r>
            <a:r>
              <a:rPr lang="en-US" sz="1999" spc="119" strike="noStrike" u="none">
                <a:solidFill>
                  <a:srgbClr val="FFFFFF"/>
                </a:solidFill>
                <a:latin typeface="TT Hoves"/>
                <a:ea typeface="TT Hoves"/>
                <a:cs typeface="TT Hoves"/>
                <a:sym typeface="TT Hoves"/>
              </a:rPr>
              <a:t>t cukup</a:t>
            </a:r>
            <a:r>
              <a:rPr lang="en-US" sz="1999" spc="119" strike="noStrike" u="none">
                <a:solidFill>
                  <a:srgbClr val="FFFFFF"/>
                </a:solidFill>
                <a:latin typeface="TT Hoves"/>
                <a:ea typeface="TT Hoves"/>
                <a:cs typeface="TT Hoves"/>
                <a:sym typeface="TT Hoves"/>
              </a:rPr>
              <a:t> stabil dan representatif, artinya model klaster mampu menangkap pola perilaku pengguna secara konsisten.</a:t>
            </a:r>
          </a:p>
          <a:p>
            <a:pPr algn="just" marL="0" indent="0" lvl="0">
              <a:lnSpc>
                <a:spcPts val="2699"/>
              </a:lnSpc>
              <a:spcBef>
                <a:spcPct val="0"/>
              </a:spcBef>
            </a:pPr>
          </a:p>
          <a:p>
            <a:pPr algn="just" marL="0" indent="0" lvl="0">
              <a:lnSpc>
                <a:spcPts val="2699"/>
              </a:lnSpc>
              <a:spcBef>
                <a:spcPct val="0"/>
              </a:spcBef>
            </a:pPr>
            <a:r>
              <a:rPr lang="en-US" sz="1999" spc="119" strike="noStrike" u="none">
                <a:solidFill>
                  <a:srgbClr val="FFFFFF"/>
                </a:solidFill>
                <a:latin typeface="TT Hoves"/>
                <a:ea typeface="TT Hoves"/>
                <a:cs typeface="TT Hoves"/>
                <a:sym typeface="TT Hoves"/>
              </a:rPr>
              <a:t>Klaster  Selective Premium Listener, Student Active Streamer &amp;  Loyal Premium Enthusiast  memiliki jumlah pengguna terbanyak, menandakan kelompok ini adalah segmen utama pengguna Spotify, yang sebaiknya menjadi fokus strategi retensi dan personalisasi promosi.</a:t>
            </a:r>
          </a:p>
          <a:p>
            <a:pPr algn="just" marL="0" indent="0" lvl="0">
              <a:lnSpc>
                <a:spcPts val="2699"/>
              </a:lnSpc>
              <a:spcBef>
                <a:spcPct val="0"/>
              </a:spcBef>
            </a:pPr>
          </a:p>
          <a:p>
            <a:pPr algn="just" marL="0" indent="0" lvl="0">
              <a:lnSpc>
                <a:spcPts val="2699"/>
              </a:lnSpc>
              <a:spcBef>
                <a:spcPct val="0"/>
              </a:spcBef>
            </a:pPr>
            <a:r>
              <a:rPr lang="en-US" sz="1999" spc="119" strike="noStrike" u="none">
                <a:solidFill>
                  <a:srgbClr val="FFFFFF"/>
                </a:solidFill>
                <a:latin typeface="TT Hoves"/>
                <a:ea typeface="TT Hoves"/>
                <a:cs typeface="TT Hoves"/>
                <a:sym typeface="TT Hoves"/>
              </a:rPr>
              <a:t>Klaster Free Casual Listener dan Ad-Heavy Mobile User jumlahnya relatif lebih kecil, bisa jadi ini segmen pengguna khusus (misalnya pengguna baru, pasif, atau churn-prone) yang memerlukan pendekatan promosi berbeda.</a:t>
            </a:r>
          </a:p>
          <a:p>
            <a:pPr algn="just" marL="0" indent="0" lvl="0">
              <a:lnSpc>
                <a:spcPts val="2699"/>
              </a:lnSpc>
              <a:spcBef>
                <a:spcPct val="0"/>
              </a:spcBef>
            </a:pPr>
          </a:p>
        </p:txBody>
      </p:sp>
      <p:sp>
        <p:nvSpPr>
          <p:cNvPr name="TextBox 8" id="8"/>
          <p:cNvSpPr txBox="true"/>
          <p:nvPr/>
        </p:nvSpPr>
        <p:spPr>
          <a:xfrm rot="0">
            <a:off x="12834747" y="6972898"/>
            <a:ext cx="6265091" cy="4832876"/>
          </a:xfrm>
          <a:prstGeom prst="rect">
            <a:avLst/>
          </a:prstGeom>
        </p:spPr>
        <p:txBody>
          <a:bodyPr anchor="t" rtlCol="false" tIns="0" lIns="0" bIns="0" rIns="0">
            <a:spAutoFit/>
          </a:bodyPr>
          <a:lstStyle/>
          <a:p>
            <a:pPr algn="ctr">
              <a:lnSpc>
                <a:spcPts val="35614"/>
              </a:lnSpc>
            </a:pPr>
            <a:r>
              <a:rPr lang="en-US" b="true" sz="37888" spc="-1856">
                <a:solidFill>
                  <a:srgbClr val="EFEFEF"/>
                </a:solidFill>
                <a:latin typeface="TT Hoves Bold"/>
                <a:ea typeface="TT Hoves Bold"/>
                <a:cs typeface="TT Hoves Bold"/>
                <a:sym typeface="TT Hoves Bold"/>
              </a:rPr>
              <a:t>18</a:t>
            </a:r>
          </a:p>
        </p:txBody>
      </p:sp>
      <p:sp>
        <p:nvSpPr>
          <p:cNvPr name="TextBox 9" id="9"/>
          <p:cNvSpPr txBox="true"/>
          <p:nvPr/>
        </p:nvSpPr>
        <p:spPr>
          <a:xfrm rot="0">
            <a:off x="0" y="1104900"/>
            <a:ext cx="11463891" cy="1291590"/>
          </a:xfrm>
          <a:prstGeom prst="rect">
            <a:avLst/>
          </a:prstGeom>
        </p:spPr>
        <p:txBody>
          <a:bodyPr anchor="t" rtlCol="false" tIns="0" lIns="0" bIns="0" rIns="0">
            <a:spAutoFit/>
          </a:bodyPr>
          <a:lstStyle/>
          <a:p>
            <a:pPr algn="ctr" marL="0" indent="0" lvl="1">
              <a:lnSpc>
                <a:spcPts val="5040"/>
              </a:lnSpc>
              <a:spcBef>
                <a:spcPct val="0"/>
              </a:spcBef>
            </a:pPr>
            <a:r>
              <a:rPr lang="en-US" b="true" sz="4800" spc="-235">
                <a:solidFill>
                  <a:srgbClr val="343434"/>
                </a:solidFill>
                <a:latin typeface="TT Hoves Bold"/>
                <a:ea typeface="TT Hoves Bold"/>
                <a:cs typeface="TT Hoves Bold"/>
                <a:sym typeface="TT Hoves Bold"/>
              </a:rPr>
              <a:t>Distribusi dan </a:t>
            </a:r>
            <a:r>
              <a:rPr lang="en-US" b="true" sz="4800" spc="-235" strike="noStrike" u="none">
                <a:solidFill>
                  <a:srgbClr val="343434"/>
                </a:solidFill>
                <a:latin typeface="TT Hoves Bold"/>
                <a:ea typeface="TT Hoves Bold"/>
                <a:cs typeface="TT Hoves Bold"/>
                <a:sym typeface="TT Hoves Bold"/>
              </a:rPr>
              <a:t>K</a:t>
            </a:r>
            <a:r>
              <a:rPr lang="en-US" b="true" sz="4800" spc="-235" strike="noStrike" u="none">
                <a:solidFill>
                  <a:srgbClr val="343434"/>
                </a:solidFill>
                <a:latin typeface="TT Hoves Bold"/>
                <a:ea typeface="TT Hoves Bold"/>
                <a:cs typeface="TT Hoves Bold"/>
                <a:sym typeface="TT Hoves Bold"/>
              </a:rPr>
              <a:t>arakte</a:t>
            </a:r>
            <a:r>
              <a:rPr lang="en-US" b="true" sz="4800" spc="-235" strike="noStrike" u="none">
                <a:solidFill>
                  <a:srgbClr val="343434"/>
                </a:solidFill>
                <a:latin typeface="TT Hoves Bold"/>
                <a:ea typeface="TT Hoves Bold"/>
                <a:cs typeface="TT Hoves Bold"/>
                <a:sym typeface="TT Hoves Bold"/>
              </a:rPr>
              <a:t>r</a:t>
            </a:r>
            <a:r>
              <a:rPr lang="en-US" b="true" sz="4800" spc="-235" strike="noStrike" u="none">
                <a:solidFill>
                  <a:srgbClr val="343434"/>
                </a:solidFill>
                <a:latin typeface="TT Hoves Bold"/>
                <a:ea typeface="TT Hoves Bold"/>
                <a:cs typeface="TT Hoves Bold"/>
                <a:sym typeface="TT Hoves Bold"/>
              </a:rPr>
              <a:t>is</a:t>
            </a:r>
            <a:r>
              <a:rPr lang="en-US" b="true" sz="4800" spc="-235" strike="noStrike" u="none">
                <a:solidFill>
                  <a:srgbClr val="343434"/>
                </a:solidFill>
                <a:latin typeface="TT Hoves Bold"/>
                <a:ea typeface="TT Hoves Bold"/>
                <a:cs typeface="TT Hoves Bold"/>
                <a:sym typeface="TT Hoves Bold"/>
              </a:rPr>
              <a:t>t</a:t>
            </a:r>
            <a:r>
              <a:rPr lang="en-US" b="true" sz="4800" spc="-235" strike="noStrike" u="none">
                <a:solidFill>
                  <a:srgbClr val="343434"/>
                </a:solidFill>
                <a:latin typeface="TT Hoves Bold"/>
                <a:ea typeface="TT Hoves Bold"/>
                <a:cs typeface="TT Hoves Bold"/>
                <a:sym typeface="TT Hoves Bold"/>
              </a:rPr>
              <a:t>ik Pengguna Sp</a:t>
            </a:r>
            <a:r>
              <a:rPr lang="en-US" b="true" sz="4800" spc="-235" strike="noStrike" u="none">
                <a:solidFill>
                  <a:srgbClr val="343434"/>
                </a:solidFill>
                <a:latin typeface="TT Hoves Bold"/>
                <a:ea typeface="TT Hoves Bold"/>
                <a:cs typeface="TT Hoves Bold"/>
                <a:sym typeface="TT Hoves Bold"/>
              </a:rPr>
              <a:t>ot</a:t>
            </a:r>
            <a:r>
              <a:rPr lang="en-US" b="true" sz="4800" spc="-235" strike="noStrike" u="none">
                <a:solidFill>
                  <a:srgbClr val="343434"/>
                </a:solidFill>
                <a:latin typeface="TT Hoves Bold"/>
                <a:ea typeface="TT Hoves Bold"/>
                <a:cs typeface="TT Hoves Bold"/>
                <a:sym typeface="TT Hoves Bold"/>
              </a:rPr>
              <a:t>if</a:t>
            </a:r>
            <a:r>
              <a:rPr lang="en-US" b="true" sz="4800" spc="-235" strike="noStrike" u="none">
                <a:solidFill>
                  <a:srgbClr val="343434"/>
                </a:solidFill>
                <a:latin typeface="TT Hoves Bold"/>
                <a:ea typeface="TT Hoves Bold"/>
                <a:cs typeface="TT Hoves Bold"/>
                <a:sym typeface="TT Hoves Bold"/>
              </a:rPr>
              <a:t>y</a:t>
            </a:r>
            <a:r>
              <a:rPr lang="en-US" b="true" sz="4800" spc="-235" strike="noStrike" u="none">
                <a:solidFill>
                  <a:srgbClr val="343434"/>
                </a:solidFill>
                <a:latin typeface="TT Hoves Bold"/>
                <a:ea typeface="TT Hoves Bold"/>
                <a:cs typeface="TT Hoves Bold"/>
                <a:sym typeface="TT Hoves Bold"/>
              </a:rPr>
              <a:t> B</a:t>
            </a:r>
            <a:r>
              <a:rPr lang="en-US" b="true" sz="4800" spc="-235" strike="noStrike" u="none">
                <a:solidFill>
                  <a:srgbClr val="343434"/>
                </a:solidFill>
                <a:latin typeface="TT Hoves Bold"/>
                <a:ea typeface="TT Hoves Bold"/>
                <a:cs typeface="TT Hoves Bold"/>
                <a:sym typeface="TT Hoves Bold"/>
              </a:rPr>
              <a:t>e</a:t>
            </a:r>
            <a:r>
              <a:rPr lang="en-US" b="true" sz="4800" spc="-235" strike="noStrike" u="none">
                <a:solidFill>
                  <a:srgbClr val="343434"/>
                </a:solidFill>
                <a:latin typeface="TT Hoves Bold"/>
                <a:ea typeface="TT Hoves Bold"/>
                <a:cs typeface="TT Hoves Bold"/>
                <a:sym typeface="TT Hoves Bold"/>
              </a:rPr>
              <a:t>rdasarkan</a:t>
            </a:r>
            <a:r>
              <a:rPr lang="en-US" b="true" sz="4800" spc="-235" strike="noStrike" u="none">
                <a:solidFill>
                  <a:srgbClr val="343434"/>
                </a:solidFill>
                <a:latin typeface="TT Hoves Bold"/>
                <a:ea typeface="TT Hoves Bold"/>
                <a:cs typeface="TT Hoves Bold"/>
                <a:sym typeface="TT Hoves Bold"/>
              </a:rPr>
              <a:t> </a:t>
            </a:r>
            <a:r>
              <a:rPr lang="en-US" b="true" sz="4800" spc="-235" strike="noStrike" u="none">
                <a:solidFill>
                  <a:srgbClr val="343434"/>
                </a:solidFill>
                <a:latin typeface="TT Hoves Bold"/>
                <a:ea typeface="TT Hoves Bold"/>
                <a:cs typeface="TT Hoves Bold"/>
                <a:sym typeface="TT Hoves Bold"/>
              </a:rPr>
              <a:t>Hasil K</a:t>
            </a:r>
            <a:r>
              <a:rPr lang="en-US" b="true" sz="4800" spc="-235" strike="noStrike" u="none">
                <a:solidFill>
                  <a:srgbClr val="343434"/>
                </a:solidFill>
                <a:latin typeface="TT Hoves Bold"/>
                <a:ea typeface="TT Hoves Bold"/>
                <a:cs typeface="TT Hoves Bold"/>
                <a:sym typeface="TT Hoves Bold"/>
              </a:rPr>
              <a:t>l</a:t>
            </a:r>
            <a:r>
              <a:rPr lang="en-US" b="true" sz="4800" spc="-235" strike="noStrike" u="none">
                <a:solidFill>
                  <a:srgbClr val="343434"/>
                </a:solidFill>
                <a:latin typeface="TT Hoves Bold"/>
                <a:ea typeface="TT Hoves Bold"/>
                <a:cs typeface="TT Hoves Bold"/>
                <a:sym typeface="TT Hoves Bold"/>
              </a:rPr>
              <a:t>a</a:t>
            </a:r>
            <a:r>
              <a:rPr lang="en-US" b="true" sz="4800" spc="-235" strike="noStrike" u="none">
                <a:solidFill>
                  <a:srgbClr val="343434"/>
                </a:solidFill>
                <a:latin typeface="TT Hoves Bold"/>
                <a:ea typeface="TT Hoves Bold"/>
                <a:cs typeface="TT Hoves Bold"/>
                <a:sym typeface="TT Hoves Bold"/>
              </a:rPr>
              <a:t>steri</a:t>
            </a:r>
            <a:r>
              <a:rPr lang="en-US" b="true" sz="4800" spc="-235" strike="noStrike" u="none">
                <a:solidFill>
                  <a:srgbClr val="343434"/>
                </a:solidFill>
                <a:latin typeface="TT Hoves Bold"/>
                <a:ea typeface="TT Hoves Bold"/>
                <a:cs typeface="TT Hoves Bold"/>
                <a:sym typeface="TT Hoves Bold"/>
              </a:rPr>
              <a:t>sasi</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03228" y="2265045"/>
            <a:ext cx="13935782" cy="13935782"/>
          </a:xfrm>
          <a:custGeom>
            <a:avLst/>
            <a:gdLst/>
            <a:ahLst/>
            <a:cxnLst/>
            <a:rect r="r" b="b" t="t" l="l"/>
            <a:pathLst>
              <a:path h="13935782" w="13935782">
                <a:moveTo>
                  <a:pt x="0" y="0"/>
                </a:moveTo>
                <a:lnTo>
                  <a:pt x="13935782" y="0"/>
                </a:lnTo>
                <a:lnTo>
                  <a:pt x="13935782" y="13935782"/>
                </a:lnTo>
                <a:lnTo>
                  <a:pt x="0" y="13935782"/>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3228" y="0"/>
            <a:ext cx="4432969" cy="4095285"/>
            <a:chOff x="0" y="0"/>
            <a:chExt cx="1167531" cy="1078594"/>
          </a:xfrm>
        </p:grpSpPr>
        <p:sp>
          <p:nvSpPr>
            <p:cNvPr name="Freeform 4" id="4"/>
            <p:cNvSpPr/>
            <p:nvPr/>
          </p:nvSpPr>
          <p:spPr>
            <a:xfrm flipH="false" flipV="false" rot="0">
              <a:off x="0" y="0"/>
              <a:ext cx="1167531" cy="1078594"/>
            </a:xfrm>
            <a:custGeom>
              <a:avLst/>
              <a:gdLst/>
              <a:ahLst/>
              <a:cxnLst/>
              <a:rect r="r" b="b" t="t" l="l"/>
              <a:pathLst>
                <a:path h="1078594" w="1167531">
                  <a:moveTo>
                    <a:pt x="0" y="0"/>
                  </a:moveTo>
                  <a:lnTo>
                    <a:pt x="1167531" y="0"/>
                  </a:lnTo>
                  <a:lnTo>
                    <a:pt x="1167531" y="1078594"/>
                  </a:lnTo>
                  <a:lnTo>
                    <a:pt x="0" y="1078594"/>
                  </a:lnTo>
                  <a:close/>
                </a:path>
              </a:pathLst>
            </a:custGeom>
            <a:solidFill>
              <a:srgbClr val="0003FF"/>
            </a:solidFill>
          </p:spPr>
        </p:sp>
        <p:sp>
          <p:nvSpPr>
            <p:cNvPr name="TextBox 5" id="5"/>
            <p:cNvSpPr txBox="true"/>
            <p:nvPr/>
          </p:nvSpPr>
          <p:spPr>
            <a:xfrm>
              <a:off x="0" y="-57150"/>
              <a:ext cx="1167531" cy="1135744"/>
            </a:xfrm>
            <a:prstGeom prst="rect">
              <a:avLst/>
            </a:prstGeom>
          </p:spPr>
          <p:txBody>
            <a:bodyPr anchor="ctr" rtlCol="false" tIns="50800" lIns="50800" bIns="50800" rIns="50800"/>
            <a:lstStyle/>
            <a:p>
              <a:pPr algn="ctr">
                <a:lnSpc>
                  <a:spcPts val="3639"/>
                </a:lnSpc>
              </a:pPr>
            </a:p>
          </p:txBody>
        </p:sp>
      </p:grpSp>
      <p:graphicFrame>
        <p:nvGraphicFramePr>
          <p:cNvPr name="Object 6" id="6"/>
          <p:cNvGraphicFramePr/>
          <p:nvPr/>
        </p:nvGraphicFramePr>
        <p:xfrm>
          <a:off x="4558742" y="1533868"/>
          <a:ext cx="11315700" cy="5029200"/>
        </p:xfrm>
        <a:graphic>
          <a:graphicData uri="http://schemas.openxmlformats.org/presentationml/2006/ole">
            <p:oleObj imgW="13576300" imgH="72898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7" id="7"/>
          <p:cNvSpPr txBox="true"/>
          <p:nvPr/>
        </p:nvSpPr>
        <p:spPr>
          <a:xfrm rot="0">
            <a:off x="7356950" y="95467"/>
            <a:ext cx="8545532" cy="735076"/>
          </a:xfrm>
          <a:prstGeom prst="rect">
            <a:avLst/>
          </a:prstGeom>
        </p:spPr>
        <p:txBody>
          <a:bodyPr anchor="t" rtlCol="false" tIns="0" lIns="0" bIns="0" rIns="0">
            <a:spAutoFit/>
          </a:bodyPr>
          <a:lstStyle/>
          <a:p>
            <a:pPr algn="ctr">
              <a:lnSpc>
                <a:spcPts val="5432"/>
              </a:lnSpc>
            </a:pPr>
            <a:r>
              <a:rPr lang="en-US" b="true" sz="5600" spc="-268">
                <a:solidFill>
                  <a:srgbClr val="000000"/>
                </a:solidFill>
                <a:latin typeface="TT Hoves Bold"/>
                <a:ea typeface="TT Hoves Bold"/>
                <a:cs typeface="TT Hoves Bold"/>
                <a:sym typeface="TT Hoves Bold"/>
              </a:rPr>
              <a:t>Karakteristik tiap Kluster</a:t>
            </a:r>
          </a:p>
        </p:txBody>
      </p:sp>
      <p:sp>
        <p:nvSpPr>
          <p:cNvPr name="TextBox 8" id="8"/>
          <p:cNvSpPr txBox="true"/>
          <p:nvPr/>
        </p:nvSpPr>
        <p:spPr>
          <a:xfrm rot="0">
            <a:off x="-1243184" y="-123320"/>
            <a:ext cx="6265091" cy="4832876"/>
          </a:xfrm>
          <a:prstGeom prst="rect">
            <a:avLst/>
          </a:prstGeom>
        </p:spPr>
        <p:txBody>
          <a:bodyPr anchor="t" rtlCol="false" tIns="0" lIns="0" bIns="0" rIns="0">
            <a:spAutoFit/>
          </a:bodyPr>
          <a:lstStyle/>
          <a:p>
            <a:pPr algn="ctr">
              <a:lnSpc>
                <a:spcPts val="35614"/>
              </a:lnSpc>
            </a:pPr>
            <a:r>
              <a:rPr lang="en-US" b="true" sz="37888" spc="-1856">
                <a:solidFill>
                  <a:srgbClr val="EFEFEF"/>
                </a:solidFill>
                <a:latin typeface="TT Hoves Bold"/>
                <a:ea typeface="TT Hoves Bold"/>
                <a:cs typeface="TT Hoves Bold"/>
                <a:sym typeface="TT Hoves Bold"/>
              </a:rPr>
              <a:t>19</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7358519" y="2050367"/>
            <a:ext cx="3962855" cy="816864"/>
          </a:xfrm>
          <a:prstGeom prst="rect">
            <a:avLst/>
          </a:prstGeom>
        </p:spPr>
        <p:txBody>
          <a:bodyPr anchor="t" rtlCol="false" tIns="0" lIns="0" bIns="0" rIns="0">
            <a:spAutoFit/>
          </a:bodyPr>
          <a:lstStyle/>
          <a:p>
            <a:pPr algn="just">
              <a:lnSpc>
                <a:spcPts val="2162"/>
              </a:lnSpc>
            </a:pPr>
            <a:r>
              <a:rPr lang="en-US" b="true" sz="2099">
                <a:solidFill>
                  <a:srgbClr val="343434"/>
                </a:solidFill>
                <a:latin typeface="TT Hoves Bold"/>
                <a:ea typeface="TT Hoves Bold"/>
                <a:cs typeface="TT Hoves Bold"/>
                <a:sym typeface="TT Hoves Bold"/>
              </a:rPr>
              <a:t>Cluster Selective Premium Listener &amp; Student Active Streamer </a:t>
            </a:r>
          </a:p>
        </p:txBody>
      </p:sp>
      <p:sp>
        <p:nvSpPr>
          <p:cNvPr name="TextBox 3" id="3"/>
          <p:cNvSpPr txBox="true"/>
          <p:nvPr/>
        </p:nvSpPr>
        <p:spPr>
          <a:xfrm rot="0">
            <a:off x="7358519" y="5625513"/>
            <a:ext cx="3962855" cy="816864"/>
          </a:xfrm>
          <a:prstGeom prst="rect">
            <a:avLst/>
          </a:prstGeom>
        </p:spPr>
        <p:txBody>
          <a:bodyPr anchor="t" rtlCol="false" tIns="0" lIns="0" bIns="0" rIns="0">
            <a:spAutoFit/>
          </a:bodyPr>
          <a:lstStyle/>
          <a:p>
            <a:pPr algn="just" marL="0" indent="0" lvl="0">
              <a:lnSpc>
                <a:spcPts val="2162"/>
              </a:lnSpc>
              <a:spcBef>
                <a:spcPct val="0"/>
              </a:spcBef>
            </a:pPr>
            <a:r>
              <a:rPr lang="en-US" b="true" sz="2099" strike="noStrike" u="none">
                <a:solidFill>
                  <a:srgbClr val="343434"/>
                </a:solidFill>
                <a:latin typeface="TT Hoves Bold"/>
                <a:ea typeface="TT Hoves Bold"/>
                <a:cs typeface="TT Hoves Bold"/>
                <a:sym typeface="TT Hoves Bold"/>
              </a:rPr>
              <a:t>Cluster Loyal Premium User, </a:t>
            </a:r>
            <a:r>
              <a:rPr lang="en-US" b="true" sz="2099" strike="noStrike" u="none">
                <a:solidFill>
                  <a:srgbClr val="343434"/>
                </a:solidFill>
                <a:latin typeface="TT Hoves Bold"/>
                <a:ea typeface="TT Hoves Bold"/>
                <a:cs typeface="TT Hoves Bold"/>
                <a:sym typeface="TT Hoves Bold"/>
              </a:rPr>
              <a:t>Premium Power Listener &amp; Loyal Premium Enthusiast</a:t>
            </a:r>
          </a:p>
        </p:txBody>
      </p:sp>
      <p:sp>
        <p:nvSpPr>
          <p:cNvPr name="TextBox 4" id="4"/>
          <p:cNvSpPr txBox="true"/>
          <p:nvPr/>
        </p:nvSpPr>
        <p:spPr>
          <a:xfrm rot="0">
            <a:off x="7358519" y="2910792"/>
            <a:ext cx="3962855" cy="2028063"/>
          </a:xfrm>
          <a:prstGeom prst="rect">
            <a:avLst/>
          </a:prstGeom>
        </p:spPr>
        <p:txBody>
          <a:bodyPr anchor="t" rtlCol="false" tIns="0" lIns="0" bIns="0" rIns="0">
            <a:spAutoFit/>
          </a:bodyPr>
          <a:lstStyle/>
          <a:p>
            <a:pPr algn="just">
              <a:lnSpc>
                <a:spcPts val="3276"/>
              </a:lnSpc>
            </a:pPr>
            <a:r>
              <a:rPr lang="en-US" sz="2100">
                <a:solidFill>
                  <a:srgbClr val="343434"/>
                </a:solidFill>
                <a:latin typeface="TT Hoves"/>
                <a:ea typeface="TT Hoves"/>
                <a:cs typeface="TT Hoves"/>
                <a:sym typeface="TT Hoves"/>
              </a:rPr>
              <a:t>Prioritas utama retensi (risiko churn tinggi). Fokus pada peningkatan user satisfaction (survey skip rate tinggi) dan  rekomendasi playlist relevan.</a:t>
            </a:r>
          </a:p>
        </p:txBody>
      </p:sp>
      <p:sp>
        <p:nvSpPr>
          <p:cNvPr name="TextBox 5" id="5"/>
          <p:cNvSpPr txBox="true"/>
          <p:nvPr/>
        </p:nvSpPr>
        <p:spPr>
          <a:xfrm rot="0">
            <a:off x="7358519" y="6485938"/>
            <a:ext cx="3962855" cy="1208913"/>
          </a:xfrm>
          <a:prstGeom prst="rect">
            <a:avLst/>
          </a:prstGeom>
        </p:spPr>
        <p:txBody>
          <a:bodyPr anchor="t" rtlCol="false" tIns="0" lIns="0" bIns="0" rIns="0">
            <a:spAutoFit/>
          </a:bodyPr>
          <a:lstStyle/>
          <a:p>
            <a:pPr algn="just" marL="0" indent="0" lvl="0">
              <a:lnSpc>
                <a:spcPts val="3276"/>
              </a:lnSpc>
              <a:spcBef>
                <a:spcPct val="0"/>
              </a:spcBef>
            </a:pPr>
            <a:r>
              <a:rPr lang="en-US" sz="2100">
                <a:solidFill>
                  <a:srgbClr val="343434"/>
                </a:solidFill>
                <a:latin typeface="TT Hoves"/>
                <a:ea typeface="TT Hoves"/>
                <a:cs typeface="TT Hoves"/>
                <a:sym typeface="TT Hoves"/>
              </a:rPr>
              <a:t>P</a:t>
            </a:r>
            <a:r>
              <a:rPr lang="en-US" sz="2100" strike="noStrike" u="none">
                <a:solidFill>
                  <a:srgbClr val="343434"/>
                </a:solidFill>
                <a:latin typeface="TT Hoves"/>
                <a:ea typeface="TT Hoves"/>
                <a:cs typeface="TT Hoves"/>
                <a:sym typeface="TT Hoves"/>
              </a:rPr>
              <a:t>en</a:t>
            </a:r>
            <a:r>
              <a:rPr lang="en-US" sz="2100" strike="noStrike" u="none">
                <a:solidFill>
                  <a:srgbClr val="343434"/>
                </a:solidFill>
                <a:latin typeface="TT Hoves"/>
                <a:ea typeface="TT Hoves"/>
                <a:cs typeface="TT Hoves"/>
                <a:sym typeface="TT Hoves"/>
              </a:rPr>
              <a:t>gg</a:t>
            </a:r>
            <a:r>
              <a:rPr lang="en-US" sz="2100" strike="noStrike" u="none">
                <a:solidFill>
                  <a:srgbClr val="343434"/>
                </a:solidFill>
                <a:latin typeface="TT Hoves"/>
                <a:ea typeface="TT Hoves"/>
                <a:cs typeface="TT Hoves"/>
                <a:sym typeface="TT Hoves"/>
              </a:rPr>
              <a:t>u</a:t>
            </a:r>
            <a:r>
              <a:rPr lang="en-US" sz="2100" strike="noStrike" u="none">
                <a:solidFill>
                  <a:srgbClr val="343434"/>
                </a:solidFill>
                <a:latin typeface="TT Hoves"/>
                <a:ea typeface="TT Hoves"/>
                <a:cs typeface="TT Hoves"/>
                <a:sym typeface="TT Hoves"/>
              </a:rPr>
              <a:t>n</a:t>
            </a:r>
            <a:r>
              <a:rPr lang="en-US" sz="2100" strike="noStrike" u="none">
                <a:solidFill>
                  <a:srgbClr val="343434"/>
                </a:solidFill>
                <a:latin typeface="TT Hoves"/>
                <a:ea typeface="TT Hoves"/>
                <a:cs typeface="TT Hoves"/>
                <a:sym typeface="TT Hoves"/>
              </a:rPr>
              <a:t>a</a:t>
            </a:r>
            <a:r>
              <a:rPr lang="en-US" sz="2100" strike="noStrike" u="none">
                <a:solidFill>
                  <a:srgbClr val="343434"/>
                </a:solidFill>
                <a:latin typeface="TT Hoves"/>
                <a:ea typeface="TT Hoves"/>
                <a:cs typeface="TT Hoves"/>
                <a:sym typeface="TT Hoves"/>
              </a:rPr>
              <a:t> </a:t>
            </a:r>
            <a:r>
              <a:rPr lang="en-US" sz="2100" strike="noStrike" u="none">
                <a:solidFill>
                  <a:srgbClr val="343434"/>
                </a:solidFill>
                <a:latin typeface="TT Hoves"/>
                <a:ea typeface="TT Hoves"/>
                <a:cs typeface="TT Hoves"/>
                <a:sym typeface="TT Hoves"/>
              </a:rPr>
              <a:t>p</a:t>
            </a:r>
            <a:r>
              <a:rPr lang="en-US" sz="2100" strike="noStrike" u="none">
                <a:solidFill>
                  <a:srgbClr val="343434"/>
                </a:solidFill>
                <a:latin typeface="TT Hoves"/>
                <a:ea typeface="TT Hoves"/>
                <a:cs typeface="TT Hoves"/>
                <a:sym typeface="TT Hoves"/>
              </a:rPr>
              <a:t>al</a:t>
            </a:r>
            <a:r>
              <a:rPr lang="en-US" sz="2100" strike="noStrike" u="none">
                <a:solidFill>
                  <a:srgbClr val="343434"/>
                </a:solidFill>
                <a:latin typeface="TT Hoves"/>
                <a:ea typeface="TT Hoves"/>
                <a:cs typeface="TT Hoves"/>
                <a:sym typeface="TT Hoves"/>
              </a:rPr>
              <a:t>ing lo</a:t>
            </a:r>
            <a:r>
              <a:rPr lang="en-US" sz="2100" strike="noStrike" u="none">
                <a:solidFill>
                  <a:srgbClr val="343434"/>
                </a:solidFill>
                <a:latin typeface="TT Hoves"/>
                <a:ea typeface="TT Hoves"/>
                <a:cs typeface="TT Hoves"/>
                <a:sym typeface="TT Hoves"/>
              </a:rPr>
              <a:t>yal</a:t>
            </a:r>
            <a:r>
              <a:rPr lang="en-US" sz="2100" strike="noStrike" u="none">
                <a:solidFill>
                  <a:srgbClr val="343434"/>
                </a:solidFill>
                <a:latin typeface="TT Hoves"/>
                <a:ea typeface="TT Hoves"/>
                <a:cs typeface="TT Hoves"/>
                <a:sym typeface="TT Hoves"/>
              </a:rPr>
              <a:t> </a:t>
            </a:r>
            <a:r>
              <a:rPr lang="en-US" sz="2100" strike="noStrike" u="none">
                <a:solidFill>
                  <a:srgbClr val="343434"/>
                </a:solidFill>
                <a:latin typeface="TT Hoves"/>
                <a:ea typeface="TT Hoves"/>
                <a:cs typeface="TT Hoves"/>
                <a:sym typeface="TT Hoves"/>
              </a:rPr>
              <a:t>→</a:t>
            </a:r>
            <a:r>
              <a:rPr lang="en-US" sz="2100" strike="noStrike" u="none">
                <a:solidFill>
                  <a:srgbClr val="343434"/>
                </a:solidFill>
                <a:latin typeface="TT Hoves"/>
                <a:ea typeface="TT Hoves"/>
                <a:cs typeface="TT Hoves"/>
                <a:sym typeface="TT Hoves"/>
              </a:rPr>
              <a:t> </a:t>
            </a:r>
            <a:r>
              <a:rPr lang="en-US" sz="2100" strike="noStrike" u="none">
                <a:solidFill>
                  <a:srgbClr val="343434"/>
                </a:solidFill>
                <a:latin typeface="TT Hoves"/>
                <a:ea typeface="TT Hoves"/>
                <a:cs typeface="TT Hoves"/>
                <a:sym typeface="TT Hoves"/>
              </a:rPr>
              <a:t>c</a:t>
            </a:r>
            <a:r>
              <a:rPr lang="en-US" sz="2100" strike="noStrike" u="none">
                <a:solidFill>
                  <a:srgbClr val="343434"/>
                </a:solidFill>
                <a:latin typeface="TT Hoves"/>
                <a:ea typeface="TT Hoves"/>
                <a:cs typeface="TT Hoves"/>
                <a:sym typeface="TT Hoves"/>
              </a:rPr>
              <a:t>oc</a:t>
            </a:r>
            <a:r>
              <a:rPr lang="en-US" sz="2100" strike="noStrike" u="none">
                <a:solidFill>
                  <a:srgbClr val="343434"/>
                </a:solidFill>
                <a:latin typeface="TT Hoves"/>
                <a:ea typeface="TT Hoves"/>
                <a:cs typeface="TT Hoves"/>
                <a:sym typeface="TT Hoves"/>
              </a:rPr>
              <a:t>ok </a:t>
            </a:r>
            <a:r>
              <a:rPr lang="en-US" sz="2100" strike="noStrike" u="none">
                <a:solidFill>
                  <a:srgbClr val="343434"/>
                </a:solidFill>
                <a:latin typeface="TT Hoves"/>
                <a:ea typeface="TT Hoves"/>
                <a:cs typeface="TT Hoves"/>
                <a:sym typeface="TT Hoves"/>
              </a:rPr>
              <a:t>untu</a:t>
            </a:r>
            <a:r>
              <a:rPr lang="en-US" sz="2100" strike="noStrike" u="none">
                <a:solidFill>
                  <a:srgbClr val="343434"/>
                </a:solidFill>
                <a:latin typeface="TT Hoves"/>
                <a:ea typeface="TT Hoves"/>
                <a:cs typeface="TT Hoves"/>
                <a:sym typeface="TT Hoves"/>
              </a:rPr>
              <a:t>k</a:t>
            </a:r>
            <a:r>
              <a:rPr lang="en-US" sz="2100" strike="noStrike" u="none">
                <a:solidFill>
                  <a:srgbClr val="343434"/>
                </a:solidFill>
                <a:latin typeface="TT Hoves"/>
                <a:ea typeface="TT Hoves"/>
                <a:cs typeface="TT Hoves"/>
                <a:sym typeface="TT Hoves"/>
              </a:rPr>
              <a:t> bran</a:t>
            </a:r>
            <a:r>
              <a:rPr lang="en-US" sz="2100" strike="noStrike" u="none">
                <a:solidFill>
                  <a:srgbClr val="343434"/>
                </a:solidFill>
                <a:latin typeface="TT Hoves"/>
                <a:ea typeface="TT Hoves"/>
                <a:cs typeface="TT Hoves"/>
                <a:sym typeface="TT Hoves"/>
              </a:rPr>
              <a:t>d</a:t>
            </a:r>
            <a:r>
              <a:rPr lang="en-US" sz="2100" strike="noStrike" u="none">
                <a:solidFill>
                  <a:srgbClr val="343434"/>
                </a:solidFill>
                <a:latin typeface="TT Hoves"/>
                <a:ea typeface="TT Hoves"/>
                <a:cs typeface="TT Hoves"/>
                <a:sym typeface="TT Hoves"/>
              </a:rPr>
              <a:t> a</a:t>
            </a:r>
            <a:r>
              <a:rPr lang="en-US" sz="2100" strike="noStrike" u="none">
                <a:solidFill>
                  <a:srgbClr val="343434"/>
                </a:solidFill>
                <a:latin typeface="TT Hoves"/>
                <a:ea typeface="TT Hoves"/>
                <a:cs typeface="TT Hoves"/>
                <a:sym typeface="TT Hoves"/>
              </a:rPr>
              <a:t>dvoc</a:t>
            </a:r>
            <a:r>
              <a:rPr lang="en-US" sz="2100" strike="noStrike" u="none">
                <a:solidFill>
                  <a:srgbClr val="343434"/>
                </a:solidFill>
                <a:latin typeface="TT Hoves"/>
                <a:ea typeface="TT Hoves"/>
                <a:cs typeface="TT Hoves"/>
                <a:sym typeface="TT Hoves"/>
              </a:rPr>
              <a:t>a</a:t>
            </a:r>
            <a:r>
              <a:rPr lang="en-US" sz="2100" strike="noStrike" u="none">
                <a:solidFill>
                  <a:srgbClr val="343434"/>
                </a:solidFill>
                <a:latin typeface="TT Hoves"/>
                <a:ea typeface="TT Hoves"/>
                <a:cs typeface="TT Hoves"/>
                <a:sym typeface="TT Hoves"/>
              </a:rPr>
              <a:t>cy</a:t>
            </a:r>
            <a:r>
              <a:rPr lang="en-US" sz="2100" strike="noStrike" u="none">
                <a:solidFill>
                  <a:srgbClr val="343434"/>
                </a:solidFill>
                <a:latin typeface="TT Hoves"/>
                <a:ea typeface="TT Hoves"/>
                <a:cs typeface="TT Hoves"/>
                <a:sym typeface="TT Hoves"/>
              </a:rPr>
              <a:t> </a:t>
            </a:r>
            <a:r>
              <a:rPr lang="en-US" sz="2100" strike="noStrike" u="none">
                <a:solidFill>
                  <a:srgbClr val="343434"/>
                </a:solidFill>
                <a:latin typeface="TT Hoves"/>
                <a:ea typeface="TT Hoves"/>
                <a:cs typeface="TT Hoves"/>
                <a:sym typeface="TT Hoves"/>
              </a:rPr>
              <a:t>&amp;</a:t>
            </a:r>
            <a:r>
              <a:rPr lang="en-US" sz="2100" strike="noStrike" u="none">
                <a:solidFill>
                  <a:srgbClr val="343434"/>
                </a:solidFill>
                <a:latin typeface="TT Hoves"/>
                <a:ea typeface="TT Hoves"/>
                <a:cs typeface="TT Hoves"/>
                <a:sym typeface="TT Hoves"/>
              </a:rPr>
              <a:t> </a:t>
            </a:r>
            <a:r>
              <a:rPr lang="en-US" sz="2100" strike="noStrike" u="none">
                <a:solidFill>
                  <a:srgbClr val="343434"/>
                </a:solidFill>
                <a:latin typeface="TT Hoves"/>
                <a:ea typeface="TT Hoves"/>
                <a:cs typeface="TT Hoves"/>
                <a:sym typeface="TT Hoves"/>
              </a:rPr>
              <a:t>progr</a:t>
            </a:r>
            <a:r>
              <a:rPr lang="en-US" sz="2100" strike="noStrike" u="none">
                <a:solidFill>
                  <a:srgbClr val="343434"/>
                </a:solidFill>
                <a:latin typeface="TT Hoves"/>
                <a:ea typeface="TT Hoves"/>
                <a:cs typeface="TT Hoves"/>
                <a:sym typeface="TT Hoves"/>
              </a:rPr>
              <a:t>am loyalty &amp; </a:t>
            </a:r>
            <a:r>
              <a:rPr lang="en-US" sz="2100" strike="noStrike" u="none">
                <a:solidFill>
                  <a:srgbClr val="343434"/>
                </a:solidFill>
                <a:latin typeface="TT Hoves"/>
                <a:ea typeface="TT Hoves"/>
                <a:cs typeface="TT Hoves"/>
                <a:sym typeface="TT Hoves"/>
              </a:rPr>
              <a:t>r</a:t>
            </a:r>
            <a:r>
              <a:rPr lang="en-US" sz="2100" strike="noStrike" u="none">
                <a:solidFill>
                  <a:srgbClr val="343434"/>
                </a:solidFill>
                <a:latin typeface="TT Hoves"/>
                <a:ea typeface="TT Hoves"/>
                <a:cs typeface="TT Hoves"/>
                <a:sym typeface="TT Hoves"/>
              </a:rPr>
              <a:t>e</a:t>
            </a:r>
            <a:r>
              <a:rPr lang="en-US" sz="2100" strike="noStrike" u="none">
                <a:solidFill>
                  <a:srgbClr val="343434"/>
                </a:solidFill>
                <a:latin typeface="TT Hoves"/>
                <a:ea typeface="TT Hoves"/>
                <a:cs typeface="TT Hoves"/>
                <a:sym typeface="TT Hoves"/>
              </a:rPr>
              <a:t>ferr</a:t>
            </a:r>
            <a:r>
              <a:rPr lang="en-US" sz="2100" strike="noStrike" u="none">
                <a:solidFill>
                  <a:srgbClr val="343434"/>
                </a:solidFill>
                <a:latin typeface="TT Hoves"/>
                <a:ea typeface="TT Hoves"/>
                <a:cs typeface="TT Hoves"/>
                <a:sym typeface="TT Hoves"/>
              </a:rPr>
              <a:t>a</a:t>
            </a:r>
            <a:r>
              <a:rPr lang="en-US" sz="2100" strike="noStrike" u="none">
                <a:solidFill>
                  <a:srgbClr val="343434"/>
                </a:solidFill>
                <a:latin typeface="TT Hoves"/>
                <a:ea typeface="TT Hoves"/>
                <a:cs typeface="TT Hoves"/>
                <a:sym typeface="TT Hoves"/>
              </a:rPr>
              <a:t>l</a:t>
            </a:r>
            <a:r>
              <a:rPr lang="en-US" sz="2100" strike="noStrike" u="none">
                <a:solidFill>
                  <a:srgbClr val="343434"/>
                </a:solidFill>
                <a:latin typeface="TT Hoves"/>
                <a:ea typeface="TT Hoves"/>
                <a:cs typeface="TT Hoves"/>
                <a:sym typeface="TT Hoves"/>
              </a:rPr>
              <a:t>.</a:t>
            </a:r>
          </a:p>
        </p:txBody>
      </p:sp>
      <p:sp>
        <p:nvSpPr>
          <p:cNvPr name="TextBox 6" id="6"/>
          <p:cNvSpPr txBox="true"/>
          <p:nvPr/>
        </p:nvSpPr>
        <p:spPr>
          <a:xfrm rot="0">
            <a:off x="13103723" y="2050367"/>
            <a:ext cx="3398572" cy="550164"/>
          </a:xfrm>
          <a:prstGeom prst="rect">
            <a:avLst/>
          </a:prstGeom>
        </p:spPr>
        <p:txBody>
          <a:bodyPr anchor="t" rtlCol="false" tIns="0" lIns="0" bIns="0" rIns="0">
            <a:spAutoFit/>
          </a:bodyPr>
          <a:lstStyle/>
          <a:p>
            <a:pPr algn="just" marL="0" indent="0" lvl="0">
              <a:lnSpc>
                <a:spcPts val="2162"/>
              </a:lnSpc>
              <a:spcBef>
                <a:spcPct val="0"/>
              </a:spcBef>
            </a:pPr>
            <a:r>
              <a:rPr lang="en-US" b="true" sz="2099" strike="noStrike" u="none">
                <a:solidFill>
                  <a:srgbClr val="343434"/>
                </a:solidFill>
                <a:latin typeface="TT Hoves Bold"/>
                <a:ea typeface="TT Hoves Bold"/>
                <a:cs typeface="TT Hoves Bold"/>
                <a:sym typeface="TT Hoves Bold"/>
              </a:rPr>
              <a:t>Cluster  Free Casual Listener</a:t>
            </a:r>
          </a:p>
        </p:txBody>
      </p:sp>
      <p:sp>
        <p:nvSpPr>
          <p:cNvPr name="TextBox 7" id="7"/>
          <p:cNvSpPr txBox="true"/>
          <p:nvPr/>
        </p:nvSpPr>
        <p:spPr>
          <a:xfrm rot="0">
            <a:off x="13103723" y="2910792"/>
            <a:ext cx="3796206" cy="1618488"/>
          </a:xfrm>
          <a:prstGeom prst="rect">
            <a:avLst/>
          </a:prstGeom>
        </p:spPr>
        <p:txBody>
          <a:bodyPr anchor="t" rtlCol="false" tIns="0" lIns="0" bIns="0" rIns="0">
            <a:spAutoFit/>
          </a:bodyPr>
          <a:lstStyle/>
          <a:p>
            <a:pPr algn="just" marL="0" indent="0" lvl="0">
              <a:lnSpc>
                <a:spcPts val="3276"/>
              </a:lnSpc>
              <a:spcBef>
                <a:spcPct val="0"/>
              </a:spcBef>
            </a:pPr>
            <a:r>
              <a:rPr lang="en-US" sz="2100">
                <a:solidFill>
                  <a:srgbClr val="343434"/>
                </a:solidFill>
                <a:latin typeface="TT Hoves"/>
                <a:ea typeface="TT Hoves"/>
                <a:cs typeface="TT Hoves"/>
                <a:sym typeface="TT Hoves"/>
              </a:rPr>
              <a:t>P</a:t>
            </a:r>
            <a:r>
              <a:rPr lang="en-US" sz="2100" strike="noStrike" u="none">
                <a:solidFill>
                  <a:srgbClr val="343434"/>
                </a:solidFill>
                <a:latin typeface="TT Hoves"/>
                <a:ea typeface="TT Hoves"/>
                <a:cs typeface="TT Hoves"/>
                <a:sym typeface="TT Hoves"/>
              </a:rPr>
              <a:t>o</a:t>
            </a:r>
            <a:r>
              <a:rPr lang="en-US" sz="2100" strike="noStrike" u="none">
                <a:solidFill>
                  <a:srgbClr val="343434"/>
                </a:solidFill>
                <a:latin typeface="TT Hoves"/>
                <a:ea typeface="TT Hoves"/>
                <a:cs typeface="TT Hoves"/>
                <a:sym typeface="TT Hoves"/>
              </a:rPr>
              <a:t>t</a:t>
            </a:r>
            <a:r>
              <a:rPr lang="en-US" sz="2100" strike="noStrike" u="none">
                <a:solidFill>
                  <a:srgbClr val="343434"/>
                </a:solidFill>
                <a:latin typeface="TT Hoves"/>
                <a:ea typeface="TT Hoves"/>
                <a:cs typeface="TT Hoves"/>
                <a:sym typeface="TT Hoves"/>
              </a:rPr>
              <a:t>e</a:t>
            </a:r>
            <a:r>
              <a:rPr lang="en-US" sz="2100" strike="noStrike" u="none">
                <a:solidFill>
                  <a:srgbClr val="343434"/>
                </a:solidFill>
                <a:latin typeface="TT Hoves"/>
                <a:ea typeface="TT Hoves"/>
                <a:cs typeface="TT Hoves"/>
                <a:sym typeface="TT Hoves"/>
              </a:rPr>
              <a:t>n</a:t>
            </a:r>
            <a:r>
              <a:rPr lang="en-US" sz="2100" strike="noStrike" u="none">
                <a:solidFill>
                  <a:srgbClr val="343434"/>
                </a:solidFill>
                <a:latin typeface="TT Hoves"/>
                <a:ea typeface="TT Hoves"/>
                <a:cs typeface="TT Hoves"/>
                <a:sym typeface="TT Hoves"/>
              </a:rPr>
              <a:t>si </a:t>
            </a:r>
            <a:r>
              <a:rPr lang="en-US" sz="2100" strike="noStrike" u="none">
                <a:solidFill>
                  <a:srgbClr val="343434"/>
                </a:solidFill>
                <a:latin typeface="TT Hoves"/>
                <a:ea typeface="TT Hoves"/>
                <a:cs typeface="TT Hoves"/>
                <a:sym typeface="TT Hoves"/>
              </a:rPr>
              <a:t>k</a:t>
            </a:r>
            <a:r>
              <a:rPr lang="en-US" sz="2100" strike="noStrike" u="none">
                <a:solidFill>
                  <a:srgbClr val="343434"/>
                </a:solidFill>
                <a:latin typeface="TT Hoves"/>
                <a:ea typeface="TT Hoves"/>
                <a:cs typeface="TT Hoves"/>
                <a:sym typeface="TT Hoves"/>
              </a:rPr>
              <a:t>on</a:t>
            </a:r>
            <a:r>
              <a:rPr lang="en-US" sz="2100" strike="noStrike" u="none">
                <a:solidFill>
                  <a:srgbClr val="343434"/>
                </a:solidFill>
                <a:latin typeface="TT Hoves"/>
                <a:ea typeface="TT Hoves"/>
                <a:cs typeface="TT Hoves"/>
                <a:sym typeface="TT Hoves"/>
              </a:rPr>
              <a:t>v</a:t>
            </a:r>
            <a:r>
              <a:rPr lang="en-US" sz="2100" strike="noStrike" u="none">
                <a:solidFill>
                  <a:srgbClr val="343434"/>
                </a:solidFill>
                <a:latin typeface="TT Hoves"/>
                <a:ea typeface="TT Hoves"/>
                <a:cs typeface="TT Hoves"/>
                <a:sym typeface="TT Hoves"/>
              </a:rPr>
              <a:t>ersi </a:t>
            </a:r>
            <a:r>
              <a:rPr lang="en-US" sz="2100" strike="noStrike" u="none">
                <a:solidFill>
                  <a:srgbClr val="343434"/>
                </a:solidFill>
                <a:latin typeface="TT Hoves"/>
                <a:ea typeface="TT Hoves"/>
                <a:cs typeface="TT Hoves"/>
                <a:sym typeface="TT Hoves"/>
              </a:rPr>
              <a:t>Fr</a:t>
            </a:r>
            <a:r>
              <a:rPr lang="en-US" sz="2100" strike="noStrike" u="none">
                <a:solidFill>
                  <a:srgbClr val="343434"/>
                </a:solidFill>
                <a:latin typeface="TT Hoves"/>
                <a:ea typeface="TT Hoves"/>
                <a:cs typeface="TT Hoves"/>
                <a:sym typeface="TT Hoves"/>
              </a:rPr>
              <a:t>ee </a:t>
            </a:r>
            <a:r>
              <a:rPr lang="en-US" sz="2100" strike="noStrike" u="none">
                <a:solidFill>
                  <a:srgbClr val="343434"/>
                </a:solidFill>
                <a:latin typeface="TT Hoves"/>
                <a:ea typeface="TT Hoves"/>
                <a:cs typeface="TT Hoves"/>
                <a:sym typeface="TT Hoves"/>
              </a:rPr>
              <a:t>→</a:t>
            </a:r>
            <a:r>
              <a:rPr lang="en-US" sz="2100" strike="noStrike" u="none">
                <a:solidFill>
                  <a:srgbClr val="343434"/>
                </a:solidFill>
                <a:latin typeface="TT Hoves"/>
                <a:ea typeface="TT Hoves"/>
                <a:cs typeface="TT Hoves"/>
                <a:sym typeface="TT Hoves"/>
              </a:rPr>
              <a:t> </a:t>
            </a:r>
            <a:r>
              <a:rPr lang="en-US" sz="2100" strike="noStrike" u="none">
                <a:solidFill>
                  <a:srgbClr val="343434"/>
                </a:solidFill>
                <a:latin typeface="TT Hoves"/>
                <a:ea typeface="TT Hoves"/>
                <a:cs typeface="TT Hoves"/>
                <a:sym typeface="TT Hoves"/>
              </a:rPr>
              <a:t>Pr</a:t>
            </a:r>
            <a:r>
              <a:rPr lang="en-US" sz="2100" strike="noStrike" u="none">
                <a:solidFill>
                  <a:srgbClr val="343434"/>
                </a:solidFill>
                <a:latin typeface="TT Hoves"/>
                <a:ea typeface="TT Hoves"/>
                <a:cs typeface="TT Hoves"/>
                <a:sym typeface="TT Hoves"/>
              </a:rPr>
              <a:t>e</a:t>
            </a:r>
            <a:r>
              <a:rPr lang="en-US" sz="2100" strike="noStrike" u="none">
                <a:solidFill>
                  <a:srgbClr val="343434"/>
                </a:solidFill>
                <a:latin typeface="TT Hoves"/>
                <a:ea typeface="TT Hoves"/>
                <a:cs typeface="TT Hoves"/>
                <a:sym typeface="TT Hoves"/>
              </a:rPr>
              <a:t>m</a:t>
            </a:r>
            <a:r>
              <a:rPr lang="en-US" sz="2100" strike="noStrike" u="none">
                <a:solidFill>
                  <a:srgbClr val="343434"/>
                </a:solidFill>
                <a:latin typeface="TT Hoves"/>
                <a:ea typeface="TT Hoves"/>
                <a:cs typeface="TT Hoves"/>
                <a:sym typeface="TT Hoves"/>
              </a:rPr>
              <a:t>ium ter</a:t>
            </a:r>
            <a:r>
              <a:rPr lang="en-US" sz="2100" strike="noStrike" u="none">
                <a:solidFill>
                  <a:srgbClr val="343434"/>
                </a:solidFill>
                <a:latin typeface="TT Hoves"/>
                <a:ea typeface="TT Hoves"/>
                <a:cs typeface="TT Hoves"/>
                <a:sym typeface="TT Hoves"/>
              </a:rPr>
              <a:t>t</a:t>
            </a:r>
            <a:r>
              <a:rPr lang="en-US" sz="2100" strike="noStrike" u="none">
                <a:solidFill>
                  <a:srgbClr val="343434"/>
                </a:solidFill>
                <a:latin typeface="TT Hoves"/>
                <a:ea typeface="TT Hoves"/>
                <a:cs typeface="TT Hoves"/>
                <a:sym typeface="TT Hoves"/>
              </a:rPr>
              <a:t>in</a:t>
            </a:r>
            <a:r>
              <a:rPr lang="en-US" sz="2100" strike="noStrike" u="none">
                <a:solidFill>
                  <a:srgbClr val="343434"/>
                </a:solidFill>
                <a:latin typeface="TT Hoves"/>
                <a:ea typeface="TT Hoves"/>
                <a:cs typeface="TT Hoves"/>
                <a:sym typeface="TT Hoves"/>
              </a:rPr>
              <a:t>gg</a:t>
            </a:r>
            <a:r>
              <a:rPr lang="en-US" sz="2100" strike="noStrike" u="none">
                <a:solidFill>
                  <a:srgbClr val="343434"/>
                </a:solidFill>
                <a:latin typeface="TT Hoves"/>
                <a:ea typeface="TT Hoves"/>
                <a:cs typeface="TT Hoves"/>
                <a:sym typeface="TT Hoves"/>
              </a:rPr>
              <a:t>i</a:t>
            </a:r>
            <a:r>
              <a:rPr lang="en-US" sz="2100" strike="noStrike" u="none">
                <a:solidFill>
                  <a:srgbClr val="343434"/>
                </a:solidFill>
                <a:latin typeface="TT Hoves"/>
                <a:ea typeface="TT Hoves"/>
                <a:cs typeface="TT Hoves"/>
                <a:sym typeface="TT Hoves"/>
              </a:rPr>
              <a:t>. Men</a:t>
            </a:r>
            <a:r>
              <a:rPr lang="en-US" sz="2100" strike="noStrike" u="none">
                <a:solidFill>
                  <a:srgbClr val="343434"/>
                </a:solidFill>
                <a:latin typeface="TT Hoves"/>
                <a:ea typeface="TT Hoves"/>
                <a:cs typeface="TT Hoves"/>
                <a:sym typeface="TT Hoves"/>
              </a:rPr>
              <a:t>awarkan diskon Premi</a:t>
            </a:r>
            <a:r>
              <a:rPr lang="en-US" sz="2100" strike="noStrike" u="none">
                <a:solidFill>
                  <a:srgbClr val="343434"/>
                </a:solidFill>
                <a:latin typeface="TT Hoves"/>
                <a:ea typeface="TT Hoves"/>
                <a:cs typeface="TT Hoves"/>
                <a:sym typeface="TT Hoves"/>
              </a:rPr>
              <a:t>um</a:t>
            </a:r>
            <a:r>
              <a:rPr lang="en-US" sz="2100" strike="noStrike" u="none">
                <a:solidFill>
                  <a:srgbClr val="343434"/>
                </a:solidFill>
                <a:latin typeface="TT Hoves"/>
                <a:ea typeface="TT Hoves"/>
                <a:cs typeface="TT Hoves"/>
                <a:sym typeface="TT Hoves"/>
              </a:rPr>
              <a:t> (mis. Rp 4.900 for 3 month</a:t>
            </a:r>
            <a:r>
              <a:rPr lang="en-US" sz="2100" strike="noStrike" u="none">
                <a:solidFill>
                  <a:srgbClr val="343434"/>
                </a:solidFill>
                <a:latin typeface="TT Hoves"/>
                <a:ea typeface="TT Hoves"/>
                <a:cs typeface="TT Hoves"/>
                <a:sym typeface="TT Hoves"/>
              </a:rPr>
              <a:t>s)</a:t>
            </a:r>
            <a:r>
              <a:rPr lang="en-US" sz="2100" strike="noStrike" u="none">
                <a:solidFill>
                  <a:srgbClr val="343434"/>
                </a:solidFill>
                <a:latin typeface="TT Hoves"/>
                <a:ea typeface="TT Hoves"/>
                <a:cs typeface="TT Hoves"/>
                <a:sym typeface="TT Hoves"/>
              </a:rPr>
              <a:t>.</a:t>
            </a:r>
          </a:p>
        </p:txBody>
      </p:sp>
      <p:sp>
        <p:nvSpPr>
          <p:cNvPr name="Freeform 8" id="8"/>
          <p:cNvSpPr/>
          <p:nvPr/>
        </p:nvSpPr>
        <p:spPr>
          <a:xfrm flipH="false" flipV="false" rot="0">
            <a:off x="12823805" y="5974763"/>
            <a:ext cx="7624730" cy="7624730"/>
          </a:xfrm>
          <a:custGeom>
            <a:avLst/>
            <a:gdLst/>
            <a:ahLst/>
            <a:cxnLst/>
            <a:rect r="r" b="b" t="t" l="l"/>
            <a:pathLst>
              <a:path h="7624730" w="7624730">
                <a:moveTo>
                  <a:pt x="0" y="0"/>
                </a:moveTo>
                <a:lnTo>
                  <a:pt x="7624731" y="0"/>
                </a:lnTo>
                <a:lnTo>
                  <a:pt x="7624731" y="7624730"/>
                </a:lnTo>
                <a:lnTo>
                  <a:pt x="0" y="762473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3103723" y="5625513"/>
            <a:ext cx="4155577" cy="283464"/>
          </a:xfrm>
          <a:prstGeom prst="rect">
            <a:avLst/>
          </a:prstGeom>
        </p:spPr>
        <p:txBody>
          <a:bodyPr anchor="t" rtlCol="false" tIns="0" lIns="0" bIns="0" rIns="0">
            <a:spAutoFit/>
          </a:bodyPr>
          <a:lstStyle/>
          <a:p>
            <a:pPr algn="just" marL="0" indent="0" lvl="0">
              <a:lnSpc>
                <a:spcPts val="2162"/>
              </a:lnSpc>
              <a:spcBef>
                <a:spcPct val="0"/>
              </a:spcBef>
            </a:pPr>
            <a:r>
              <a:rPr lang="en-US" b="true" sz="2099" strike="noStrike" u="none">
                <a:solidFill>
                  <a:srgbClr val="343434"/>
                </a:solidFill>
                <a:latin typeface="TT Hoves Bold"/>
                <a:ea typeface="TT Hoves Bold"/>
                <a:cs typeface="TT Hoves Bold"/>
                <a:sym typeface="TT Hoves Bold"/>
              </a:rPr>
              <a:t>Cluster </a:t>
            </a:r>
            <a:r>
              <a:rPr lang="en-US" b="true" sz="2099" strike="noStrike" u="none">
                <a:solidFill>
                  <a:srgbClr val="343434"/>
                </a:solidFill>
                <a:latin typeface="TT Hoves Bold"/>
                <a:ea typeface="TT Hoves Bold"/>
                <a:cs typeface="TT Hoves Bold"/>
                <a:sym typeface="TT Hoves Bold"/>
              </a:rPr>
              <a:t>Ad-Heavy Mobile User</a:t>
            </a:r>
          </a:p>
        </p:txBody>
      </p:sp>
      <p:sp>
        <p:nvSpPr>
          <p:cNvPr name="TextBox 10" id="10"/>
          <p:cNvSpPr txBox="true"/>
          <p:nvPr/>
        </p:nvSpPr>
        <p:spPr>
          <a:xfrm rot="0">
            <a:off x="13103723" y="6485938"/>
            <a:ext cx="3991223" cy="1208913"/>
          </a:xfrm>
          <a:prstGeom prst="rect">
            <a:avLst/>
          </a:prstGeom>
        </p:spPr>
        <p:txBody>
          <a:bodyPr anchor="t" rtlCol="false" tIns="0" lIns="0" bIns="0" rIns="0">
            <a:spAutoFit/>
          </a:bodyPr>
          <a:lstStyle/>
          <a:p>
            <a:pPr algn="just" marL="0" indent="0" lvl="0">
              <a:lnSpc>
                <a:spcPts val="3276"/>
              </a:lnSpc>
              <a:spcBef>
                <a:spcPct val="0"/>
              </a:spcBef>
            </a:pPr>
            <a:r>
              <a:rPr lang="en-US" sz="2100">
                <a:solidFill>
                  <a:srgbClr val="343434"/>
                </a:solidFill>
                <a:latin typeface="TT Hoves"/>
                <a:ea typeface="TT Hoves"/>
                <a:cs typeface="TT Hoves"/>
                <a:sym typeface="TT Hoves"/>
              </a:rPr>
              <a:t>Akt</a:t>
            </a:r>
            <a:r>
              <a:rPr lang="en-US" sz="2100" strike="noStrike" u="none">
                <a:solidFill>
                  <a:srgbClr val="343434"/>
                </a:solidFill>
                <a:latin typeface="TT Hoves"/>
                <a:ea typeface="TT Hoves"/>
                <a:cs typeface="TT Hoves"/>
                <a:sym typeface="TT Hoves"/>
              </a:rPr>
              <a:t>i</a:t>
            </a:r>
            <a:r>
              <a:rPr lang="en-US" sz="2100" strike="noStrike" u="none">
                <a:solidFill>
                  <a:srgbClr val="343434"/>
                </a:solidFill>
                <a:latin typeface="TT Hoves"/>
                <a:ea typeface="TT Hoves"/>
                <a:cs typeface="TT Hoves"/>
                <a:sym typeface="TT Hoves"/>
              </a:rPr>
              <a:t>v</a:t>
            </a:r>
            <a:r>
              <a:rPr lang="en-US" sz="2100" strike="noStrike" u="none">
                <a:solidFill>
                  <a:srgbClr val="343434"/>
                </a:solidFill>
                <a:latin typeface="TT Hoves"/>
                <a:ea typeface="TT Hoves"/>
                <a:cs typeface="TT Hoves"/>
                <a:sym typeface="TT Hoves"/>
              </a:rPr>
              <a:t>ita</a:t>
            </a:r>
            <a:r>
              <a:rPr lang="en-US" sz="2100" strike="noStrike" u="none">
                <a:solidFill>
                  <a:srgbClr val="343434"/>
                </a:solidFill>
                <a:latin typeface="TT Hoves"/>
                <a:ea typeface="TT Hoves"/>
                <a:cs typeface="TT Hoves"/>
                <a:sym typeface="TT Hoves"/>
              </a:rPr>
              <a:t>s</a:t>
            </a:r>
            <a:r>
              <a:rPr lang="en-US" sz="2100" strike="noStrike" u="none">
                <a:solidFill>
                  <a:srgbClr val="343434"/>
                </a:solidFill>
                <a:latin typeface="TT Hoves"/>
                <a:ea typeface="TT Hoves"/>
                <a:cs typeface="TT Hoves"/>
                <a:sym typeface="TT Hoves"/>
              </a:rPr>
              <a:t> sed</a:t>
            </a:r>
            <a:r>
              <a:rPr lang="en-US" sz="2100" strike="noStrike" u="none">
                <a:solidFill>
                  <a:srgbClr val="343434"/>
                </a:solidFill>
                <a:latin typeface="TT Hoves"/>
                <a:ea typeface="TT Hoves"/>
                <a:cs typeface="TT Hoves"/>
                <a:sym typeface="TT Hoves"/>
              </a:rPr>
              <a:t>a</a:t>
            </a:r>
            <a:r>
              <a:rPr lang="en-US" sz="2100" strike="noStrike" u="none">
                <a:solidFill>
                  <a:srgbClr val="343434"/>
                </a:solidFill>
                <a:latin typeface="TT Hoves"/>
                <a:ea typeface="TT Hoves"/>
                <a:cs typeface="TT Hoves"/>
                <a:sym typeface="TT Hoves"/>
              </a:rPr>
              <a:t>ng </a:t>
            </a:r>
            <a:r>
              <a:rPr lang="en-US" sz="2100" strike="noStrike" u="none">
                <a:solidFill>
                  <a:srgbClr val="343434"/>
                </a:solidFill>
                <a:latin typeface="TT Hoves"/>
                <a:ea typeface="TT Hoves"/>
                <a:cs typeface="TT Hoves"/>
                <a:sym typeface="TT Hoves"/>
              </a:rPr>
              <a:t>→ b</a:t>
            </a:r>
            <a:r>
              <a:rPr lang="en-US" sz="2100" strike="noStrike" u="none">
                <a:solidFill>
                  <a:srgbClr val="343434"/>
                </a:solidFill>
                <a:latin typeface="TT Hoves"/>
                <a:ea typeface="TT Hoves"/>
                <a:cs typeface="TT Hoves"/>
                <a:sym typeface="TT Hoves"/>
              </a:rPr>
              <a:t>is</a:t>
            </a:r>
            <a:r>
              <a:rPr lang="en-US" sz="2100" strike="noStrike" u="none">
                <a:solidFill>
                  <a:srgbClr val="343434"/>
                </a:solidFill>
                <a:latin typeface="TT Hoves"/>
                <a:ea typeface="TT Hoves"/>
                <a:cs typeface="TT Hoves"/>
                <a:sym typeface="TT Hoves"/>
              </a:rPr>
              <a:t>a</a:t>
            </a:r>
            <a:r>
              <a:rPr lang="en-US" sz="2100" strike="noStrike" u="none">
                <a:solidFill>
                  <a:srgbClr val="343434"/>
                </a:solidFill>
                <a:latin typeface="TT Hoves"/>
                <a:ea typeface="TT Hoves"/>
                <a:cs typeface="TT Hoves"/>
                <a:sym typeface="TT Hoves"/>
              </a:rPr>
              <a:t> din</a:t>
            </a:r>
            <a:r>
              <a:rPr lang="en-US" sz="2100" strike="noStrike" u="none">
                <a:solidFill>
                  <a:srgbClr val="343434"/>
                </a:solidFill>
                <a:latin typeface="TT Hoves"/>
                <a:ea typeface="TT Hoves"/>
                <a:cs typeface="TT Hoves"/>
                <a:sym typeface="TT Hoves"/>
              </a:rPr>
              <a:t>a</a:t>
            </a:r>
            <a:r>
              <a:rPr lang="en-US" sz="2100" strike="noStrike" u="none">
                <a:solidFill>
                  <a:srgbClr val="343434"/>
                </a:solidFill>
                <a:latin typeface="TT Hoves"/>
                <a:ea typeface="TT Hoves"/>
                <a:cs typeface="TT Hoves"/>
                <a:sym typeface="TT Hoves"/>
              </a:rPr>
              <a:t>i</a:t>
            </a:r>
            <a:r>
              <a:rPr lang="en-US" sz="2100" strike="noStrike" u="none">
                <a:solidFill>
                  <a:srgbClr val="343434"/>
                </a:solidFill>
                <a:latin typeface="TT Hoves"/>
                <a:ea typeface="TT Hoves"/>
                <a:cs typeface="TT Hoves"/>
                <a:sym typeface="TT Hoves"/>
              </a:rPr>
              <a:t>kka</a:t>
            </a:r>
            <a:r>
              <a:rPr lang="en-US" sz="2100" strike="noStrike" u="none">
                <a:solidFill>
                  <a:srgbClr val="343434"/>
                </a:solidFill>
                <a:latin typeface="TT Hoves"/>
                <a:ea typeface="TT Hoves"/>
                <a:cs typeface="TT Hoves"/>
                <a:sym typeface="TT Hoves"/>
              </a:rPr>
              <a:t>n l</a:t>
            </a:r>
            <a:r>
              <a:rPr lang="en-US" sz="2100" strike="noStrike" u="none">
                <a:solidFill>
                  <a:srgbClr val="343434"/>
                </a:solidFill>
                <a:latin typeface="TT Hoves"/>
                <a:ea typeface="TT Hoves"/>
                <a:cs typeface="TT Hoves"/>
                <a:sym typeface="TT Hoves"/>
              </a:rPr>
              <a:t>ew</a:t>
            </a:r>
            <a:r>
              <a:rPr lang="en-US" sz="2100" strike="noStrike" u="none">
                <a:solidFill>
                  <a:srgbClr val="343434"/>
                </a:solidFill>
                <a:latin typeface="TT Hoves"/>
                <a:ea typeface="TT Hoves"/>
                <a:cs typeface="TT Hoves"/>
                <a:sym typeface="TT Hoves"/>
              </a:rPr>
              <a:t>at </a:t>
            </a:r>
            <a:r>
              <a:rPr lang="en-US" sz="2100" strike="noStrike" u="none">
                <a:solidFill>
                  <a:srgbClr val="343434"/>
                </a:solidFill>
                <a:latin typeface="TT Hoves"/>
                <a:ea typeface="TT Hoves"/>
                <a:cs typeface="TT Hoves"/>
                <a:sym typeface="TT Hoves"/>
              </a:rPr>
              <a:t>ka</a:t>
            </a:r>
            <a:r>
              <a:rPr lang="en-US" sz="2100" strike="noStrike" u="none">
                <a:solidFill>
                  <a:srgbClr val="343434"/>
                </a:solidFill>
                <a:latin typeface="TT Hoves"/>
                <a:ea typeface="TT Hoves"/>
                <a:cs typeface="TT Hoves"/>
                <a:sym typeface="TT Hoves"/>
              </a:rPr>
              <a:t>m</a:t>
            </a:r>
            <a:r>
              <a:rPr lang="en-US" sz="2100" strike="noStrike" u="none">
                <a:solidFill>
                  <a:srgbClr val="343434"/>
                </a:solidFill>
                <a:latin typeface="TT Hoves"/>
                <a:ea typeface="TT Hoves"/>
                <a:cs typeface="TT Hoves"/>
                <a:sym typeface="TT Hoves"/>
              </a:rPr>
              <a:t>p</a:t>
            </a:r>
            <a:r>
              <a:rPr lang="en-US" sz="2100" strike="noStrike" u="none">
                <a:solidFill>
                  <a:srgbClr val="343434"/>
                </a:solidFill>
                <a:latin typeface="TT Hoves"/>
                <a:ea typeface="TT Hoves"/>
                <a:cs typeface="TT Hoves"/>
                <a:sym typeface="TT Hoves"/>
              </a:rPr>
              <a:t>an</a:t>
            </a:r>
            <a:r>
              <a:rPr lang="en-US" sz="2100" strike="noStrike" u="none">
                <a:solidFill>
                  <a:srgbClr val="343434"/>
                </a:solidFill>
                <a:latin typeface="TT Hoves"/>
                <a:ea typeface="TT Hoves"/>
                <a:cs typeface="TT Hoves"/>
                <a:sym typeface="TT Hoves"/>
              </a:rPr>
              <a:t>ye</a:t>
            </a:r>
            <a:r>
              <a:rPr lang="en-US" sz="2100" strike="noStrike" u="none">
                <a:solidFill>
                  <a:srgbClr val="343434"/>
                </a:solidFill>
                <a:latin typeface="TT Hoves"/>
                <a:ea typeface="TT Hoves"/>
                <a:cs typeface="TT Hoves"/>
                <a:sym typeface="TT Hoves"/>
              </a:rPr>
              <a:t> i</a:t>
            </a:r>
            <a:r>
              <a:rPr lang="en-US" sz="2100" strike="noStrike" u="none">
                <a:solidFill>
                  <a:srgbClr val="343434"/>
                </a:solidFill>
                <a:latin typeface="TT Hoves"/>
                <a:ea typeface="TT Hoves"/>
                <a:cs typeface="TT Hoves"/>
                <a:sym typeface="TT Hoves"/>
              </a:rPr>
              <a:t>nter</a:t>
            </a:r>
            <a:r>
              <a:rPr lang="en-US" sz="2100" strike="noStrike" u="none">
                <a:solidFill>
                  <a:srgbClr val="343434"/>
                </a:solidFill>
                <a:latin typeface="TT Hoves"/>
                <a:ea typeface="TT Hoves"/>
                <a:cs typeface="TT Hoves"/>
                <a:sym typeface="TT Hoves"/>
              </a:rPr>
              <a:t>a</a:t>
            </a:r>
            <a:r>
              <a:rPr lang="en-US" sz="2100" strike="noStrike" u="none">
                <a:solidFill>
                  <a:srgbClr val="343434"/>
                </a:solidFill>
                <a:latin typeface="TT Hoves"/>
                <a:ea typeface="TT Hoves"/>
                <a:cs typeface="TT Hoves"/>
                <a:sym typeface="TT Hoves"/>
              </a:rPr>
              <a:t>k</a:t>
            </a:r>
            <a:r>
              <a:rPr lang="en-US" sz="2100" strike="noStrike" u="none">
                <a:solidFill>
                  <a:srgbClr val="343434"/>
                </a:solidFill>
                <a:latin typeface="TT Hoves"/>
                <a:ea typeface="TT Hoves"/>
                <a:cs typeface="TT Hoves"/>
                <a:sym typeface="TT Hoves"/>
              </a:rPr>
              <a:t>ti</a:t>
            </a:r>
            <a:r>
              <a:rPr lang="en-US" sz="2100" strike="noStrike" u="none">
                <a:solidFill>
                  <a:srgbClr val="343434"/>
                </a:solidFill>
                <a:latin typeface="TT Hoves"/>
                <a:ea typeface="TT Hoves"/>
                <a:cs typeface="TT Hoves"/>
                <a:sym typeface="TT Hoves"/>
              </a:rPr>
              <a:t>f</a:t>
            </a:r>
            <a:r>
              <a:rPr lang="en-US" sz="2100" strike="noStrike" u="none">
                <a:solidFill>
                  <a:srgbClr val="343434"/>
                </a:solidFill>
                <a:latin typeface="TT Hoves"/>
                <a:ea typeface="TT Hoves"/>
                <a:cs typeface="TT Hoves"/>
                <a:sym typeface="TT Hoves"/>
              </a:rPr>
              <a:t> </a:t>
            </a:r>
            <a:r>
              <a:rPr lang="en-US" sz="2100" strike="noStrike" u="none">
                <a:solidFill>
                  <a:srgbClr val="343434"/>
                </a:solidFill>
                <a:latin typeface="TT Hoves"/>
                <a:ea typeface="TT Hoves"/>
                <a:cs typeface="TT Hoves"/>
                <a:sym typeface="TT Hoves"/>
              </a:rPr>
              <a:t>&amp;</a:t>
            </a:r>
            <a:r>
              <a:rPr lang="en-US" sz="2100" strike="noStrike" u="none">
                <a:solidFill>
                  <a:srgbClr val="343434"/>
                </a:solidFill>
                <a:latin typeface="TT Hoves"/>
                <a:ea typeface="TT Hoves"/>
                <a:cs typeface="TT Hoves"/>
                <a:sym typeface="TT Hoves"/>
              </a:rPr>
              <a:t> </a:t>
            </a:r>
            <a:r>
              <a:rPr lang="en-US" sz="2100" strike="noStrike" u="none">
                <a:solidFill>
                  <a:srgbClr val="343434"/>
                </a:solidFill>
                <a:latin typeface="TT Hoves"/>
                <a:ea typeface="TT Hoves"/>
                <a:cs typeface="TT Hoves"/>
                <a:sym typeface="TT Hoves"/>
              </a:rPr>
              <a:t>reko</a:t>
            </a:r>
            <a:r>
              <a:rPr lang="en-US" sz="2100" strike="noStrike" u="none">
                <a:solidFill>
                  <a:srgbClr val="343434"/>
                </a:solidFill>
                <a:latin typeface="TT Hoves"/>
                <a:ea typeface="TT Hoves"/>
                <a:cs typeface="TT Hoves"/>
                <a:sym typeface="TT Hoves"/>
              </a:rPr>
              <a:t>m</a:t>
            </a:r>
            <a:r>
              <a:rPr lang="en-US" sz="2100" strike="noStrike" u="none">
                <a:solidFill>
                  <a:srgbClr val="343434"/>
                </a:solidFill>
                <a:latin typeface="TT Hoves"/>
                <a:ea typeface="TT Hoves"/>
                <a:cs typeface="TT Hoves"/>
                <a:sym typeface="TT Hoves"/>
              </a:rPr>
              <a:t>e</a:t>
            </a:r>
            <a:r>
              <a:rPr lang="en-US" sz="2100" strike="noStrike" u="none">
                <a:solidFill>
                  <a:srgbClr val="343434"/>
                </a:solidFill>
                <a:latin typeface="TT Hoves"/>
                <a:ea typeface="TT Hoves"/>
                <a:cs typeface="TT Hoves"/>
                <a:sym typeface="TT Hoves"/>
              </a:rPr>
              <a:t>n</a:t>
            </a:r>
            <a:r>
              <a:rPr lang="en-US" sz="2100" strike="noStrike" u="none">
                <a:solidFill>
                  <a:srgbClr val="343434"/>
                </a:solidFill>
                <a:latin typeface="TT Hoves"/>
                <a:ea typeface="TT Hoves"/>
                <a:cs typeface="TT Hoves"/>
                <a:sym typeface="TT Hoves"/>
              </a:rPr>
              <a:t>das</a:t>
            </a:r>
            <a:r>
              <a:rPr lang="en-US" sz="2100" strike="noStrike" u="none">
                <a:solidFill>
                  <a:srgbClr val="343434"/>
                </a:solidFill>
                <a:latin typeface="TT Hoves"/>
                <a:ea typeface="TT Hoves"/>
                <a:cs typeface="TT Hoves"/>
                <a:sym typeface="TT Hoves"/>
              </a:rPr>
              <a:t>i </a:t>
            </a:r>
            <a:r>
              <a:rPr lang="en-US" sz="2100" strike="noStrike" u="none">
                <a:solidFill>
                  <a:srgbClr val="343434"/>
                </a:solidFill>
                <a:latin typeface="TT Hoves"/>
                <a:ea typeface="TT Hoves"/>
                <a:cs typeface="TT Hoves"/>
                <a:sym typeface="TT Hoves"/>
              </a:rPr>
              <a:t>p</a:t>
            </a:r>
            <a:r>
              <a:rPr lang="en-US" sz="2100" strike="noStrike" u="none">
                <a:solidFill>
                  <a:srgbClr val="343434"/>
                </a:solidFill>
                <a:latin typeface="TT Hoves"/>
                <a:ea typeface="TT Hoves"/>
                <a:cs typeface="TT Hoves"/>
                <a:sym typeface="TT Hoves"/>
              </a:rPr>
              <a:t>e</a:t>
            </a:r>
            <a:r>
              <a:rPr lang="en-US" sz="2100" strike="noStrike" u="none">
                <a:solidFill>
                  <a:srgbClr val="343434"/>
                </a:solidFill>
                <a:latin typeface="TT Hoves"/>
                <a:ea typeface="TT Hoves"/>
                <a:cs typeface="TT Hoves"/>
                <a:sym typeface="TT Hoves"/>
              </a:rPr>
              <a:t>rso</a:t>
            </a:r>
            <a:r>
              <a:rPr lang="en-US" sz="2100" strike="noStrike" u="none">
                <a:solidFill>
                  <a:srgbClr val="343434"/>
                </a:solidFill>
                <a:latin typeface="TT Hoves"/>
                <a:ea typeface="TT Hoves"/>
                <a:cs typeface="TT Hoves"/>
                <a:sym typeface="TT Hoves"/>
              </a:rPr>
              <a:t>na</a:t>
            </a:r>
            <a:r>
              <a:rPr lang="en-US" sz="2100" strike="noStrike" u="none">
                <a:solidFill>
                  <a:srgbClr val="343434"/>
                </a:solidFill>
                <a:latin typeface="TT Hoves"/>
                <a:ea typeface="TT Hoves"/>
                <a:cs typeface="TT Hoves"/>
                <a:sym typeface="TT Hoves"/>
              </a:rPr>
              <a:t>l</a:t>
            </a:r>
          </a:p>
        </p:txBody>
      </p:sp>
      <p:grpSp>
        <p:nvGrpSpPr>
          <p:cNvPr name="Group 11" id="11"/>
          <p:cNvGrpSpPr/>
          <p:nvPr/>
        </p:nvGrpSpPr>
        <p:grpSpPr>
          <a:xfrm rot="0">
            <a:off x="6898774" y="2154593"/>
            <a:ext cx="273982" cy="245024"/>
            <a:chOff x="0" y="0"/>
            <a:chExt cx="91718" cy="82024"/>
          </a:xfrm>
        </p:grpSpPr>
        <p:sp>
          <p:nvSpPr>
            <p:cNvPr name="Freeform 12" id="12"/>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13" id="13"/>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grpSp>
        <p:nvGrpSpPr>
          <p:cNvPr name="Group 14" id="14"/>
          <p:cNvGrpSpPr/>
          <p:nvPr/>
        </p:nvGrpSpPr>
        <p:grpSpPr>
          <a:xfrm rot="0">
            <a:off x="6898774" y="5729739"/>
            <a:ext cx="273982" cy="245024"/>
            <a:chOff x="0" y="0"/>
            <a:chExt cx="91718" cy="82024"/>
          </a:xfrm>
        </p:grpSpPr>
        <p:sp>
          <p:nvSpPr>
            <p:cNvPr name="Freeform 15" id="15"/>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16" id="16"/>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grpSp>
        <p:nvGrpSpPr>
          <p:cNvPr name="Group 17" id="17"/>
          <p:cNvGrpSpPr/>
          <p:nvPr/>
        </p:nvGrpSpPr>
        <p:grpSpPr>
          <a:xfrm rot="0">
            <a:off x="12686814" y="5729739"/>
            <a:ext cx="273982" cy="245024"/>
            <a:chOff x="0" y="0"/>
            <a:chExt cx="91718" cy="82024"/>
          </a:xfrm>
        </p:grpSpPr>
        <p:sp>
          <p:nvSpPr>
            <p:cNvPr name="Freeform 18" id="18"/>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19" id="19"/>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grpSp>
        <p:nvGrpSpPr>
          <p:cNvPr name="Group 20" id="20"/>
          <p:cNvGrpSpPr/>
          <p:nvPr/>
        </p:nvGrpSpPr>
        <p:grpSpPr>
          <a:xfrm rot="0">
            <a:off x="12686814" y="2154593"/>
            <a:ext cx="273982" cy="245024"/>
            <a:chOff x="0" y="0"/>
            <a:chExt cx="91718" cy="82024"/>
          </a:xfrm>
        </p:grpSpPr>
        <p:sp>
          <p:nvSpPr>
            <p:cNvPr name="Freeform 21" id="21"/>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22" id="22"/>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grpSp>
        <p:nvGrpSpPr>
          <p:cNvPr name="Group 23" id="23"/>
          <p:cNvGrpSpPr/>
          <p:nvPr/>
        </p:nvGrpSpPr>
        <p:grpSpPr>
          <a:xfrm rot="0">
            <a:off x="-1822665" y="-795948"/>
            <a:ext cx="7178388" cy="11878896"/>
            <a:chOff x="0" y="0"/>
            <a:chExt cx="1890604" cy="3128598"/>
          </a:xfrm>
        </p:grpSpPr>
        <p:sp>
          <p:nvSpPr>
            <p:cNvPr name="Freeform 24" id="24"/>
            <p:cNvSpPr/>
            <p:nvPr/>
          </p:nvSpPr>
          <p:spPr>
            <a:xfrm flipH="false" flipV="false" rot="0">
              <a:off x="0" y="0"/>
              <a:ext cx="1890604" cy="3128598"/>
            </a:xfrm>
            <a:custGeom>
              <a:avLst/>
              <a:gdLst/>
              <a:ahLst/>
              <a:cxnLst/>
              <a:rect r="r" b="b" t="t" l="l"/>
              <a:pathLst>
                <a:path h="3128598" w="1890604">
                  <a:moveTo>
                    <a:pt x="0" y="0"/>
                  </a:moveTo>
                  <a:lnTo>
                    <a:pt x="1890604" y="0"/>
                  </a:lnTo>
                  <a:lnTo>
                    <a:pt x="1890604" y="3128598"/>
                  </a:lnTo>
                  <a:lnTo>
                    <a:pt x="0" y="3128598"/>
                  </a:lnTo>
                  <a:close/>
                </a:path>
              </a:pathLst>
            </a:custGeom>
            <a:solidFill>
              <a:srgbClr val="0003FF"/>
            </a:solidFill>
          </p:spPr>
        </p:sp>
        <p:sp>
          <p:nvSpPr>
            <p:cNvPr name="TextBox 25" id="25"/>
            <p:cNvSpPr txBox="true"/>
            <p:nvPr/>
          </p:nvSpPr>
          <p:spPr>
            <a:xfrm>
              <a:off x="0" y="-57150"/>
              <a:ext cx="1890604" cy="3185748"/>
            </a:xfrm>
            <a:prstGeom prst="rect">
              <a:avLst/>
            </a:prstGeom>
          </p:spPr>
          <p:txBody>
            <a:bodyPr anchor="ctr" rtlCol="false" tIns="50800" lIns="50800" bIns="50800" rIns="50800"/>
            <a:lstStyle/>
            <a:p>
              <a:pPr algn="ctr">
                <a:lnSpc>
                  <a:spcPts val="3639"/>
                </a:lnSpc>
              </a:pPr>
            </a:p>
          </p:txBody>
        </p:sp>
      </p:grpSp>
      <p:sp>
        <p:nvSpPr>
          <p:cNvPr name="TextBox 26" id="26"/>
          <p:cNvSpPr txBox="true"/>
          <p:nvPr/>
        </p:nvSpPr>
        <p:spPr>
          <a:xfrm rot="0">
            <a:off x="-75174" y="-200539"/>
            <a:ext cx="5134807" cy="3958675"/>
          </a:xfrm>
          <a:prstGeom prst="rect">
            <a:avLst/>
          </a:prstGeom>
        </p:spPr>
        <p:txBody>
          <a:bodyPr anchor="t" rtlCol="false" tIns="0" lIns="0" bIns="0" rIns="0">
            <a:spAutoFit/>
          </a:bodyPr>
          <a:lstStyle/>
          <a:p>
            <a:pPr algn="l">
              <a:lnSpc>
                <a:spcPts val="29189"/>
              </a:lnSpc>
            </a:pPr>
            <a:r>
              <a:rPr lang="en-US" b="true" sz="31052" spc="-1521">
                <a:solidFill>
                  <a:srgbClr val="EFEFEF"/>
                </a:solidFill>
                <a:latin typeface="TT Hoves Bold"/>
                <a:ea typeface="TT Hoves Bold"/>
                <a:cs typeface="TT Hoves Bold"/>
                <a:sym typeface="TT Hoves Bold"/>
              </a:rPr>
              <a:t>20</a:t>
            </a:r>
          </a:p>
        </p:txBody>
      </p:sp>
      <p:sp>
        <p:nvSpPr>
          <p:cNvPr name="TextBox 27" id="27"/>
          <p:cNvSpPr txBox="true"/>
          <p:nvPr/>
        </p:nvSpPr>
        <p:spPr>
          <a:xfrm rot="0">
            <a:off x="5774008" y="462093"/>
            <a:ext cx="11849961" cy="1043306"/>
          </a:xfrm>
          <a:prstGeom prst="rect">
            <a:avLst/>
          </a:prstGeom>
        </p:spPr>
        <p:txBody>
          <a:bodyPr anchor="t" rtlCol="false" tIns="0" lIns="0" bIns="0" rIns="0">
            <a:spAutoFit/>
          </a:bodyPr>
          <a:lstStyle/>
          <a:p>
            <a:pPr algn="ctr">
              <a:lnSpc>
                <a:spcPts val="7760"/>
              </a:lnSpc>
            </a:pPr>
            <a:r>
              <a:rPr lang="en-US" b="true" sz="8000" spc="-384">
                <a:solidFill>
                  <a:srgbClr val="000000"/>
                </a:solidFill>
                <a:latin typeface="TT Hoves Bold"/>
                <a:ea typeface="TT Hoves Bold"/>
                <a:cs typeface="TT Hoves Bold"/>
                <a:sym typeface="TT Hoves Bold"/>
              </a:rPr>
              <a:t>Business Recomendation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430063" y="1936909"/>
            <a:ext cx="11221859" cy="11221859"/>
          </a:xfrm>
          <a:custGeom>
            <a:avLst/>
            <a:gdLst/>
            <a:ahLst/>
            <a:cxnLst/>
            <a:rect r="r" b="b" t="t" l="l"/>
            <a:pathLst>
              <a:path h="11221859" w="11221859">
                <a:moveTo>
                  <a:pt x="0" y="0"/>
                </a:moveTo>
                <a:lnTo>
                  <a:pt x="11221858" y="0"/>
                </a:lnTo>
                <a:lnTo>
                  <a:pt x="11221858" y="11221858"/>
                </a:lnTo>
                <a:lnTo>
                  <a:pt x="0" y="11221858"/>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258" y="-450527"/>
            <a:ext cx="19680517" cy="1704491"/>
            <a:chOff x="0" y="0"/>
            <a:chExt cx="5183346" cy="448919"/>
          </a:xfrm>
        </p:grpSpPr>
        <p:sp>
          <p:nvSpPr>
            <p:cNvPr name="Freeform 4" id="4"/>
            <p:cNvSpPr/>
            <p:nvPr/>
          </p:nvSpPr>
          <p:spPr>
            <a:xfrm flipH="false" flipV="false" rot="0">
              <a:off x="0" y="0"/>
              <a:ext cx="5183346" cy="448919"/>
            </a:xfrm>
            <a:custGeom>
              <a:avLst/>
              <a:gdLst/>
              <a:ahLst/>
              <a:cxnLst/>
              <a:rect r="r" b="b" t="t" l="l"/>
              <a:pathLst>
                <a:path h="448919" w="5183346">
                  <a:moveTo>
                    <a:pt x="0" y="0"/>
                  </a:moveTo>
                  <a:lnTo>
                    <a:pt x="5183346" y="0"/>
                  </a:lnTo>
                  <a:lnTo>
                    <a:pt x="5183346" y="448919"/>
                  </a:lnTo>
                  <a:lnTo>
                    <a:pt x="0" y="448919"/>
                  </a:lnTo>
                  <a:close/>
                </a:path>
              </a:pathLst>
            </a:custGeom>
            <a:solidFill>
              <a:srgbClr val="0003FF"/>
            </a:solidFill>
          </p:spPr>
        </p:sp>
        <p:sp>
          <p:nvSpPr>
            <p:cNvPr name="TextBox 5" id="5"/>
            <p:cNvSpPr txBox="true"/>
            <p:nvPr/>
          </p:nvSpPr>
          <p:spPr>
            <a:xfrm>
              <a:off x="0" y="-57150"/>
              <a:ext cx="5183346" cy="506069"/>
            </a:xfrm>
            <a:prstGeom prst="rect">
              <a:avLst/>
            </a:prstGeom>
          </p:spPr>
          <p:txBody>
            <a:bodyPr anchor="ctr" rtlCol="false" tIns="50800" lIns="50800" bIns="50800" rIns="50800"/>
            <a:lstStyle/>
            <a:p>
              <a:pPr algn="ctr">
                <a:lnSpc>
                  <a:spcPts val="3639"/>
                </a:lnSpc>
              </a:pPr>
            </a:p>
          </p:txBody>
        </p:sp>
      </p:grpSp>
      <p:sp>
        <p:nvSpPr>
          <p:cNvPr name="TextBox 6" id="6"/>
          <p:cNvSpPr txBox="true"/>
          <p:nvPr/>
        </p:nvSpPr>
        <p:spPr>
          <a:xfrm rot="0">
            <a:off x="6660790" y="2862623"/>
            <a:ext cx="10598510" cy="2084673"/>
          </a:xfrm>
          <a:prstGeom prst="rect">
            <a:avLst/>
          </a:prstGeom>
        </p:spPr>
        <p:txBody>
          <a:bodyPr anchor="t" rtlCol="false" tIns="0" lIns="0" bIns="0" rIns="0">
            <a:spAutoFit/>
          </a:bodyPr>
          <a:lstStyle/>
          <a:p>
            <a:pPr algn="r">
              <a:lnSpc>
                <a:spcPts val="15418"/>
              </a:lnSpc>
            </a:pPr>
            <a:r>
              <a:rPr lang="en-US" b="true" sz="16402" spc="-803">
                <a:solidFill>
                  <a:srgbClr val="343434"/>
                </a:solidFill>
                <a:latin typeface="TT Hoves Bold"/>
                <a:ea typeface="TT Hoves Bold"/>
                <a:cs typeface="TT Hoves Bold"/>
                <a:sym typeface="TT Hoves Bold"/>
              </a:rPr>
              <a:t>Thank You</a:t>
            </a:r>
          </a:p>
        </p:txBody>
      </p:sp>
      <p:sp>
        <p:nvSpPr>
          <p:cNvPr name="TextBox 7" id="7"/>
          <p:cNvSpPr txBox="true"/>
          <p:nvPr/>
        </p:nvSpPr>
        <p:spPr>
          <a:xfrm rot="0">
            <a:off x="7791795" y="5033021"/>
            <a:ext cx="9467505" cy="1130476"/>
          </a:xfrm>
          <a:prstGeom prst="rect">
            <a:avLst/>
          </a:prstGeom>
        </p:spPr>
        <p:txBody>
          <a:bodyPr anchor="t" rtlCol="false" tIns="0" lIns="0" bIns="0" rIns="0">
            <a:spAutoFit/>
          </a:bodyPr>
          <a:lstStyle/>
          <a:p>
            <a:pPr algn="r">
              <a:lnSpc>
                <a:spcPts val="4381"/>
              </a:lnSpc>
            </a:pPr>
            <a:r>
              <a:rPr lang="en-US" sz="4381" spc="-87">
                <a:solidFill>
                  <a:srgbClr val="343434"/>
                </a:solidFill>
                <a:latin typeface="TT Hoves"/>
                <a:ea typeface="TT Hoves"/>
                <a:cs typeface="TT Hoves"/>
                <a:sym typeface="TT Hoves"/>
              </a:rPr>
              <a:t>Contact:</a:t>
            </a:r>
          </a:p>
          <a:p>
            <a:pPr algn="r">
              <a:lnSpc>
                <a:spcPts val="4381"/>
              </a:lnSpc>
            </a:pPr>
            <a:r>
              <a:rPr lang="en-US" sz="4381" spc="-87">
                <a:solidFill>
                  <a:srgbClr val="343434"/>
                </a:solidFill>
                <a:latin typeface="TT Hoves"/>
                <a:ea typeface="TT Hoves"/>
                <a:cs typeface="TT Hoves"/>
                <a:sym typeface="TT Hoves"/>
              </a:rPr>
              <a:t>Whatsapp | </a:t>
            </a:r>
            <a:r>
              <a:rPr lang="en-US" sz="4381" spc="-87" u="sng">
                <a:solidFill>
                  <a:srgbClr val="343434"/>
                </a:solidFill>
                <a:latin typeface="TT Hoves"/>
                <a:ea typeface="TT Hoves"/>
                <a:cs typeface="TT Hoves"/>
                <a:sym typeface="TT Hoves"/>
                <a:hlinkClick r:id="rId4" tooltip="mailto:mawarniarumsekar99@gmail.com"/>
              </a:rPr>
              <a:t>Email </a:t>
            </a:r>
            <a:r>
              <a:rPr lang="en-US" sz="4381" spc="-87">
                <a:solidFill>
                  <a:srgbClr val="343434"/>
                </a:solidFill>
                <a:latin typeface="TT Hoves"/>
                <a:ea typeface="TT Hoves"/>
                <a:cs typeface="TT Hoves"/>
                <a:sym typeface="TT Hoves"/>
              </a:rPr>
              <a:t>| </a:t>
            </a:r>
            <a:r>
              <a:rPr lang="en-US" sz="4381" spc="-87" u="sng">
                <a:solidFill>
                  <a:srgbClr val="343434"/>
                </a:solidFill>
                <a:latin typeface="TT Hoves"/>
                <a:ea typeface="TT Hoves"/>
                <a:cs typeface="TT Hoves"/>
                <a:sym typeface="TT Hoves"/>
                <a:hlinkClick r:id="rId5" tooltip="https://www.linkedin.com/in/arumsekarmawarni/"/>
              </a:rPr>
              <a:t>Linkedin</a:t>
            </a:r>
            <a:r>
              <a:rPr lang="en-US" sz="4381" spc="-87">
                <a:solidFill>
                  <a:srgbClr val="343434"/>
                </a:solidFill>
                <a:latin typeface="TT Hoves"/>
                <a:ea typeface="TT Hoves"/>
                <a:cs typeface="TT Hoves"/>
                <a:sym typeface="TT Hoves"/>
              </a:rPr>
              <a:t> | </a:t>
            </a:r>
            <a:r>
              <a:rPr lang="en-US" sz="4381" spc="-87" u="sng">
                <a:solidFill>
                  <a:srgbClr val="343434"/>
                </a:solidFill>
                <a:latin typeface="TT Hoves"/>
                <a:ea typeface="TT Hoves"/>
                <a:cs typeface="TT Hoves"/>
                <a:sym typeface="TT Hoves"/>
                <a:hlinkClick r:id="rId6" tooltip="https://github.com/arumsekar99"/>
              </a:rPr>
              <a:t>Github</a:t>
            </a:r>
          </a:p>
        </p:txBody>
      </p:sp>
      <p:sp>
        <p:nvSpPr>
          <p:cNvPr name="TextBox 8" id="8"/>
          <p:cNvSpPr txBox="true"/>
          <p:nvPr/>
        </p:nvSpPr>
        <p:spPr>
          <a:xfrm rot="0">
            <a:off x="14141979" y="344568"/>
            <a:ext cx="3117321" cy="448311"/>
          </a:xfrm>
          <a:prstGeom prst="rect">
            <a:avLst/>
          </a:prstGeom>
        </p:spPr>
        <p:txBody>
          <a:bodyPr anchor="t" rtlCol="false" tIns="0" lIns="0" bIns="0" rIns="0">
            <a:spAutoFit/>
          </a:bodyPr>
          <a:lstStyle/>
          <a:p>
            <a:pPr algn="r">
              <a:lnSpc>
                <a:spcPts val="3639"/>
              </a:lnSpc>
              <a:spcBef>
                <a:spcPct val="0"/>
              </a:spcBef>
            </a:pPr>
            <a:r>
              <a:rPr lang="en-US" sz="2599">
                <a:solidFill>
                  <a:srgbClr val="EFEFEF"/>
                </a:solidFill>
                <a:latin typeface="TT Hoves"/>
                <a:ea typeface="TT Hoves"/>
                <a:cs typeface="TT Hoves"/>
                <a:sym typeface="TT Hoves"/>
              </a:rPr>
              <a:t>Presentation 2025</a:t>
            </a:r>
          </a:p>
        </p:txBody>
      </p:sp>
      <p:sp>
        <p:nvSpPr>
          <p:cNvPr name="TextBox 9" id="9"/>
          <p:cNvSpPr txBox="true"/>
          <p:nvPr/>
        </p:nvSpPr>
        <p:spPr>
          <a:xfrm rot="0">
            <a:off x="1123950" y="344568"/>
            <a:ext cx="3117321" cy="448311"/>
          </a:xfrm>
          <a:prstGeom prst="rect">
            <a:avLst/>
          </a:prstGeom>
        </p:spPr>
        <p:txBody>
          <a:bodyPr anchor="t" rtlCol="false" tIns="0" lIns="0" bIns="0" rIns="0">
            <a:spAutoFit/>
          </a:bodyPr>
          <a:lstStyle/>
          <a:p>
            <a:pPr algn="just">
              <a:lnSpc>
                <a:spcPts val="3639"/>
              </a:lnSpc>
              <a:spcBef>
                <a:spcPct val="0"/>
              </a:spcBef>
            </a:pPr>
            <a:r>
              <a:rPr lang="en-US" sz="2599">
                <a:solidFill>
                  <a:srgbClr val="EFEFEF"/>
                </a:solidFill>
                <a:latin typeface="TT Hoves"/>
                <a:ea typeface="TT Hoves"/>
                <a:cs typeface="TT Hoves"/>
                <a:sym typeface="TT Hoves"/>
              </a:rPr>
              <a:t>Data Science</a:t>
            </a:r>
          </a:p>
        </p:txBody>
      </p:sp>
      <p:sp>
        <p:nvSpPr>
          <p:cNvPr name="TextBox 10" id="10"/>
          <p:cNvSpPr txBox="true"/>
          <p:nvPr/>
        </p:nvSpPr>
        <p:spPr>
          <a:xfrm rot="0">
            <a:off x="7585339" y="344568"/>
            <a:ext cx="3117321" cy="448311"/>
          </a:xfrm>
          <a:prstGeom prst="rect">
            <a:avLst/>
          </a:prstGeom>
        </p:spPr>
        <p:txBody>
          <a:bodyPr anchor="t" rtlCol="false" tIns="0" lIns="0" bIns="0" rIns="0">
            <a:spAutoFit/>
          </a:bodyPr>
          <a:lstStyle/>
          <a:p>
            <a:pPr algn="ctr">
              <a:lnSpc>
                <a:spcPts val="3639"/>
              </a:lnSpc>
              <a:spcBef>
                <a:spcPct val="0"/>
              </a:spcBef>
            </a:pPr>
            <a:r>
              <a:rPr lang="en-US" sz="2599">
                <a:solidFill>
                  <a:srgbClr val="EFEFEF"/>
                </a:solidFill>
                <a:latin typeface="TT Hoves"/>
                <a:ea typeface="TT Hoves"/>
                <a:cs typeface="TT Hoves"/>
                <a:sym typeface="TT Hoves"/>
              </a:rPr>
              <a:t>Final Project</a:t>
            </a:r>
          </a:p>
        </p:txBody>
      </p:sp>
      <p:sp>
        <p:nvSpPr>
          <p:cNvPr name="TextBox 11" id="11"/>
          <p:cNvSpPr txBox="true"/>
          <p:nvPr/>
        </p:nvSpPr>
        <p:spPr>
          <a:xfrm rot="0">
            <a:off x="5484590" y="344568"/>
            <a:ext cx="1406261" cy="448311"/>
          </a:xfrm>
          <a:prstGeom prst="rect">
            <a:avLst/>
          </a:prstGeom>
        </p:spPr>
        <p:txBody>
          <a:bodyPr anchor="t" rtlCol="false" tIns="0" lIns="0" bIns="0" rIns="0">
            <a:spAutoFit/>
          </a:bodyPr>
          <a:lstStyle/>
          <a:p>
            <a:pPr algn="ctr">
              <a:lnSpc>
                <a:spcPts val="3639"/>
              </a:lnSpc>
              <a:spcBef>
                <a:spcPct val="0"/>
              </a:spcBef>
            </a:pPr>
            <a:r>
              <a:rPr lang="en-US" sz="2599">
                <a:solidFill>
                  <a:srgbClr val="EFEFEF"/>
                </a:solidFill>
                <a:latin typeface="TT Hoves"/>
                <a:ea typeface="TT Hoves"/>
                <a:cs typeface="TT Hoves"/>
                <a:sym typeface="TT Hoves"/>
              </a:rPr>
              <a:t>-</a:t>
            </a:r>
          </a:p>
        </p:txBody>
      </p:sp>
      <p:sp>
        <p:nvSpPr>
          <p:cNvPr name="TextBox 12" id="12"/>
          <p:cNvSpPr txBox="true"/>
          <p:nvPr/>
        </p:nvSpPr>
        <p:spPr>
          <a:xfrm rot="0">
            <a:off x="12330761" y="344568"/>
            <a:ext cx="1406261" cy="448311"/>
          </a:xfrm>
          <a:prstGeom prst="rect">
            <a:avLst/>
          </a:prstGeom>
        </p:spPr>
        <p:txBody>
          <a:bodyPr anchor="t" rtlCol="false" tIns="0" lIns="0" bIns="0" rIns="0">
            <a:spAutoFit/>
          </a:bodyPr>
          <a:lstStyle/>
          <a:p>
            <a:pPr algn="ctr">
              <a:lnSpc>
                <a:spcPts val="3639"/>
              </a:lnSpc>
              <a:spcBef>
                <a:spcPct val="0"/>
              </a:spcBef>
            </a:pPr>
            <a:r>
              <a:rPr lang="en-US" sz="2599">
                <a:solidFill>
                  <a:srgbClr val="EFEFEF"/>
                </a:solidFill>
                <a:latin typeface="TT Hoves"/>
                <a:ea typeface="TT Hoves"/>
                <a:cs typeface="TT Hoves"/>
                <a:sym typeface="TT Hoves"/>
              </a:rPr>
              <a:t>-</a:t>
            </a:r>
          </a:p>
        </p:txBody>
      </p:sp>
      <p:grpSp>
        <p:nvGrpSpPr>
          <p:cNvPr name="Group 13" id="13"/>
          <p:cNvGrpSpPr/>
          <p:nvPr/>
        </p:nvGrpSpPr>
        <p:grpSpPr>
          <a:xfrm rot="0">
            <a:off x="1028700" y="9258300"/>
            <a:ext cx="16135350" cy="497206"/>
            <a:chOff x="0" y="0"/>
            <a:chExt cx="21513800" cy="662941"/>
          </a:xfrm>
        </p:grpSpPr>
        <p:sp>
          <p:nvSpPr>
            <p:cNvPr name="TextBox 14" id="14"/>
            <p:cNvSpPr txBox="true"/>
            <p:nvPr/>
          </p:nvSpPr>
          <p:spPr>
            <a:xfrm rot="0">
              <a:off x="17357371" y="-66675"/>
              <a:ext cx="4156429" cy="729616"/>
            </a:xfrm>
            <a:prstGeom prst="rect">
              <a:avLst/>
            </a:prstGeom>
          </p:spPr>
          <p:txBody>
            <a:bodyPr anchor="t" rtlCol="false" tIns="0" lIns="0" bIns="0" rIns="0">
              <a:spAutoFit/>
            </a:bodyPr>
            <a:lstStyle/>
            <a:p>
              <a:pPr algn="r">
                <a:lnSpc>
                  <a:spcPts val="4619"/>
                </a:lnSpc>
                <a:spcBef>
                  <a:spcPct val="0"/>
                </a:spcBef>
              </a:pPr>
              <a:r>
                <a:rPr lang="en-US" sz="3299" u="sng">
                  <a:solidFill>
                    <a:srgbClr val="343434"/>
                  </a:solidFill>
                  <a:latin typeface="TT Hoves"/>
                  <a:ea typeface="TT Hoves"/>
                  <a:cs typeface="TT Hoves"/>
                  <a:sym typeface="TT Hoves"/>
                  <a:hlinkClick r:id="rId7" tooltip="https://clustering-spotify-users.streamlit.app"/>
                </a:rPr>
                <a:t>Streamlit</a:t>
              </a:r>
            </a:p>
          </p:txBody>
        </p:sp>
        <p:sp>
          <p:nvSpPr>
            <p:cNvPr name="TextBox 15" id="15"/>
            <p:cNvSpPr txBox="true"/>
            <p:nvPr/>
          </p:nvSpPr>
          <p:spPr>
            <a:xfrm rot="0">
              <a:off x="0" y="-66675"/>
              <a:ext cx="4156429" cy="729616"/>
            </a:xfrm>
            <a:prstGeom prst="rect">
              <a:avLst/>
            </a:prstGeom>
          </p:spPr>
          <p:txBody>
            <a:bodyPr anchor="t" rtlCol="false" tIns="0" lIns="0" bIns="0" rIns="0">
              <a:spAutoFit/>
            </a:bodyPr>
            <a:lstStyle/>
            <a:p>
              <a:pPr algn="just">
                <a:lnSpc>
                  <a:spcPts val="4619"/>
                </a:lnSpc>
                <a:spcBef>
                  <a:spcPct val="0"/>
                </a:spcBef>
              </a:pPr>
              <a:r>
                <a:rPr lang="en-US" sz="3299" u="sng">
                  <a:solidFill>
                    <a:srgbClr val="343434"/>
                  </a:solidFill>
                  <a:latin typeface="TT Hoves"/>
                  <a:ea typeface="TT Hoves"/>
                  <a:cs typeface="TT Hoves"/>
                  <a:sym typeface="TT Hoves"/>
                  <a:hlinkClick r:id="rId8" tooltip="https://colab.research.google.com/drive/1jqE9EFnDcuPrYKfXOtrvx6DJAqTmunik?usp=sharing"/>
                </a:rPr>
                <a:t>Python</a:t>
              </a:r>
            </a:p>
          </p:txBody>
        </p:sp>
        <p:sp>
          <p:nvSpPr>
            <p:cNvPr name="TextBox 16" id="16"/>
            <p:cNvSpPr txBox="true"/>
            <p:nvPr/>
          </p:nvSpPr>
          <p:spPr>
            <a:xfrm rot="0">
              <a:off x="8615186" y="-66675"/>
              <a:ext cx="4156429" cy="729616"/>
            </a:xfrm>
            <a:prstGeom prst="rect">
              <a:avLst/>
            </a:prstGeom>
          </p:spPr>
          <p:txBody>
            <a:bodyPr anchor="t" rtlCol="false" tIns="0" lIns="0" bIns="0" rIns="0">
              <a:spAutoFit/>
            </a:bodyPr>
            <a:lstStyle/>
            <a:p>
              <a:pPr algn="ctr">
                <a:lnSpc>
                  <a:spcPts val="4619"/>
                </a:lnSpc>
                <a:spcBef>
                  <a:spcPct val="0"/>
                </a:spcBef>
              </a:pPr>
              <a:r>
                <a:rPr lang="en-US" sz="3299" u="sng">
                  <a:solidFill>
                    <a:srgbClr val="343434"/>
                  </a:solidFill>
                  <a:latin typeface="TT Hoves"/>
                  <a:ea typeface="TT Hoves"/>
                  <a:cs typeface="TT Hoves"/>
                  <a:sym typeface="TT Hoves"/>
                  <a:hlinkClick r:id="rId9" tooltip="https://github.com/arumsekar99/Clustering-Spotify-Users"/>
                </a:rPr>
                <a:t>Github</a:t>
              </a:r>
            </a:p>
          </p:txBody>
        </p:sp>
        <p:sp>
          <p:nvSpPr>
            <p:cNvPr name="TextBox 17" id="17"/>
            <p:cNvSpPr txBox="true"/>
            <p:nvPr/>
          </p:nvSpPr>
          <p:spPr>
            <a:xfrm rot="0">
              <a:off x="5814187" y="-57150"/>
              <a:ext cx="1875014" cy="578697"/>
            </a:xfrm>
            <a:prstGeom prst="rect">
              <a:avLst/>
            </a:prstGeom>
          </p:spPr>
          <p:txBody>
            <a:bodyPr anchor="t" rtlCol="false" tIns="0" lIns="0" bIns="0" rIns="0">
              <a:spAutoFit/>
            </a:bodyPr>
            <a:lstStyle/>
            <a:p>
              <a:pPr algn="ctr">
                <a:lnSpc>
                  <a:spcPts val="3639"/>
                </a:lnSpc>
                <a:spcBef>
                  <a:spcPct val="0"/>
                </a:spcBef>
              </a:pPr>
              <a:r>
                <a:rPr lang="en-US" sz="2599">
                  <a:solidFill>
                    <a:srgbClr val="343434"/>
                  </a:solidFill>
                  <a:latin typeface="TT Hoves"/>
                  <a:ea typeface="TT Hoves"/>
                  <a:cs typeface="TT Hoves"/>
                  <a:sym typeface="TT Hoves"/>
                </a:rPr>
                <a:t>-</a:t>
              </a:r>
            </a:p>
          </p:txBody>
        </p:sp>
        <p:sp>
          <p:nvSpPr>
            <p:cNvPr name="TextBox 18" id="18"/>
            <p:cNvSpPr txBox="true"/>
            <p:nvPr/>
          </p:nvSpPr>
          <p:spPr>
            <a:xfrm rot="0">
              <a:off x="14942415" y="-57150"/>
              <a:ext cx="1875014" cy="578697"/>
            </a:xfrm>
            <a:prstGeom prst="rect">
              <a:avLst/>
            </a:prstGeom>
          </p:spPr>
          <p:txBody>
            <a:bodyPr anchor="t" rtlCol="false" tIns="0" lIns="0" bIns="0" rIns="0">
              <a:spAutoFit/>
            </a:bodyPr>
            <a:lstStyle/>
            <a:p>
              <a:pPr algn="ctr">
                <a:lnSpc>
                  <a:spcPts val="3639"/>
                </a:lnSpc>
                <a:spcBef>
                  <a:spcPct val="0"/>
                </a:spcBef>
              </a:pPr>
              <a:r>
                <a:rPr lang="en-US" sz="2599">
                  <a:solidFill>
                    <a:srgbClr val="343434"/>
                  </a:solidFill>
                  <a:latin typeface="TT Hoves"/>
                  <a:ea typeface="TT Hoves"/>
                  <a:cs typeface="TT Hoves"/>
                  <a:sym typeface="TT Hoves"/>
                </a:rPr>
                <a:t>-</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DAG2EZj8buY</dc:identifier>
  <dcterms:modified xsi:type="dcterms:W3CDTF">2011-08-01T06:04:30Z</dcterms:modified>
  <cp:revision>1</cp:revision>
  <dc:title>K-Prototype_DS_Finpro_ArumSM</dc:title>
</cp:coreProperties>
</file>